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openxmlformats.org/officedocument/2006/relationships/metadata/core-properties" Target="docProps/core0.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3"/>
  </p:notesMasterIdLst>
  <p:sldIdLst>
    <p:sldId id="256" r:id="rId5"/>
    <p:sldId id="258" r:id="rId6"/>
    <p:sldId id="277" r:id="rId7"/>
    <p:sldId id="259" r:id="rId8"/>
    <p:sldId id="260" r:id="rId9"/>
    <p:sldId id="261" r:id="rId10"/>
    <p:sldId id="265" r:id="rId11"/>
    <p:sldId id="266" r:id="rId12"/>
    <p:sldId id="267" r:id="rId13"/>
    <p:sldId id="268" r:id="rId14"/>
    <p:sldId id="269" r:id="rId15"/>
    <p:sldId id="279" r:id="rId16"/>
    <p:sldId id="270" r:id="rId17"/>
    <p:sldId id="271" r:id="rId18"/>
    <p:sldId id="272" r:id="rId19"/>
    <p:sldId id="273" r:id="rId20"/>
    <p:sldId id="274" r:id="rId21"/>
    <p:sldId id="275" r:id="rId22"/>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266F5C-AB9C-37B7-F560-AA8D10BC79FB}" v="71" dt="2026-01-27T06:29:44.713"/>
    <p1510:client id="{B911C81E-EFA5-6B22-48E2-378943614084}" v="3" dt="2026-01-27T08:07:41.42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143" autoAdjust="0"/>
    <p:restoredTop sz="94660"/>
  </p:normalViewPr>
  <p:slideViewPr>
    <p:cSldViewPr snapToGrid="0">
      <p:cViewPr varScale="1">
        <p:scale>
          <a:sx n="78" d="100"/>
          <a:sy n="78" d="100"/>
        </p:scale>
        <p:origin x="1147"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Calibri"/>
              </a:rPr>
              <a:t>Click to move the slide</a:t>
            </a: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4"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 </a:t>
            </a:r>
          </a:p>
        </p:txBody>
      </p:sp>
      <p:sp>
        <p:nvSpPr>
          <p:cNvPr id="5"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 </a:t>
            </a: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C5364B8D-6CEA-4766-93C3-982E9EF65231}"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 name="PlaceHolder 1"/>
          <p:cNvSpPr>
            <a:spLocks noGrp="1" noRot="1" noChangeAspect="1"/>
          </p:cNvSpPr>
          <p:nvPr>
            <p:ph type="sldImg"/>
          </p:nvPr>
        </p:nvSpPr>
        <p:spPr>
          <a:xfrm>
            <a:off x="685800" y="1143000"/>
            <a:ext cx="5486400" cy="3086100"/>
          </a:xfrm>
          <a:prstGeom prst="rect">
            <a:avLst/>
          </a:prstGeom>
          <a:ln w="0">
            <a:noFill/>
          </a:ln>
        </p:spPr>
      </p:sp>
      <p:sp>
        <p:nvSpPr>
          <p:cNvPr id="59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594"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ACBDF26-E2AC-48A5-B658-A32D89D7F60A}"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8" name="PlaceHolder 1"/>
          <p:cNvSpPr>
            <a:spLocks noGrp="1" noRot="1" noChangeAspect="1"/>
          </p:cNvSpPr>
          <p:nvPr>
            <p:ph type="sldImg"/>
          </p:nvPr>
        </p:nvSpPr>
        <p:spPr>
          <a:xfrm>
            <a:off x="685800" y="1143000"/>
            <a:ext cx="5486400" cy="3086100"/>
          </a:xfrm>
          <a:prstGeom prst="rect">
            <a:avLst/>
          </a:prstGeom>
          <a:ln w="0">
            <a:noFill/>
          </a:ln>
        </p:spPr>
      </p:sp>
      <p:sp>
        <p:nvSpPr>
          <p:cNvPr id="59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00"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A9B954A-8C8B-4D2F-9684-B443319BC783}" type="slidenum">
              <a:rPr lang="en-US" sz="1200" b="0" u="none" strike="noStrike">
                <a:solidFill>
                  <a:schemeClr val="dk1"/>
                </a:solidFill>
                <a:effectLst/>
                <a:uFillTx/>
                <a:latin typeface="+mn-lt"/>
                <a:ea typeface="+mn-ea"/>
              </a:rPr>
              <a:t>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1" name="PlaceHolder 1"/>
          <p:cNvSpPr>
            <a:spLocks noGrp="1" noRot="1" noChangeAspect="1"/>
          </p:cNvSpPr>
          <p:nvPr>
            <p:ph type="sldImg"/>
          </p:nvPr>
        </p:nvSpPr>
        <p:spPr>
          <a:xfrm>
            <a:off x="685800" y="1143000"/>
            <a:ext cx="5486400" cy="3086100"/>
          </a:xfrm>
          <a:prstGeom prst="rect">
            <a:avLst/>
          </a:prstGeom>
          <a:ln w="0">
            <a:noFill/>
          </a:ln>
        </p:spPr>
      </p:sp>
      <p:sp>
        <p:nvSpPr>
          <p:cNvPr id="60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dirty="0">
              <a:solidFill>
                <a:srgbClr val="000000"/>
              </a:solidFill>
              <a:effectLst/>
              <a:uFillTx/>
              <a:latin typeface="Arial"/>
            </a:endParaRPr>
          </a:p>
        </p:txBody>
      </p:sp>
      <p:sp>
        <p:nvSpPr>
          <p:cNvPr id="603"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849C697-713F-4911-B627-C3F10EB8181E}" type="slidenum">
              <a:rPr lang="en-US" sz="1200" b="0" u="none" strike="noStrike">
                <a:solidFill>
                  <a:schemeClr val="dk1"/>
                </a:solidFill>
                <a:effectLst/>
                <a:uFillTx/>
                <a:latin typeface="+mn-lt"/>
                <a:ea typeface="+mn-ea"/>
              </a:rPr>
              <a:t>4</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 name="PlaceHolder 1"/>
          <p:cNvSpPr>
            <a:spLocks noGrp="1" noRot="1" noChangeAspect="1"/>
          </p:cNvSpPr>
          <p:nvPr>
            <p:ph type="sldImg"/>
          </p:nvPr>
        </p:nvSpPr>
        <p:spPr>
          <a:xfrm>
            <a:off x="685800" y="1143000"/>
            <a:ext cx="5486400" cy="3086100"/>
          </a:xfrm>
          <a:prstGeom prst="rect">
            <a:avLst/>
          </a:prstGeom>
          <a:ln w="0">
            <a:noFill/>
          </a:ln>
        </p:spPr>
      </p:sp>
      <p:sp>
        <p:nvSpPr>
          <p:cNvPr id="60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06"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1F14EDC-84B4-4913-8932-CFB6F0EAC5AE}" type="slidenum">
              <a:rPr lang="en-US" sz="1200" b="0" u="none" strike="noStrike">
                <a:solidFill>
                  <a:schemeClr val="dk1"/>
                </a:solidFill>
                <a:effectLst/>
                <a:uFillTx/>
                <a:latin typeface="+mn-lt"/>
                <a:ea typeface="+mn-ea"/>
              </a:rPr>
              <a:t>5</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7" name="PlaceHolder 1"/>
          <p:cNvSpPr>
            <a:spLocks noGrp="1" noRot="1" noChangeAspect="1"/>
          </p:cNvSpPr>
          <p:nvPr>
            <p:ph type="sldImg"/>
          </p:nvPr>
        </p:nvSpPr>
        <p:spPr>
          <a:xfrm>
            <a:off x="685800" y="1143000"/>
            <a:ext cx="5486400" cy="3086100"/>
          </a:xfrm>
          <a:prstGeom prst="rect">
            <a:avLst/>
          </a:prstGeom>
          <a:ln w="0">
            <a:noFill/>
          </a:ln>
        </p:spPr>
      </p:sp>
      <p:sp>
        <p:nvSpPr>
          <p:cNvPr id="60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09"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4F2E981-27FC-4FA0-9EF7-5D8AA73A1ADE}" type="slidenum">
              <a:rPr lang="en-US" sz="1200" b="0" u="none" strike="noStrike">
                <a:solidFill>
                  <a:schemeClr val="dk1"/>
                </a:solidFill>
                <a:effectLst/>
                <a:uFillTx/>
                <a:latin typeface="+mn-lt"/>
                <a:ea typeface="+mn-ea"/>
              </a:rPr>
              <a:t>6</a:t>
            </a:fld>
            <a:endParaRPr lang="en-U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9" name="PlaceHolder 1"/>
          <p:cNvSpPr>
            <a:spLocks noGrp="1" noRot="1" noChangeAspect="1"/>
          </p:cNvSpPr>
          <p:nvPr>
            <p:ph type="sldImg"/>
          </p:nvPr>
        </p:nvSpPr>
        <p:spPr>
          <a:xfrm>
            <a:off x="685800" y="1143000"/>
            <a:ext cx="5486400" cy="3086100"/>
          </a:xfrm>
          <a:prstGeom prst="rect">
            <a:avLst/>
          </a:prstGeom>
          <a:ln w="0">
            <a:noFill/>
          </a:ln>
        </p:spPr>
      </p:sp>
      <p:sp>
        <p:nvSpPr>
          <p:cNvPr id="62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21"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3599D24-1732-4C61-81E1-AF473FD6B1A2}"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2" name="PlaceHolder 1"/>
          <p:cNvSpPr>
            <a:spLocks noGrp="1" noRot="1" noChangeAspect="1"/>
          </p:cNvSpPr>
          <p:nvPr>
            <p:ph type="sldImg"/>
          </p:nvPr>
        </p:nvSpPr>
        <p:spPr>
          <a:xfrm>
            <a:off x="685800" y="1143000"/>
            <a:ext cx="5486400" cy="3086100"/>
          </a:xfrm>
          <a:prstGeom prst="rect">
            <a:avLst/>
          </a:prstGeom>
          <a:ln w="0">
            <a:noFill/>
          </a:ln>
        </p:spPr>
      </p:sp>
      <p:sp>
        <p:nvSpPr>
          <p:cNvPr id="62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24"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5CFC50C-21DB-4D5D-9E15-EA11319D196F}" type="slidenum">
              <a:rPr lang="en-US" sz="1200" b="0" u="none" strike="noStrike">
                <a:solidFill>
                  <a:schemeClr val="dk1"/>
                </a:solidFill>
                <a:effectLst/>
                <a:uFillTx/>
                <a:latin typeface="+mn-lt"/>
                <a:ea typeface="+mn-ea"/>
              </a:rPr>
              <a:t>8</a:t>
            </a:fld>
            <a:endParaRPr lang="en-US"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 name="PlaceHolder 1"/>
          <p:cNvSpPr>
            <a:spLocks noGrp="1" noRot="1" noChangeAspect="1"/>
          </p:cNvSpPr>
          <p:nvPr>
            <p:ph type="sldImg"/>
          </p:nvPr>
        </p:nvSpPr>
        <p:spPr>
          <a:xfrm>
            <a:off x="685800" y="1143000"/>
            <a:ext cx="5486400" cy="3086100"/>
          </a:xfrm>
          <a:prstGeom prst="rect">
            <a:avLst/>
          </a:prstGeom>
          <a:ln w="0">
            <a:noFill/>
          </a:ln>
        </p:spPr>
      </p:sp>
      <p:sp>
        <p:nvSpPr>
          <p:cNvPr id="62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27"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C3241AC-DCBF-41EB-898E-D7499FC1F187}" type="slidenum">
              <a:rPr lang="en-US" sz="1200" b="0" u="none" strike="noStrike">
                <a:solidFill>
                  <a:schemeClr val="dk1"/>
                </a:solidFill>
                <a:effectLst/>
                <a:uFillTx/>
                <a:latin typeface="+mn-lt"/>
                <a:ea typeface="+mn-ea"/>
              </a:rPr>
              <a:t>9</a:t>
            </a:fld>
            <a:endParaRPr lang="en-US"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8" name="PlaceHolder 1"/>
          <p:cNvSpPr>
            <a:spLocks noGrp="1" noRot="1" noChangeAspect="1"/>
          </p:cNvSpPr>
          <p:nvPr>
            <p:ph type="sldImg"/>
          </p:nvPr>
        </p:nvSpPr>
        <p:spPr>
          <a:xfrm>
            <a:off x="685800" y="1143000"/>
            <a:ext cx="5486400" cy="3086100"/>
          </a:xfrm>
          <a:prstGeom prst="rect">
            <a:avLst/>
          </a:prstGeom>
          <a:ln w="0">
            <a:noFill/>
          </a:ln>
        </p:spPr>
      </p:sp>
      <p:sp>
        <p:nvSpPr>
          <p:cNvPr id="62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30"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87E885F-647E-4B97-A9CA-EAFF87846392}" type="slidenum">
              <a:rPr lang="en-US" sz="1200" b="0" u="none" strike="noStrike">
                <a:solidFill>
                  <a:schemeClr val="dk1"/>
                </a:solidFill>
                <a:effectLst/>
                <a:uFillTx/>
                <a:latin typeface="+mn-lt"/>
                <a:ea typeface="+mn-ea"/>
              </a:rPr>
              <a:t>10</a:t>
            </a:fld>
            <a:endParaRPr lang="en-US" sz="12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1" name="PlaceHolder 1"/>
          <p:cNvSpPr>
            <a:spLocks noGrp="1" noRot="1" noChangeAspect="1"/>
          </p:cNvSpPr>
          <p:nvPr>
            <p:ph type="sldImg"/>
          </p:nvPr>
        </p:nvSpPr>
        <p:spPr>
          <a:xfrm>
            <a:off x="685800" y="1143000"/>
            <a:ext cx="5486400" cy="3086100"/>
          </a:xfrm>
          <a:prstGeom prst="rect">
            <a:avLst/>
          </a:prstGeom>
          <a:ln w="0">
            <a:noFill/>
          </a:ln>
        </p:spPr>
      </p:sp>
      <p:sp>
        <p:nvSpPr>
          <p:cNvPr id="63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33"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673889C-0F1C-498E-AE4C-87DF0C289117}"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39F7E-67FC-624B-FAF5-C314761293E9}"/>
            </a:ext>
          </a:extLst>
        </p:cNvPr>
        <p:cNvGrpSpPr/>
        <p:nvPr/>
      </p:nvGrpSpPr>
      <p:grpSpPr>
        <a:xfrm>
          <a:off x="0" y="0"/>
          <a:ext cx="0" cy="0"/>
          <a:chOff x="0" y="0"/>
          <a:chExt cx="0" cy="0"/>
        </a:xfrm>
      </p:grpSpPr>
      <p:sp>
        <p:nvSpPr>
          <p:cNvPr id="631" name="PlaceHolder 1">
            <a:extLst>
              <a:ext uri="{FF2B5EF4-FFF2-40B4-BE49-F238E27FC236}">
                <a16:creationId xmlns:a16="http://schemas.microsoft.com/office/drawing/2014/main" id="{3017ED9A-D682-006D-A008-1E4F1BBD6061}"/>
              </a:ext>
            </a:extLst>
          </p:cNvPr>
          <p:cNvSpPr>
            <a:spLocks noGrp="1" noRot="1" noChangeAspect="1"/>
          </p:cNvSpPr>
          <p:nvPr>
            <p:ph type="sldImg"/>
          </p:nvPr>
        </p:nvSpPr>
        <p:spPr>
          <a:xfrm>
            <a:off x="685800" y="1143000"/>
            <a:ext cx="5486400" cy="3086100"/>
          </a:xfrm>
          <a:prstGeom prst="rect">
            <a:avLst/>
          </a:prstGeom>
          <a:ln w="0">
            <a:noFill/>
          </a:ln>
        </p:spPr>
      </p:sp>
      <p:sp>
        <p:nvSpPr>
          <p:cNvPr id="632" name="PlaceHolder 2">
            <a:extLst>
              <a:ext uri="{FF2B5EF4-FFF2-40B4-BE49-F238E27FC236}">
                <a16:creationId xmlns:a16="http://schemas.microsoft.com/office/drawing/2014/main" id="{745BDE0A-6BFF-12DE-996B-D6B70BB42CAA}"/>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33" name="PlaceHolder 3">
            <a:extLst>
              <a:ext uri="{FF2B5EF4-FFF2-40B4-BE49-F238E27FC236}">
                <a16:creationId xmlns:a16="http://schemas.microsoft.com/office/drawing/2014/main" id="{4D681719-7F9F-7F56-F20D-BE16A2E57F6E}"/>
              </a:ext>
            </a:extLst>
          </p:cNvPr>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673889C-0F1C-498E-AE4C-87DF0C289117}" type="slidenum">
              <a:rPr lang="en-US" sz="1200" b="0" u="none" strike="noStrike">
                <a:solidFill>
                  <a:schemeClr val="dk1"/>
                </a:solidFill>
                <a:effectLst/>
                <a:uFillTx/>
                <a:latin typeface="+mn-lt"/>
                <a:ea typeface="+mn-ea"/>
              </a:rPr>
              <a:t>12</a:t>
            </a:fld>
            <a:endParaRPr lang="en-US" sz="1200" b="0" u="none" strike="noStrike">
              <a:solidFill>
                <a:srgbClr val="000000"/>
              </a:solidFill>
              <a:effectLst/>
              <a:uFillTx/>
              <a:latin typeface="Times New Roman"/>
            </a:endParaRPr>
          </a:p>
        </p:txBody>
      </p:sp>
    </p:spTree>
    <p:extLst>
      <p:ext uri="{BB962C8B-B14F-4D97-AF65-F5344CB8AC3E}">
        <p14:creationId xmlns:p14="http://schemas.microsoft.com/office/powerpoint/2010/main" val="20749667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 name="PlaceHolder 1"/>
          <p:cNvSpPr>
            <a:spLocks noGrp="1" noRot="1" noChangeAspect="1"/>
          </p:cNvSpPr>
          <p:nvPr>
            <p:ph type="sldImg"/>
          </p:nvPr>
        </p:nvSpPr>
        <p:spPr>
          <a:xfrm>
            <a:off x="685800" y="1143000"/>
            <a:ext cx="5486400" cy="3086100"/>
          </a:xfrm>
          <a:prstGeom prst="rect">
            <a:avLst/>
          </a:prstGeom>
          <a:ln w="0">
            <a:noFill/>
          </a:ln>
        </p:spPr>
      </p:sp>
      <p:sp>
        <p:nvSpPr>
          <p:cNvPr id="63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36"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42CDAC6-A568-4D2C-88D1-A681863B4AD8}" type="slidenum">
              <a:rPr lang="en-US" sz="1200" b="0" u="none" strike="noStrike">
                <a:solidFill>
                  <a:schemeClr val="dk1"/>
                </a:solidFill>
                <a:effectLst/>
                <a:uFillTx/>
                <a:latin typeface="+mn-lt"/>
                <a:ea typeface="+mn-ea"/>
              </a:rPr>
              <a:t>13</a:t>
            </a:fld>
            <a:endParaRPr lang="en-US" sz="1200" b="0" u="none" strike="noStrike">
              <a:solidFill>
                <a:srgbClr val="000000"/>
              </a:solidFill>
              <a:effectLst/>
              <a:uFillTx/>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7" name="PlaceHolder 1"/>
          <p:cNvSpPr>
            <a:spLocks noGrp="1" noRot="1" noChangeAspect="1"/>
          </p:cNvSpPr>
          <p:nvPr>
            <p:ph type="sldImg"/>
          </p:nvPr>
        </p:nvSpPr>
        <p:spPr>
          <a:xfrm>
            <a:off x="685800" y="1143000"/>
            <a:ext cx="5486400" cy="3086100"/>
          </a:xfrm>
          <a:prstGeom prst="rect">
            <a:avLst/>
          </a:prstGeom>
          <a:ln w="0">
            <a:noFill/>
          </a:ln>
        </p:spPr>
      </p:sp>
      <p:sp>
        <p:nvSpPr>
          <p:cNvPr id="63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39"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BF0AF5F-9021-4976-B033-5BD0D025A798}" type="slidenum">
              <a:rPr lang="en-US" sz="1200" b="0" u="none" strike="noStrike">
                <a:solidFill>
                  <a:schemeClr val="dk1"/>
                </a:solidFill>
                <a:effectLst/>
                <a:uFillTx/>
                <a:latin typeface="+mn-lt"/>
                <a:ea typeface="+mn-ea"/>
              </a:rPr>
              <a:t>14</a:t>
            </a:fld>
            <a:endParaRPr lang="en-US" sz="12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0" name="PlaceHolder 1"/>
          <p:cNvSpPr>
            <a:spLocks noGrp="1" noRot="1" noChangeAspect="1"/>
          </p:cNvSpPr>
          <p:nvPr>
            <p:ph type="sldImg"/>
          </p:nvPr>
        </p:nvSpPr>
        <p:spPr>
          <a:xfrm>
            <a:off x="685800" y="1143000"/>
            <a:ext cx="5486400" cy="3086100"/>
          </a:xfrm>
          <a:prstGeom prst="rect">
            <a:avLst/>
          </a:prstGeom>
          <a:ln w="0">
            <a:noFill/>
          </a:ln>
        </p:spPr>
      </p:sp>
      <p:sp>
        <p:nvSpPr>
          <p:cNvPr id="64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42"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F475871-CA94-4BF2-BAA1-2F0D121F319F}" type="slidenum">
              <a:rPr lang="en-US" sz="1200" b="0" u="none" strike="noStrike">
                <a:solidFill>
                  <a:schemeClr val="dk1"/>
                </a:solidFill>
                <a:effectLst/>
                <a:uFillTx/>
                <a:latin typeface="+mn-lt"/>
                <a:ea typeface="+mn-ea"/>
              </a:rPr>
              <a:t>15</a:t>
            </a:fld>
            <a:endParaRPr lang="en-US" sz="1200" b="0" u="none" strike="noStrike">
              <a:solidFill>
                <a:srgbClr val="000000"/>
              </a:solidFill>
              <a:effectLst/>
              <a:uFillTx/>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3" name="PlaceHolder 1"/>
          <p:cNvSpPr>
            <a:spLocks noGrp="1" noRot="1" noChangeAspect="1"/>
          </p:cNvSpPr>
          <p:nvPr>
            <p:ph type="sldImg"/>
          </p:nvPr>
        </p:nvSpPr>
        <p:spPr>
          <a:xfrm>
            <a:off x="685800" y="1143000"/>
            <a:ext cx="5486400" cy="3086100"/>
          </a:xfrm>
          <a:prstGeom prst="rect">
            <a:avLst/>
          </a:prstGeom>
          <a:ln w="0">
            <a:noFill/>
          </a:ln>
        </p:spPr>
      </p:sp>
      <p:sp>
        <p:nvSpPr>
          <p:cNvPr id="64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dirty="0">
              <a:solidFill>
                <a:srgbClr val="000000"/>
              </a:solidFill>
              <a:effectLst/>
              <a:uFillTx/>
              <a:latin typeface="Arial"/>
            </a:endParaRPr>
          </a:p>
        </p:txBody>
      </p:sp>
      <p:sp>
        <p:nvSpPr>
          <p:cNvPr id="645"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4414C1A-D5AD-44ED-BB27-2DED58928B04}" type="slidenum">
              <a:rPr lang="en-US" sz="1200" b="0" u="none" strike="noStrike">
                <a:solidFill>
                  <a:schemeClr val="dk1"/>
                </a:solidFill>
                <a:effectLst/>
                <a:uFillTx/>
                <a:latin typeface="+mn-lt"/>
                <a:ea typeface="+mn-ea"/>
              </a:rPr>
              <a:t>16</a:t>
            </a:fld>
            <a:endParaRPr lang="en-US" sz="1200" b="0" u="none" strike="noStrike">
              <a:solidFill>
                <a:srgbClr val="000000"/>
              </a:solidFill>
              <a:effectLst/>
              <a:uFillTx/>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6" name="PlaceHolder 1"/>
          <p:cNvSpPr>
            <a:spLocks noGrp="1" noRot="1" noChangeAspect="1"/>
          </p:cNvSpPr>
          <p:nvPr>
            <p:ph type="sldImg"/>
          </p:nvPr>
        </p:nvSpPr>
        <p:spPr>
          <a:xfrm>
            <a:off x="685800" y="1143000"/>
            <a:ext cx="5486400" cy="3086100"/>
          </a:xfrm>
          <a:prstGeom prst="rect">
            <a:avLst/>
          </a:prstGeom>
          <a:ln w="0">
            <a:noFill/>
          </a:ln>
        </p:spPr>
      </p:sp>
      <p:sp>
        <p:nvSpPr>
          <p:cNvPr id="64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48"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2B026A5-AE90-4577-BDD2-D8D928CDA7B2}" type="slidenum">
              <a:rPr lang="en-US" sz="1200" b="0" u="none" strike="noStrike">
                <a:solidFill>
                  <a:schemeClr val="dk1"/>
                </a:solidFill>
                <a:effectLst/>
                <a:uFillTx/>
                <a:latin typeface="+mn-lt"/>
                <a:ea typeface="+mn-ea"/>
              </a:rPr>
              <a:t>17</a:t>
            </a:fld>
            <a:endParaRPr lang="en-US" sz="1200" b="0" u="none" strike="noStrike">
              <a:solidFill>
                <a:srgbClr val="000000"/>
              </a:solidFill>
              <a:effectLst/>
              <a:uFillTx/>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9" name="PlaceHolder 1"/>
          <p:cNvSpPr>
            <a:spLocks noGrp="1" noRot="1" noChangeAspect="1"/>
          </p:cNvSpPr>
          <p:nvPr>
            <p:ph type="sldImg"/>
          </p:nvPr>
        </p:nvSpPr>
        <p:spPr>
          <a:xfrm>
            <a:off x="685800" y="1143000"/>
            <a:ext cx="5486400" cy="3086100"/>
          </a:xfrm>
          <a:prstGeom prst="rect">
            <a:avLst/>
          </a:prstGeom>
          <a:ln w="0">
            <a:noFill/>
          </a:ln>
        </p:spPr>
      </p:sp>
      <p:sp>
        <p:nvSpPr>
          <p:cNvPr id="65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51" name="PlaceHolder 3"/>
          <p:cNvSpPr>
            <a:spLocks noGrp="1"/>
          </p:cNvSpPr>
          <p:nvPr>
            <p:ph type="sldNum" idx="2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E7124BF-057B-4CAB-BC2A-B82335BA5E29}" type="slidenum">
              <a:rPr lang="en-US" sz="1200" b="0" u="none" strike="noStrike">
                <a:solidFill>
                  <a:schemeClr val="dk1"/>
                </a:solidFill>
                <a:effectLst/>
                <a:uFillTx/>
                <a:latin typeface="+mn-lt"/>
                <a:ea typeface="+mn-ea"/>
              </a:rPr>
              <a:t>18</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Calibri"/>
              </a:rPr>
              <a:t>Click to edit the title text format</a:t>
            </a: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
        <p:nvSpPr>
          <p:cNvPr id="4" name="Slide Number Placeholder 3">
            <a:extLst>
              <a:ext uri="{FF2B5EF4-FFF2-40B4-BE49-F238E27FC236}">
                <a16:creationId xmlns:a16="http://schemas.microsoft.com/office/drawing/2014/main" id="{4E57C20C-E778-1559-1CD3-DAA43F461EA7}"/>
              </a:ext>
            </a:extLst>
          </p:cNvPr>
          <p:cNvSpPr>
            <a:spLocks noGrp="1"/>
          </p:cNvSpPr>
          <p:nvPr>
            <p:ph type="sldNum" sz="quarter" idx="4"/>
          </p:nvPr>
        </p:nvSpPr>
        <p:spPr>
          <a:xfrm>
            <a:off x="10972800" y="6356350"/>
            <a:ext cx="3810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08F5C2A-E4A9-4E29-81FE-3292F88C3A90}"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drive.google.com/drive/folders/1Lw_Jyrlj0b0D-FHmPm_PgBvxmHGrVJ_S?usp=sharing"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hyperlink" Target="https://drive.google.com/file/d/1kxooSEyvCVsXnTP8Jz5kNs5qIstxdNFy/view?usp=sharing" TargetMode="External"/><Relationship Id="rId4" Type="http://schemas.openxmlformats.org/officeDocument/2006/relationships/hyperlink" Target="https://github.com/Tanushri050106/Smart_accident_alert_system.git"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 0"/>
          <p:cNvSpPr/>
          <p:nvPr/>
        </p:nvSpPr>
        <p:spPr>
          <a:xfrm>
            <a:off x="0" y="52764"/>
            <a:ext cx="12191400" cy="685764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dirty="0">
              <a:solidFill>
                <a:srgbClr val="000000"/>
              </a:solidFill>
              <a:effectLst/>
              <a:uFillTx/>
              <a:latin typeface="Arial"/>
            </a:endParaRPr>
          </a:p>
        </p:txBody>
      </p:sp>
      <p:sp>
        <p:nvSpPr>
          <p:cNvPr id="9" name="Shape 1"/>
          <p:cNvSpPr/>
          <p:nvPr/>
        </p:nvSpPr>
        <p:spPr>
          <a:xfrm>
            <a:off x="0" y="0"/>
            <a:ext cx="12191400" cy="1416960"/>
          </a:xfrm>
          <a:prstGeom prst="rect">
            <a:avLst/>
          </a:prstGeom>
          <a:solidFill>
            <a:srgbClr val="0B2E4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 name="Shape 2"/>
          <p:cNvSpPr/>
          <p:nvPr/>
        </p:nvSpPr>
        <p:spPr>
          <a:xfrm>
            <a:off x="0" y="0"/>
            <a:ext cx="200880" cy="1416960"/>
          </a:xfrm>
          <a:prstGeom prst="rect">
            <a:avLst/>
          </a:prstGeom>
          <a:solidFill>
            <a:srgbClr val="2F6FB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 name="Text 3"/>
          <p:cNvSpPr/>
          <p:nvPr/>
        </p:nvSpPr>
        <p:spPr>
          <a:xfrm>
            <a:off x="594360" y="320040"/>
            <a:ext cx="11002680" cy="54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4000" b="1" u="none" strike="noStrike">
                <a:solidFill>
                  <a:srgbClr val="FFFFFF"/>
                </a:solidFill>
                <a:effectLst/>
                <a:uFillTx/>
                <a:latin typeface="Calibri"/>
                <a:ea typeface="Calibri"/>
              </a:rPr>
              <a:t>SoI — Prototype Stage</a:t>
            </a:r>
            <a:endParaRPr lang="en-US" sz="4000" b="0" u="none" strike="noStrike">
              <a:solidFill>
                <a:srgbClr val="000000"/>
              </a:solidFill>
              <a:effectLst/>
              <a:uFillTx/>
              <a:latin typeface="Arial"/>
            </a:endParaRPr>
          </a:p>
        </p:txBody>
      </p:sp>
      <p:sp>
        <p:nvSpPr>
          <p:cNvPr id="12" name="Text 4"/>
          <p:cNvSpPr/>
          <p:nvPr/>
        </p:nvSpPr>
        <p:spPr>
          <a:xfrm>
            <a:off x="594360" y="896040"/>
            <a:ext cx="1100268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800" b="0" u="none" strike="noStrike">
                <a:solidFill>
                  <a:srgbClr val="DCE9F7"/>
                </a:solidFill>
                <a:effectLst/>
                <a:uFillTx/>
                <a:latin typeface="Calibri"/>
                <a:ea typeface="Calibri"/>
              </a:rPr>
              <a:t>Submission Deck Template</a:t>
            </a:r>
            <a:endParaRPr lang="en-US" sz="1800" b="0" u="none" strike="noStrike">
              <a:solidFill>
                <a:srgbClr val="000000"/>
              </a:solidFill>
              <a:effectLst/>
              <a:uFillTx/>
              <a:latin typeface="Arial"/>
            </a:endParaRPr>
          </a:p>
        </p:txBody>
      </p:sp>
      <p:sp>
        <p:nvSpPr>
          <p:cNvPr id="13" name="Shape 5"/>
          <p:cNvSpPr/>
          <p:nvPr/>
        </p:nvSpPr>
        <p:spPr>
          <a:xfrm>
            <a:off x="1801515" y="1684236"/>
            <a:ext cx="7841717" cy="4657154"/>
          </a:xfrm>
          <a:prstGeom prst="roundRect">
            <a:avLst>
              <a:gd name="adj" fmla="val 16667"/>
            </a:avLst>
          </a:prstGeom>
          <a:solidFill>
            <a:srgbClr val="FFFFFF"/>
          </a:solidFill>
          <a:ln w="12700">
            <a:solidFill>
              <a:srgbClr val="E5E7EB"/>
            </a:solidFill>
            <a:round/>
          </a:ln>
          <a:effectLst>
            <a:outerShdw blurRad="28080" dist="19855" dir="2700000" algn="bl" rotWithShape="0">
              <a:srgbClr val="000000">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 name="Text 6"/>
          <p:cNvSpPr/>
          <p:nvPr/>
        </p:nvSpPr>
        <p:spPr>
          <a:xfrm>
            <a:off x="2148178" y="2168336"/>
            <a:ext cx="607140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400" b="1" u="none" strike="noStrike" dirty="0">
                <a:solidFill>
                  <a:srgbClr val="111827"/>
                </a:solidFill>
                <a:effectLst/>
                <a:uFillTx/>
                <a:latin typeface="Calibri"/>
                <a:ea typeface="Calibri"/>
              </a:rPr>
              <a:t>Team Details</a:t>
            </a:r>
            <a:endParaRPr lang="en-US" sz="2400" b="0" u="none" strike="noStrike" dirty="0">
              <a:solidFill>
                <a:srgbClr val="000000"/>
              </a:solidFill>
              <a:effectLst/>
              <a:uFillTx/>
              <a:latin typeface="Arial"/>
            </a:endParaRPr>
          </a:p>
        </p:txBody>
      </p:sp>
      <p:sp>
        <p:nvSpPr>
          <p:cNvPr id="15" name="Text 7"/>
          <p:cNvSpPr/>
          <p:nvPr/>
        </p:nvSpPr>
        <p:spPr>
          <a:xfrm>
            <a:off x="2310581" y="2775546"/>
            <a:ext cx="6823587" cy="346793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r>
              <a:rPr sz="2200" dirty="0"/>
              <a:t>Team:</a:t>
            </a:r>
            <a:r>
              <a:rPr lang="en-IN" sz="2200" dirty="0"/>
              <a:t> </a:t>
            </a:r>
            <a:r>
              <a:rPr lang="en-US" sz="2200" dirty="0" err="1"/>
              <a:t>TechNova</a:t>
            </a:r>
            <a:r>
              <a:rPr lang="en-US" sz="2200" dirty="0"/>
              <a:t> Squad</a:t>
            </a:r>
            <a:r>
              <a:rPr sz="2200" dirty="0"/>
              <a:t> </a:t>
            </a:r>
            <a:endParaRPr lang="en-IN" sz="2200" dirty="0"/>
          </a:p>
          <a:p>
            <a:r>
              <a:rPr sz="2200" dirty="0"/>
              <a:t>Team-ID: </a:t>
            </a:r>
            <a:r>
              <a:rPr lang="en-US" sz="2200" dirty="0"/>
              <a:t>P-2023-27-EI-015</a:t>
            </a:r>
            <a:endParaRPr lang="en-US" sz="2200" b="1" dirty="0">
              <a:ea typeface="Calibri"/>
              <a:cs typeface="Calibri"/>
            </a:endParaRPr>
          </a:p>
          <a:p>
            <a:r>
              <a:rPr sz="2200" dirty="0"/>
              <a:t>Lead: </a:t>
            </a:r>
            <a:r>
              <a:rPr lang="en-US" sz="2200" dirty="0"/>
              <a:t>SHANKAR D</a:t>
            </a:r>
            <a:r>
              <a:rPr sz="2200" dirty="0"/>
              <a:t>  </a:t>
            </a:r>
            <a:endParaRPr lang="en-IN" sz="2200" dirty="0"/>
          </a:p>
          <a:p>
            <a:r>
              <a:rPr sz="2200" dirty="0"/>
              <a:t>Members: </a:t>
            </a:r>
            <a:r>
              <a:rPr lang="en-US" sz="2200" dirty="0"/>
              <a:t>RATHIKA S , SHYAMJITH K , TANUSHRI Y </a:t>
            </a:r>
            <a:endParaRPr sz="2200" dirty="0">
              <a:ea typeface="Calibri"/>
              <a:cs typeface="Calibri"/>
            </a:endParaRPr>
          </a:p>
          <a:p>
            <a:r>
              <a:rPr sz="2200" dirty="0"/>
              <a:t>Mentor: </a:t>
            </a:r>
            <a:r>
              <a:rPr lang="en-US" sz="2200" dirty="0"/>
              <a:t>SRIRAM R</a:t>
            </a:r>
            <a:r>
              <a:rPr sz="2200" dirty="0"/>
              <a:t>   </a:t>
            </a:r>
            <a:endParaRPr lang="en-IN" sz="2200" dirty="0"/>
          </a:p>
          <a:p>
            <a:r>
              <a:rPr sz="2200" dirty="0"/>
              <a:t>Lab Code: </a:t>
            </a:r>
            <a:r>
              <a:rPr lang="en-US" sz="2200" dirty="0"/>
              <a:t>EI</a:t>
            </a:r>
            <a:endParaRPr sz="2200" dirty="0">
              <a:ea typeface="Calibri"/>
              <a:cs typeface="Calibri"/>
            </a:endParaRPr>
          </a:p>
          <a:p>
            <a:r>
              <a:rPr sz="2200" dirty="0"/>
              <a:t>Cohort: </a:t>
            </a:r>
            <a:r>
              <a:rPr lang="en-US" sz="2200" dirty="0"/>
              <a:t>2023-2027</a:t>
            </a:r>
          </a:p>
          <a:p>
            <a:endParaRPr lang="en-US" sz="2200" dirty="0"/>
          </a:p>
          <a:p>
            <a:r>
              <a:rPr sz="2200" dirty="0"/>
              <a:t>Date: </a:t>
            </a:r>
            <a:r>
              <a:rPr lang="en-IN" sz="2200" dirty="0"/>
              <a:t>27/01/2026</a:t>
            </a:r>
            <a:endParaRPr sz="2200" dirty="0"/>
          </a:p>
          <a:p>
            <a:r>
              <a:rPr sz="2200" dirty="0"/>
              <a:t>File</a:t>
            </a:r>
            <a:r>
              <a:rPr lang="en-US" sz="2200" dirty="0"/>
              <a:t> name:</a:t>
            </a:r>
            <a:r>
              <a:rPr lang="it-IT" sz="2200" dirty="0"/>
              <a:t>SoI_Prototype_TechNova Squad_EI_15.pptx</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Shape 0"/>
          <p:cNvSpPr/>
          <p:nvPr/>
        </p:nvSpPr>
        <p:spPr>
          <a:xfrm>
            <a:off x="0" y="0"/>
            <a:ext cx="12191400" cy="566640"/>
          </a:xfrm>
          <a:prstGeom prst="rect">
            <a:avLst/>
          </a:prstGeom>
          <a:solidFill>
            <a:srgbClr val="0B2E4A"/>
          </a:solidFill>
          <a:ln w="12700">
            <a:solidFill>
              <a:srgbClr val="0B2E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7" name="Shape 1"/>
          <p:cNvSpPr/>
          <p:nvPr/>
        </p:nvSpPr>
        <p:spPr>
          <a:xfrm>
            <a:off x="0" y="0"/>
            <a:ext cx="145800" cy="566640"/>
          </a:xfrm>
          <a:prstGeom prst="rect">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8" name="Text 2"/>
          <p:cNvSpPr/>
          <p:nvPr/>
        </p:nvSpPr>
        <p:spPr>
          <a:xfrm>
            <a:off x="594360" y="109800"/>
            <a:ext cx="1100268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400" b="1" u="none" strike="noStrike">
                <a:solidFill>
                  <a:srgbClr val="FFFFFF"/>
                </a:solidFill>
                <a:effectLst/>
                <a:uFillTx/>
                <a:latin typeface="Calibri"/>
                <a:ea typeface="Calibri"/>
              </a:rPr>
              <a:t>SoI Innovation Pipeline</a:t>
            </a:r>
            <a:endParaRPr lang="en-US" sz="1400" b="0" u="none" strike="noStrike">
              <a:solidFill>
                <a:srgbClr val="000000"/>
              </a:solidFill>
              <a:effectLst/>
              <a:uFillTx/>
              <a:latin typeface="Arial"/>
            </a:endParaRPr>
          </a:p>
        </p:txBody>
      </p:sp>
      <p:sp>
        <p:nvSpPr>
          <p:cNvPr id="39" name="Shape 3"/>
          <p:cNvSpPr/>
          <p:nvPr/>
        </p:nvSpPr>
        <p:spPr>
          <a:xfrm>
            <a:off x="594360" y="658440"/>
            <a:ext cx="1919880" cy="292320"/>
          </a:xfrm>
          <a:prstGeom prst="roundRect">
            <a:avLst>
              <a:gd name="adj" fmla="val 16667"/>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0" name="Text 4"/>
          <p:cNvSpPr/>
          <p:nvPr/>
        </p:nvSpPr>
        <p:spPr>
          <a:xfrm>
            <a:off x="594360" y="704160"/>
            <a:ext cx="19198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CONTEXT</a:t>
            </a:r>
            <a:endParaRPr lang="en-US" sz="1200" b="0" u="none" strike="noStrike">
              <a:solidFill>
                <a:srgbClr val="000000"/>
              </a:solidFill>
              <a:effectLst/>
              <a:uFillTx/>
              <a:latin typeface="Arial"/>
            </a:endParaRPr>
          </a:p>
        </p:txBody>
      </p:sp>
      <p:sp>
        <p:nvSpPr>
          <p:cNvPr id="41" name="Text 5"/>
          <p:cNvSpPr/>
          <p:nvPr/>
        </p:nvSpPr>
        <p:spPr>
          <a:xfrm>
            <a:off x="594360" y="822960"/>
            <a:ext cx="11002680" cy="54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3200" b="1" u="none" strike="noStrike">
                <a:solidFill>
                  <a:srgbClr val="111827"/>
                </a:solidFill>
                <a:effectLst/>
                <a:uFillTx/>
                <a:latin typeface="Calibri"/>
                <a:ea typeface="Calibri"/>
              </a:rPr>
              <a:t>Problem &amp; End-User Recap</a:t>
            </a:r>
            <a:endParaRPr lang="en-US" sz="3200" b="0" u="none" strike="noStrike">
              <a:solidFill>
                <a:srgbClr val="000000"/>
              </a:solidFill>
              <a:effectLst/>
              <a:uFillTx/>
              <a:latin typeface="Arial"/>
            </a:endParaRPr>
          </a:p>
        </p:txBody>
      </p:sp>
      <p:sp>
        <p:nvSpPr>
          <p:cNvPr id="42" name="Text 6"/>
          <p:cNvSpPr/>
          <p:nvPr/>
        </p:nvSpPr>
        <p:spPr>
          <a:xfrm>
            <a:off x="594360" y="1417320"/>
            <a:ext cx="1100268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US" sz="1600" b="0" u="none" strike="noStrike" dirty="0">
              <a:solidFill>
                <a:srgbClr val="000000"/>
              </a:solidFill>
              <a:effectLst/>
              <a:uFillTx/>
              <a:latin typeface="Arial"/>
            </a:endParaRPr>
          </a:p>
        </p:txBody>
      </p:sp>
      <p:sp>
        <p:nvSpPr>
          <p:cNvPr id="43" name="Shape 7"/>
          <p:cNvSpPr/>
          <p:nvPr/>
        </p:nvSpPr>
        <p:spPr>
          <a:xfrm>
            <a:off x="311104" y="1389600"/>
            <a:ext cx="11633969" cy="4922880"/>
          </a:xfrm>
          <a:prstGeom prst="roundRect">
            <a:avLst>
              <a:gd name="adj" fmla="val 21485"/>
            </a:avLst>
          </a:prstGeom>
          <a:solidFill>
            <a:srgbClr val="FFFFFF"/>
          </a:solidFill>
          <a:ln w="12700">
            <a:solidFill>
              <a:srgbClr val="E5E7EB"/>
            </a:solidFill>
            <a:round/>
          </a:ln>
          <a:effectLst>
            <a:outerShdw blurRad="28080" dist="19855" dir="2700000" algn="bl" rotWithShape="0">
              <a:srgbClr val="000000">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dirty="0">
              <a:solidFill>
                <a:srgbClr val="000000"/>
              </a:solidFill>
              <a:effectLst/>
              <a:uFillTx/>
              <a:latin typeface="Arial"/>
            </a:endParaRPr>
          </a:p>
        </p:txBody>
      </p:sp>
      <p:sp>
        <p:nvSpPr>
          <p:cNvPr id="45" name="Text 9"/>
          <p:cNvSpPr/>
          <p:nvPr/>
        </p:nvSpPr>
        <p:spPr>
          <a:xfrm>
            <a:off x="881160" y="1655640"/>
            <a:ext cx="10460520" cy="4077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10000"/>
              </a:lnSpc>
              <a:tabLst>
                <a:tab pos="0" algn="l"/>
              </a:tabLst>
            </a:pPr>
            <a:endParaRPr lang="en-US" sz="1300" b="0" u="none" strike="noStrike">
              <a:solidFill>
                <a:schemeClr val="dk1"/>
              </a:solidFill>
              <a:effectLst/>
              <a:uFillTx/>
              <a:latin typeface="Calibri"/>
            </a:endParaRPr>
          </a:p>
        </p:txBody>
      </p:sp>
      <p:sp>
        <p:nvSpPr>
          <p:cNvPr id="46" name="Text 10"/>
          <p:cNvSpPr/>
          <p:nvPr/>
        </p:nvSpPr>
        <p:spPr>
          <a:xfrm>
            <a:off x="919382" y="1731281"/>
            <a:ext cx="3071880" cy="566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600" b="1" u="none" strike="noStrike" dirty="0">
                <a:solidFill>
                  <a:srgbClr val="4B5563"/>
                </a:solidFill>
                <a:effectLst/>
                <a:uFillTx/>
                <a:latin typeface="Calibri"/>
                <a:ea typeface="Calibri"/>
              </a:rPr>
              <a:t>Problem statement </a:t>
            </a:r>
            <a:r>
              <a:rPr lang="en-US" sz="1600" b="1" dirty="0">
                <a:solidFill>
                  <a:srgbClr val="4B5563"/>
                </a:solidFill>
                <a:latin typeface="Calibri"/>
                <a:ea typeface="Calibri"/>
              </a:rPr>
              <a:t>:</a:t>
            </a:r>
            <a:endParaRPr lang="en-US" sz="1600" b="0" u="none" strike="noStrike" dirty="0">
              <a:solidFill>
                <a:srgbClr val="000000"/>
              </a:solidFill>
              <a:effectLst/>
              <a:uFillTx/>
              <a:latin typeface="Arial"/>
            </a:endParaRPr>
          </a:p>
        </p:txBody>
      </p:sp>
      <p:sp>
        <p:nvSpPr>
          <p:cNvPr id="48" name="Text 12"/>
          <p:cNvSpPr/>
          <p:nvPr/>
        </p:nvSpPr>
        <p:spPr>
          <a:xfrm>
            <a:off x="4025399" y="1238760"/>
            <a:ext cx="7065841" cy="1928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tabLst>
                <a:tab pos="0" algn="l"/>
              </a:tabLst>
            </a:pPr>
            <a:endParaRPr lang="en-US" sz="1600" b="0" u="none" strike="noStrike" dirty="0">
              <a:solidFill>
                <a:srgbClr val="000000"/>
              </a:solidFill>
              <a:effectLst/>
              <a:uFillTx/>
              <a:latin typeface="+mj-lt"/>
              <a:cs typeface="Times New Roman" panose="02020603050405020304" pitchFamily="18" charset="0"/>
            </a:endParaRPr>
          </a:p>
        </p:txBody>
      </p:sp>
      <p:sp>
        <p:nvSpPr>
          <p:cNvPr id="49" name="Text 13"/>
          <p:cNvSpPr/>
          <p:nvPr/>
        </p:nvSpPr>
        <p:spPr>
          <a:xfrm>
            <a:off x="919382" y="3311260"/>
            <a:ext cx="3071880" cy="566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600" b="1" u="none" strike="noStrike" dirty="0">
                <a:solidFill>
                  <a:srgbClr val="4B5563"/>
                </a:solidFill>
                <a:effectLst/>
                <a:uFillTx/>
                <a:latin typeface="Calibri"/>
                <a:ea typeface="Calibri"/>
              </a:rPr>
              <a:t>Target end-user / context:</a:t>
            </a:r>
            <a:endParaRPr lang="en-US" sz="1600" b="0" u="none" strike="noStrike" dirty="0">
              <a:solidFill>
                <a:srgbClr val="000000"/>
              </a:solidFill>
              <a:effectLst/>
              <a:uFillTx/>
              <a:latin typeface="Arial"/>
            </a:endParaRPr>
          </a:p>
        </p:txBody>
      </p:sp>
      <p:sp>
        <p:nvSpPr>
          <p:cNvPr id="52" name="Text 16"/>
          <p:cNvSpPr/>
          <p:nvPr/>
        </p:nvSpPr>
        <p:spPr>
          <a:xfrm>
            <a:off x="978300" y="4180483"/>
            <a:ext cx="3071880" cy="525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600" b="1" u="none" strike="noStrike" dirty="0">
                <a:solidFill>
                  <a:srgbClr val="4B5563"/>
                </a:solidFill>
                <a:effectLst/>
                <a:uFillTx/>
                <a:latin typeface="Calibri"/>
                <a:ea typeface="Calibri"/>
              </a:rPr>
              <a:t>Evidence:</a:t>
            </a:r>
            <a:endParaRPr lang="en-US" sz="1600" b="0" u="none" strike="noStrike" dirty="0">
              <a:solidFill>
                <a:srgbClr val="000000"/>
              </a:solidFill>
              <a:effectLst/>
              <a:uFillTx/>
              <a:latin typeface="Arial"/>
            </a:endParaRPr>
          </a:p>
        </p:txBody>
      </p:sp>
      <p:sp>
        <p:nvSpPr>
          <p:cNvPr id="53" name="Shape 17"/>
          <p:cNvSpPr/>
          <p:nvPr/>
        </p:nvSpPr>
        <p:spPr>
          <a:xfrm>
            <a:off x="4057350" y="4215582"/>
            <a:ext cx="7193461" cy="843545"/>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dirty="0">
              <a:solidFill>
                <a:srgbClr val="000000"/>
              </a:solidFill>
              <a:effectLst/>
              <a:uFillTx/>
              <a:latin typeface="Arial"/>
            </a:endParaRPr>
          </a:p>
        </p:txBody>
      </p:sp>
      <p:sp>
        <p:nvSpPr>
          <p:cNvPr id="54" name="Text 18"/>
          <p:cNvSpPr/>
          <p:nvPr/>
        </p:nvSpPr>
        <p:spPr>
          <a:xfrm>
            <a:off x="4050180" y="4254233"/>
            <a:ext cx="6949080" cy="67373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tabLst>
                <a:tab pos="0" algn="l"/>
              </a:tabLst>
            </a:pPr>
            <a:r>
              <a:rPr lang="en-US" sz="1600" dirty="0"/>
              <a:t>	WHO and MoRTH data show nearly 50% of accident deaths can be prevented with timely help; families and drivers report delays in ambulance arrival and lack of immediate notifications.</a:t>
            </a:r>
            <a:endParaRPr lang="en-US" sz="1600" b="0" u="none" strike="noStrike" dirty="0">
              <a:solidFill>
                <a:srgbClr val="000000"/>
              </a:solidFill>
              <a:effectLst/>
              <a:uFillTx/>
              <a:latin typeface="Arial"/>
            </a:endParaRPr>
          </a:p>
        </p:txBody>
      </p:sp>
      <p:sp>
        <p:nvSpPr>
          <p:cNvPr id="55" name="Text 19"/>
          <p:cNvSpPr/>
          <p:nvPr/>
        </p:nvSpPr>
        <p:spPr>
          <a:xfrm>
            <a:off x="990960" y="4989778"/>
            <a:ext cx="3071880" cy="566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600" b="1" u="none" strike="noStrike" dirty="0">
                <a:solidFill>
                  <a:srgbClr val="4B5563"/>
                </a:solidFill>
                <a:effectLst/>
                <a:uFillTx/>
                <a:latin typeface="Calibri"/>
                <a:ea typeface="Calibri"/>
              </a:rPr>
              <a:t>Success metric(s):</a:t>
            </a:r>
            <a:endParaRPr lang="en-US" sz="1600" b="0" u="none" strike="noStrike" dirty="0">
              <a:solidFill>
                <a:srgbClr val="000000"/>
              </a:solidFill>
              <a:effectLst/>
              <a:uFillTx/>
              <a:latin typeface="Arial"/>
            </a:endParaRPr>
          </a:p>
        </p:txBody>
      </p:sp>
      <p:sp>
        <p:nvSpPr>
          <p:cNvPr id="56" name="Shape 20"/>
          <p:cNvSpPr/>
          <p:nvPr/>
        </p:nvSpPr>
        <p:spPr>
          <a:xfrm>
            <a:off x="4079632" y="5139871"/>
            <a:ext cx="7171179" cy="517937"/>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sz="1600" dirty="0"/>
              <a:t>Instant alert delivery, accurate location sharing, reduced response time</a:t>
            </a:r>
            <a:r>
              <a:rPr lang="en-US" dirty="0"/>
              <a:t>.</a:t>
            </a:r>
          </a:p>
        </p:txBody>
      </p:sp>
      <p:sp>
        <p:nvSpPr>
          <p:cNvPr id="2" name="Shape 17">
            <a:extLst>
              <a:ext uri="{FF2B5EF4-FFF2-40B4-BE49-F238E27FC236}">
                <a16:creationId xmlns:a16="http://schemas.microsoft.com/office/drawing/2014/main" id="{0AA48D84-4DB1-357B-FF1B-4F9DFA34F377}"/>
              </a:ext>
            </a:extLst>
          </p:cNvPr>
          <p:cNvSpPr/>
          <p:nvPr/>
        </p:nvSpPr>
        <p:spPr>
          <a:xfrm>
            <a:off x="4082131" y="3463155"/>
            <a:ext cx="7168680" cy="677118"/>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just">
              <a:defRPr sz="1800"/>
            </a:pPr>
            <a:r>
              <a:rPr lang="en-US" sz="1600" dirty="0"/>
              <a:t>Car owners and fleet operators who want automatic accident alerts, along with ambulance services and family members who receive real-time notifications.</a:t>
            </a:r>
          </a:p>
        </p:txBody>
      </p:sp>
      <p:sp>
        <p:nvSpPr>
          <p:cNvPr id="3" name="Text 13">
            <a:extLst>
              <a:ext uri="{FF2B5EF4-FFF2-40B4-BE49-F238E27FC236}">
                <a16:creationId xmlns:a16="http://schemas.microsoft.com/office/drawing/2014/main" id="{FDE6A28C-12D8-C36C-D495-97CB39CAB08B}"/>
              </a:ext>
            </a:extLst>
          </p:cNvPr>
          <p:cNvSpPr/>
          <p:nvPr/>
        </p:nvSpPr>
        <p:spPr>
          <a:xfrm>
            <a:off x="3827123" y="641949"/>
            <a:ext cx="3071880" cy="566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US" sz="1300" b="0" u="none" strike="noStrike" dirty="0">
              <a:solidFill>
                <a:srgbClr val="000000"/>
              </a:solidFill>
              <a:effectLst/>
              <a:uFillTx/>
              <a:latin typeface="Arial"/>
            </a:endParaRPr>
          </a:p>
        </p:txBody>
      </p:sp>
      <p:sp>
        <p:nvSpPr>
          <p:cNvPr id="4" name="Text 5">
            <a:extLst>
              <a:ext uri="{FF2B5EF4-FFF2-40B4-BE49-F238E27FC236}">
                <a16:creationId xmlns:a16="http://schemas.microsoft.com/office/drawing/2014/main" id="{84F5D9BC-A8F7-8E23-00AD-C2941353CA5A}"/>
              </a:ext>
            </a:extLst>
          </p:cNvPr>
          <p:cNvSpPr/>
          <p:nvPr/>
        </p:nvSpPr>
        <p:spPr>
          <a:xfrm>
            <a:off x="4025399" y="1697999"/>
            <a:ext cx="7644000" cy="134582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just"/>
            <a:endParaRPr lang="en-US" sz="1600" dirty="0"/>
          </a:p>
        </p:txBody>
      </p:sp>
      <p:sp>
        <p:nvSpPr>
          <p:cNvPr id="5" name="Shape 17">
            <a:extLst>
              <a:ext uri="{FF2B5EF4-FFF2-40B4-BE49-F238E27FC236}">
                <a16:creationId xmlns:a16="http://schemas.microsoft.com/office/drawing/2014/main" id="{E80BA6FC-C237-1793-91BC-189F4692156B}"/>
              </a:ext>
            </a:extLst>
          </p:cNvPr>
          <p:cNvSpPr/>
          <p:nvPr/>
        </p:nvSpPr>
        <p:spPr>
          <a:xfrm>
            <a:off x="4057349" y="1604317"/>
            <a:ext cx="7168679" cy="1790529"/>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just">
              <a:defRPr sz="1800"/>
            </a:pPr>
            <a:r>
              <a:rPr lang="en-US" sz="1600" dirty="0">
                <a:solidFill>
                  <a:srgbClr val="000000"/>
                </a:solidFill>
              </a:rPr>
              <a:t>This project aims to develop a smart IoT-based safety device that can automatically detect vehicle accidents and send instant alerts. It uses sensors like accelerometers, gyroscopes, and impact detectors to identify collisions of any severity. Once an accident is detected, the system collects the vehicle’s GPS location and sends real-time accident details to emergency services and the driver’s emergency contacts through GSM. This helps in getting quick medical help and improves the chances of saving lives.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Shape 0"/>
          <p:cNvSpPr/>
          <p:nvPr/>
        </p:nvSpPr>
        <p:spPr>
          <a:xfrm>
            <a:off x="600" y="-508256"/>
            <a:ext cx="12191400" cy="566640"/>
          </a:xfrm>
          <a:prstGeom prst="rect">
            <a:avLst/>
          </a:prstGeom>
          <a:solidFill>
            <a:srgbClr val="0B2E4A"/>
          </a:solidFill>
          <a:ln w="12700">
            <a:solidFill>
              <a:srgbClr val="0B2E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7" name="Shape 1"/>
          <p:cNvSpPr/>
          <p:nvPr/>
        </p:nvSpPr>
        <p:spPr>
          <a:xfrm>
            <a:off x="0" y="0"/>
            <a:ext cx="145800" cy="566640"/>
          </a:xfrm>
          <a:prstGeom prst="rect">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8" name="Text 2"/>
          <p:cNvSpPr/>
          <p:nvPr/>
        </p:nvSpPr>
        <p:spPr>
          <a:xfrm>
            <a:off x="594360" y="109800"/>
            <a:ext cx="1100268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r>
              <a:t>SoI Innovation Pipeline</a:t>
            </a:r>
          </a:p>
        </p:txBody>
      </p:sp>
      <p:sp>
        <p:nvSpPr>
          <p:cNvPr id="39" name="Shape 3"/>
          <p:cNvSpPr/>
          <p:nvPr/>
        </p:nvSpPr>
        <p:spPr>
          <a:xfrm>
            <a:off x="594360" y="658440"/>
            <a:ext cx="1919880" cy="292320"/>
          </a:xfrm>
          <a:prstGeom prst="roundRect">
            <a:avLst>
              <a:gd name="adj" fmla="val 16667"/>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0" name="Text 4"/>
          <p:cNvSpPr/>
          <p:nvPr/>
        </p:nvSpPr>
        <p:spPr>
          <a:xfrm>
            <a:off x="594360" y="704160"/>
            <a:ext cx="19198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r>
              <a:t>IDEATION</a:t>
            </a:r>
          </a:p>
        </p:txBody>
      </p:sp>
      <p:sp>
        <p:nvSpPr>
          <p:cNvPr id="41" name="Text 5"/>
          <p:cNvSpPr/>
          <p:nvPr/>
        </p:nvSpPr>
        <p:spPr>
          <a:xfrm>
            <a:off x="594360" y="834535"/>
            <a:ext cx="11002680" cy="54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dirty="0"/>
          </a:p>
        </p:txBody>
      </p:sp>
      <p:sp>
        <p:nvSpPr>
          <p:cNvPr id="42" name="Text 6"/>
          <p:cNvSpPr/>
          <p:nvPr/>
        </p:nvSpPr>
        <p:spPr>
          <a:xfrm>
            <a:off x="594360" y="1417320"/>
            <a:ext cx="1100268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dirty="0"/>
          </a:p>
        </p:txBody>
      </p:sp>
      <p:sp>
        <p:nvSpPr>
          <p:cNvPr id="43" name="Shape 7"/>
          <p:cNvSpPr/>
          <p:nvPr/>
        </p:nvSpPr>
        <p:spPr>
          <a:xfrm>
            <a:off x="866040" y="1056420"/>
            <a:ext cx="10972440" cy="4754520"/>
          </a:xfrm>
          <a:prstGeom prst="roundRect">
            <a:avLst>
              <a:gd name="adj" fmla="val 16667"/>
            </a:avLst>
          </a:prstGeom>
          <a:solidFill>
            <a:srgbClr val="FFFFFF"/>
          </a:solidFill>
          <a:ln w="12700">
            <a:solidFill>
              <a:srgbClr val="E5E7EB"/>
            </a:solidFill>
            <a:round/>
          </a:ln>
          <a:effectLst>
            <a:outerShdw blurRad="28080" dist="19855" dir="2700000" algn="bl" rotWithShape="0">
              <a:srgbClr val="000000">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dirty="0">
              <a:solidFill>
                <a:srgbClr val="000000"/>
              </a:solidFill>
              <a:effectLst/>
              <a:uFillTx/>
              <a:latin typeface="Arial"/>
            </a:endParaRPr>
          </a:p>
        </p:txBody>
      </p:sp>
      <p:sp>
        <p:nvSpPr>
          <p:cNvPr id="44" name="Text 8"/>
          <p:cNvSpPr/>
          <p:nvPr/>
        </p:nvSpPr>
        <p:spPr>
          <a:xfrm>
            <a:off x="850320" y="1993320"/>
            <a:ext cx="1046052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dirty="0"/>
          </a:p>
        </p:txBody>
      </p:sp>
      <p:sp>
        <p:nvSpPr>
          <p:cNvPr id="45" name="Text 9"/>
          <p:cNvSpPr/>
          <p:nvPr/>
        </p:nvSpPr>
        <p:spPr>
          <a:xfrm>
            <a:off x="850320" y="2331720"/>
            <a:ext cx="10460520" cy="4077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10000"/>
              </a:lnSpc>
              <a:tabLst>
                <a:tab pos="0" algn="l"/>
              </a:tabLst>
            </a:pPr>
            <a:endParaRPr lang="en-US" sz="1300" b="0" u="none" strike="noStrike">
              <a:solidFill>
                <a:schemeClr val="dk1"/>
              </a:solidFill>
              <a:effectLst/>
              <a:uFillTx/>
              <a:latin typeface="Calibri"/>
            </a:endParaRPr>
          </a:p>
        </p:txBody>
      </p:sp>
      <p:sp>
        <p:nvSpPr>
          <p:cNvPr id="46" name="Text 10"/>
          <p:cNvSpPr/>
          <p:nvPr/>
        </p:nvSpPr>
        <p:spPr>
          <a:xfrm>
            <a:off x="1387738" y="1252350"/>
            <a:ext cx="3071880" cy="566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r>
              <a:rPr dirty="0"/>
              <a:t>Ideas explored</a:t>
            </a:r>
          </a:p>
        </p:txBody>
      </p:sp>
      <p:sp>
        <p:nvSpPr>
          <p:cNvPr id="47" name="Shape 11"/>
          <p:cNvSpPr/>
          <p:nvPr/>
        </p:nvSpPr>
        <p:spPr>
          <a:xfrm>
            <a:off x="4241837" y="1186446"/>
            <a:ext cx="7217907" cy="1003614"/>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just"/>
            <a:r>
              <a:rPr lang="en-US" sz="1600" u="none" strike="noStrike" dirty="0">
                <a:solidFill>
                  <a:srgbClr val="000000"/>
                </a:solidFill>
                <a:effectLst/>
                <a:uFillTx/>
                <a:latin typeface="+mj-lt"/>
              </a:rPr>
              <a:t>Idea 1 - </a:t>
            </a:r>
            <a:r>
              <a:rPr lang="en-US" sz="1600" dirty="0">
                <a:latin typeface="+mj-lt"/>
              </a:rPr>
              <a:t>Airbag-Triggered IoT Accident Alert System</a:t>
            </a:r>
          </a:p>
          <a:p>
            <a:pPr algn="just"/>
            <a:r>
              <a:rPr lang="en-US" sz="1600" dirty="0">
                <a:latin typeface="+mj-lt"/>
              </a:rPr>
              <a:t>Idea 2- Sensor Triggered IoT Accident Alert System</a:t>
            </a:r>
          </a:p>
          <a:p>
            <a:pPr algn="just"/>
            <a:r>
              <a:rPr lang="en-US" sz="1600" dirty="0">
                <a:latin typeface="+mj-lt"/>
              </a:rPr>
              <a:t>Idea 3- </a:t>
            </a:r>
            <a:r>
              <a:rPr lang="en-IN" sz="1600" dirty="0">
                <a:latin typeface="+mj-lt"/>
              </a:rPr>
              <a:t>Seatbelt-Integrated Vital Monitoring Module</a:t>
            </a:r>
            <a:r>
              <a:rPr lang="en-US" sz="1600" dirty="0">
                <a:latin typeface="+mj-lt"/>
              </a:rPr>
              <a:t> </a:t>
            </a:r>
            <a:endParaRPr lang="en-US" sz="1600" u="none" strike="noStrike" dirty="0">
              <a:solidFill>
                <a:srgbClr val="000000"/>
              </a:solidFill>
              <a:effectLst/>
              <a:uFillTx/>
              <a:latin typeface="+mj-lt"/>
            </a:endParaRPr>
          </a:p>
        </p:txBody>
      </p:sp>
      <p:sp>
        <p:nvSpPr>
          <p:cNvPr id="48" name="Text 12"/>
          <p:cNvSpPr/>
          <p:nvPr/>
        </p:nvSpPr>
        <p:spPr>
          <a:xfrm>
            <a:off x="4142160" y="2615040"/>
            <a:ext cx="694908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dirty="0"/>
          </a:p>
        </p:txBody>
      </p:sp>
      <p:sp>
        <p:nvSpPr>
          <p:cNvPr id="49" name="Text 13"/>
          <p:cNvSpPr/>
          <p:nvPr/>
        </p:nvSpPr>
        <p:spPr>
          <a:xfrm>
            <a:off x="1100760" y="2384280"/>
            <a:ext cx="3071880" cy="566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r>
              <a:rPr dirty="0"/>
              <a:t>Selected idea (taken to PoC)</a:t>
            </a:r>
          </a:p>
        </p:txBody>
      </p:sp>
      <p:sp>
        <p:nvSpPr>
          <p:cNvPr id="50" name="Shape 14"/>
          <p:cNvSpPr/>
          <p:nvPr/>
        </p:nvSpPr>
        <p:spPr>
          <a:xfrm>
            <a:off x="4249757" y="2308771"/>
            <a:ext cx="6949080" cy="67167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dirty="0">
              <a:solidFill>
                <a:srgbClr val="000000"/>
              </a:solidFill>
              <a:effectLst/>
              <a:uFillTx/>
              <a:latin typeface="Arial"/>
            </a:endParaRPr>
          </a:p>
        </p:txBody>
      </p:sp>
      <p:sp>
        <p:nvSpPr>
          <p:cNvPr id="51" name="Text 15"/>
          <p:cNvSpPr/>
          <p:nvPr/>
        </p:nvSpPr>
        <p:spPr>
          <a:xfrm>
            <a:off x="4241837" y="2191392"/>
            <a:ext cx="6957000" cy="84729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r>
              <a:rPr lang="en-US" sz="1600" dirty="0"/>
              <a:t>Sensor-Triggered IoT Accident Alert System that automatically detects crashes and sends real-time emergency contact notifications with GPS location.</a:t>
            </a:r>
            <a:endParaRPr sz="1600" dirty="0"/>
          </a:p>
        </p:txBody>
      </p:sp>
      <p:sp>
        <p:nvSpPr>
          <p:cNvPr id="52" name="Text 16"/>
          <p:cNvSpPr/>
          <p:nvPr/>
        </p:nvSpPr>
        <p:spPr>
          <a:xfrm>
            <a:off x="1036196" y="3328920"/>
            <a:ext cx="3071880" cy="566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r>
              <a:rPr dirty="0"/>
              <a:t>Why selected (Design Thinking lenses)</a:t>
            </a:r>
          </a:p>
        </p:txBody>
      </p:sp>
      <p:sp>
        <p:nvSpPr>
          <p:cNvPr id="53" name="Shape 17"/>
          <p:cNvSpPr/>
          <p:nvPr/>
        </p:nvSpPr>
        <p:spPr>
          <a:xfrm>
            <a:off x="4258238" y="3202325"/>
            <a:ext cx="7186363" cy="64017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dirty="0">
              <a:solidFill>
                <a:srgbClr val="000000"/>
              </a:solidFill>
              <a:effectLst/>
              <a:uFillTx/>
              <a:latin typeface="Arial"/>
            </a:endParaRPr>
          </a:p>
        </p:txBody>
      </p:sp>
      <p:sp>
        <p:nvSpPr>
          <p:cNvPr id="54" name="Text 18"/>
          <p:cNvSpPr/>
          <p:nvPr/>
        </p:nvSpPr>
        <p:spPr>
          <a:xfrm>
            <a:off x="4241837" y="3322007"/>
            <a:ext cx="694908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r>
              <a:rPr lang="en-US" sz="1600" dirty="0"/>
              <a:t>It is highly desirable for road safety, feasible with available IoT sensors, and viable as a low-cost, scalable solution for all vehicles</a:t>
            </a:r>
            <a:r>
              <a:rPr lang="en-US" b="1" dirty="0"/>
              <a:t>.</a:t>
            </a:r>
            <a:endParaRPr lang="en-US" dirty="0"/>
          </a:p>
        </p:txBody>
      </p:sp>
      <p:sp>
        <p:nvSpPr>
          <p:cNvPr id="55" name="Text 19"/>
          <p:cNvSpPr/>
          <p:nvPr/>
        </p:nvSpPr>
        <p:spPr>
          <a:xfrm>
            <a:off x="1070280" y="4365784"/>
            <a:ext cx="3071880" cy="566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r>
              <a:rPr dirty="0" err="1"/>
              <a:t>MoSCoW</a:t>
            </a:r>
            <a:r>
              <a:rPr dirty="0"/>
              <a:t>: Must-have features for PoC</a:t>
            </a:r>
          </a:p>
        </p:txBody>
      </p:sp>
      <p:sp>
        <p:nvSpPr>
          <p:cNvPr id="56" name="Shape 20"/>
          <p:cNvSpPr/>
          <p:nvPr/>
        </p:nvSpPr>
        <p:spPr>
          <a:xfrm>
            <a:off x="4209041" y="4050952"/>
            <a:ext cx="7168680" cy="1417088"/>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sz="1600" dirty="0"/>
              <a:t>Multi-Sensor Impact Detection: Simulate crash using on-board sensors (e.g., accelerometer for G-force).</a:t>
            </a:r>
          </a:p>
          <a:p>
            <a:r>
              <a:rPr lang="en-US" sz="1600" dirty="0"/>
              <a:t>Location Retrieval &amp; GSM Alert: Fetch simulated GPS coordinates </a:t>
            </a:r>
            <a:r>
              <a:rPr lang="en-IN" sz="1600" dirty="0"/>
              <a:t>and transmit basic alert.</a:t>
            </a:r>
          </a:p>
          <a:p>
            <a:r>
              <a:rPr lang="en-US" sz="1600" dirty="0"/>
              <a:t>Basic System Initialization: Start and run simulation loop for event monitoring.</a:t>
            </a:r>
          </a:p>
          <a:p>
            <a:pPr marL="342900" indent="-342900">
              <a:buFontTx/>
              <a:buAutoNum type="alphaLcPeriod"/>
            </a:pPr>
            <a:endParaRPr lang="en-US" sz="1600" dirty="0"/>
          </a:p>
          <a:p>
            <a:pPr marL="342900" indent="-342900">
              <a:buAutoNum type="alphaLcPeriod"/>
            </a:pPr>
            <a:endParaRPr lang="en-US" sz="1600" dirty="0"/>
          </a:p>
          <a:p>
            <a:endParaRPr lang="en-US" sz="1800" b="0" u="none" strike="noStrike" dirty="0">
              <a:solidFill>
                <a:srgbClr val="000000"/>
              </a:solidFill>
              <a:effectLst/>
              <a:uFillTx/>
              <a:latin typeface="Arial"/>
            </a:endParaRPr>
          </a:p>
        </p:txBody>
      </p:sp>
      <p:sp>
        <p:nvSpPr>
          <p:cNvPr id="57" name="Text 21"/>
          <p:cNvSpPr/>
          <p:nvPr/>
        </p:nvSpPr>
        <p:spPr>
          <a:xfrm>
            <a:off x="4376880" y="5468400"/>
            <a:ext cx="694908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dirty="0"/>
          </a:p>
        </p:txBody>
      </p:sp>
      <p:sp>
        <p:nvSpPr>
          <p:cNvPr id="5" name="Rectangle 4">
            <a:extLst>
              <a:ext uri="{FF2B5EF4-FFF2-40B4-BE49-F238E27FC236}">
                <a16:creationId xmlns:a16="http://schemas.microsoft.com/office/drawing/2014/main" id="{8D710D72-CD07-C8CE-2C45-93105C63AC84}"/>
              </a:ext>
            </a:extLst>
          </p:cNvPr>
          <p:cNvSpPr>
            <a:spLocks noChangeArrowheads="1"/>
          </p:cNvSpPr>
          <p:nvPr/>
        </p:nvSpPr>
        <p:spPr bwMode="auto">
          <a:xfrm>
            <a:off x="152400" y="-170765"/>
            <a:ext cx="39305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5">
            <a:extLst>
              <a:ext uri="{FF2B5EF4-FFF2-40B4-BE49-F238E27FC236}">
                <a16:creationId xmlns:a16="http://schemas.microsoft.com/office/drawing/2014/main" id="{1EDE30A3-83D9-57CF-406D-9E4B71473838}"/>
              </a:ext>
            </a:extLst>
          </p:cNvPr>
          <p:cNvSpPr>
            <a:spLocks noChangeArrowheads="1"/>
          </p:cNvSpPr>
          <p:nvPr/>
        </p:nvSpPr>
        <p:spPr bwMode="auto">
          <a:xfrm>
            <a:off x="304800" y="-18366"/>
            <a:ext cx="39305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Shape 0"/>
          <p:cNvSpPr/>
          <p:nvPr/>
        </p:nvSpPr>
        <p:spPr>
          <a:xfrm>
            <a:off x="0" y="0"/>
            <a:ext cx="12191400" cy="566640"/>
          </a:xfrm>
          <a:prstGeom prst="rect">
            <a:avLst/>
          </a:prstGeom>
          <a:solidFill>
            <a:srgbClr val="0B2E4A"/>
          </a:solidFill>
          <a:ln w="12700">
            <a:solidFill>
              <a:srgbClr val="0B2E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2" name="Shape 1"/>
          <p:cNvSpPr/>
          <p:nvPr/>
        </p:nvSpPr>
        <p:spPr>
          <a:xfrm>
            <a:off x="0" y="0"/>
            <a:ext cx="145800" cy="566640"/>
          </a:xfrm>
          <a:prstGeom prst="rect">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3" name="Text 2"/>
          <p:cNvSpPr/>
          <p:nvPr/>
        </p:nvSpPr>
        <p:spPr>
          <a:xfrm>
            <a:off x="594360" y="109800"/>
            <a:ext cx="1100268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400" b="1" u="none" strike="noStrike">
                <a:solidFill>
                  <a:srgbClr val="FFFFFF"/>
                </a:solidFill>
                <a:effectLst/>
                <a:uFillTx/>
                <a:latin typeface="Calibri"/>
                <a:ea typeface="Calibri"/>
              </a:rPr>
              <a:t>SoI Innovation Pipeline</a:t>
            </a:r>
            <a:endParaRPr lang="en-US" sz="1400" b="0" u="none" strike="noStrike">
              <a:solidFill>
                <a:srgbClr val="000000"/>
              </a:solidFill>
              <a:effectLst/>
              <a:uFillTx/>
              <a:latin typeface="Arial"/>
            </a:endParaRPr>
          </a:p>
        </p:txBody>
      </p:sp>
      <p:sp>
        <p:nvSpPr>
          <p:cNvPr id="64" name="Shape 3"/>
          <p:cNvSpPr/>
          <p:nvPr/>
        </p:nvSpPr>
        <p:spPr>
          <a:xfrm>
            <a:off x="594360" y="658440"/>
            <a:ext cx="1919880" cy="292320"/>
          </a:xfrm>
          <a:prstGeom prst="roundRect">
            <a:avLst>
              <a:gd name="adj" fmla="val 16667"/>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5" name="Text 4"/>
          <p:cNvSpPr/>
          <p:nvPr/>
        </p:nvSpPr>
        <p:spPr>
          <a:xfrm>
            <a:off x="594360" y="704160"/>
            <a:ext cx="19198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POC</a:t>
            </a:r>
            <a:endParaRPr lang="en-US" sz="1200" b="0" u="none" strike="noStrike">
              <a:solidFill>
                <a:srgbClr val="000000"/>
              </a:solidFill>
              <a:effectLst/>
              <a:uFillTx/>
              <a:latin typeface="Arial"/>
            </a:endParaRPr>
          </a:p>
        </p:txBody>
      </p:sp>
      <p:sp>
        <p:nvSpPr>
          <p:cNvPr id="66" name="Text 5"/>
          <p:cNvSpPr/>
          <p:nvPr/>
        </p:nvSpPr>
        <p:spPr>
          <a:xfrm>
            <a:off x="594360" y="822960"/>
            <a:ext cx="11002680" cy="54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3200" b="1" u="none" strike="noStrike">
                <a:solidFill>
                  <a:srgbClr val="111827"/>
                </a:solidFill>
                <a:effectLst/>
                <a:uFillTx/>
                <a:latin typeface="Calibri"/>
                <a:ea typeface="Calibri"/>
              </a:rPr>
              <a:t>PoC Recap — What We Built &amp; Learned</a:t>
            </a:r>
            <a:endParaRPr lang="en-US" sz="3200" b="0" u="none" strike="noStrike">
              <a:solidFill>
                <a:srgbClr val="000000"/>
              </a:solidFill>
              <a:effectLst/>
              <a:uFillTx/>
              <a:latin typeface="Arial"/>
            </a:endParaRPr>
          </a:p>
        </p:txBody>
      </p:sp>
      <p:sp>
        <p:nvSpPr>
          <p:cNvPr id="68" name="Shape 7"/>
          <p:cNvSpPr/>
          <p:nvPr/>
        </p:nvSpPr>
        <p:spPr>
          <a:xfrm>
            <a:off x="635110" y="1821310"/>
            <a:ext cx="10972440" cy="4754520"/>
          </a:xfrm>
          <a:prstGeom prst="roundRect">
            <a:avLst>
              <a:gd name="adj" fmla="val 16667"/>
            </a:avLst>
          </a:prstGeom>
          <a:solidFill>
            <a:srgbClr val="FFFFFF"/>
          </a:solidFill>
          <a:ln w="12700">
            <a:solidFill>
              <a:srgbClr val="E5E7EB"/>
            </a:solidFill>
            <a:round/>
          </a:ln>
          <a:effectLst>
            <a:outerShdw blurRad="28080" dist="19855" dir="2700000" algn="bl" rotWithShape="0">
              <a:srgbClr val="000000">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9" name="Text 8"/>
          <p:cNvSpPr/>
          <p:nvPr/>
        </p:nvSpPr>
        <p:spPr>
          <a:xfrm>
            <a:off x="850320" y="1993320"/>
            <a:ext cx="1046052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600" b="1" u="none" strike="noStrike" dirty="0">
                <a:solidFill>
                  <a:srgbClr val="111827"/>
                </a:solidFill>
                <a:effectLst/>
                <a:uFillTx/>
                <a:latin typeface="Calibri"/>
                <a:ea typeface="Calibri"/>
              </a:rPr>
              <a:t>PoC summary (fill)</a:t>
            </a:r>
            <a:endParaRPr lang="en-US" sz="1600" b="0" u="none" strike="noStrike" dirty="0">
              <a:solidFill>
                <a:srgbClr val="000000"/>
              </a:solidFill>
              <a:effectLst/>
              <a:uFillTx/>
              <a:latin typeface="Arial"/>
            </a:endParaRPr>
          </a:p>
        </p:txBody>
      </p:sp>
      <p:sp>
        <p:nvSpPr>
          <p:cNvPr id="70" name="Text 9"/>
          <p:cNvSpPr/>
          <p:nvPr/>
        </p:nvSpPr>
        <p:spPr>
          <a:xfrm>
            <a:off x="850320" y="2331720"/>
            <a:ext cx="10460520" cy="4077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10000"/>
              </a:lnSpc>
              <a:tabLst>
                <a:tab pos="0" algn="l"/>
              </a:tabLst>
            </a:pPr>
            <a:endParaRPr lang="en-US" sz="1300" b="0" u="none" strike="noStrike">
              <a:solidFill>
                <a:schemeClr val="dk1"/>
              </a:solidFill>
              <a:effectLst/>
              <a:uFillTx/>
              <a:latin typeface="Calibri"/>
            </a:endParaRPr>
          </a:p>
        </p:txBody>
      </p:sp>
      <p:sp>
        <p:nvSpPr>
          <p:cNvPr id="71" name="Text 10"/>
          <p:cNvSpPr/>
          <p:nvPr/>
        </p:nvSpPr>
        <p:spPr>
          <a:xfrm>
            <a:off x="1353659" y="2331180"/>
            <a:ext cx="3071880" cy="566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00" b="1" u="none" strike="noStrike" dirty="0">
                <a:solidFill>
                  <a:srgbClr val="4B5563"/>
                </a:solidFill>
                <a:effectLst/>
                <a:uFillTx/>
                <a:latin typeface="Calibri"/>
                <a:ea typeface="Calibri"/>
              </a:rPr>
              <a:t>PoC built</a:t>
            </a:r>
            <a:endParaRPr lang="en-US" sz="1300" b="0" u="none" strike="noStrike" dirty="0">
              <a:solidFill>
                <a:srgbClr val="000000"/>
              </a:solidFill>
              <a:effectLst/>
              <a:uFillTx/>
              <a:latin typeface="Arial"/>
            </a:endParaRPr>
          </a:p>
        </p:txBody>
      </p:sp>
      <p:sp>
        <p:nvSpPr>
          <p:cNvPr id="72" name="Shape 11"/>
          <p:cNvSpPr/>
          <p:nvPr/>
        </p:nvSpPr>
        <p:spPr>
          <a:xfrm>
            <a:off x="4078170" y="2178405"/>
            <a:ext cx="7168680" cy="848115"/>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3" name="Text 12"/>
          <p:cNvSpPr/>
          <p:nvPr/>
        </p:nvSpPr>
        <p:spPr>
          <a:xfrm>
            <a:off x="4141800" y="2324204"/>
            <a:ext cx="6949080" cy="63373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tabLst>
                <a:tab pos="0" algn="l"/>
              </a:tabLst>
            </a:pPr>
            <a:r>
              <a:rPr lang="en-IN" sz="1600" dirty="0"/>
              <a:t>Assembled hardware with MPU6050 accelerometer, NEO-6M GPS, SIM800L GSM on ESP32; Coded detection logic and alert transmission; Simulated crashes.</a:t>
            </a:r>
          </a:p>
          <a:p>
            <a:pPr defTabSz="914400">
              <a:lnSpc>
                <a:spcPct val="100000"/>
              </a:lnSpc>
              <a:tabLst>
                <a:tab pos="0" algn="l"/>
              </a:tabLst>
            </a:pPr>
            <a:endParaRPr lang="en-US" sz="1300" b="0" u="none" strike="noStrike" dirty="0">
              <a:solidFill>
                <a:srgbClr val="000000"/>
              </a:solidFill>
              <a:effectLst/>
              <a:uFillTx/>
              <a:latin typeface="Arial"/>
            </a:endParaRPr>
          </a:p>
        </p:txBody>
      </p:sp>
      <p:sp>
        <p:nvSpPr>
          <p:cNvPr id="74" name="Text 13"/>
          <p:cNvSpPr/>
          <p:nvPr/>
        </p:nvSpPr>
        <p:spPr>
          <a:xfrm>
            <a:off x="1353659" y="3145680"/>
            <a:ext cx="3071880" cy="566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00" b="1" u="none" strike="noStrike" dirty="0">
                <a:solidFill>
                  <a:srgbClr val="4B5563"/>
                </a:solidFill>
                <a:effectLst/>
                <a:uFillTx/>
                <a:latin typeface="Calibri"/>
                <a:ea typeface="Calibri"/>
              </a:rPr>
              <a:t>PoC focus</a:t>
            </a:r>
            <a:endParaRPr lang="en-US" sz="1300" b="0" u="none" strike="noStrike" dirty="0">
              <a:solidFill>
                <a:srgbClr val="000000"/>
              </a:solidFill>
              <a:effectLst/>
              <a:uFillTx/>
              <a:latin typeface="Arial"/>
            </a:endParaRPr>
          </a:p>
        </p:txBody>
      </p:sp>
      <p:sp>
        <p:nvSpPr>
          <p:cNvPr id="77" name="Text 16"/>
          <p:cNvSpPr/>
          <p:nvPr/>
        </p:nvSpPr>
        <p:spPr>
          <a:xfrm>
            <a:off x="1353659" y="4245965"/>
            <a:ext cx="3178115" cy="566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00" b="1" u="none" strike="noStrike" dirty="0">
                <a:solidFill>
                  <a:srgbClr val="4B5563"/>
                </a:solidFill>
                <a:effectLst/>
                <a:uFillTx/>
                <a:latin typeface="Calibri"/>
                <a:ea typeface="Calibri"/>
              </a:rPr>
              <a:t>PoC evidence</a:t>
            </a:r>
            <a:endParaRPr lang="en-US" sz="1300" b="0" u="none" strike="noStrike" dirty="0">
              <a:solidFill>
                <a:srgbClr val="000000"/>
              </a:solidFill>
              <a:effectLst/>
              <a:uFillTx/>
              <a:latin typeface="Arial"/>
            </a:endParaRPr>
          </a:p>
        </p:txBody>
      </p:sp>
      <p:sp>
        <p:nvSpPr>
          <p:cNvPr id="78" name="Shape 17"/>
          <p:cNvSpPr/>
          <p:nvPr/>
        </p:nvSpPr>
        <p:spPr>
          <a:xfrm>
            <a:off x="4078170" y="4027851"/>
            <a:ext cx="7168680" cy="79047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9" name="Text 18"/>
          <p:cNvSpPr/>
          <p:nvPr/>
        </p:nvSpPr>
        <p:spPr>
          <a:xfrm>
            <a:off x="4111949" y="4086851"/>
            <a:ext cx="6860851" cy="919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tabLst>
                <a:tab pos="0" algn="l"/>
              </a:tabLst>
            </a:pPr>
            <a:r>
              <a:rPr lang="en-US" sz="1600" dirty="0">
                <a:solidFill>
                  <a:srgbClr val="111827"/>
                </a:solidFill>
                <a:latin typeface="Calibri"/>
                <a:ea typeface="Calibri"/>
              </a:rPr>
              <a:t>1.</a:t>
            </a:r>
            <a:r>
              <a:rPr lang="en-US" sz="1600" dirty="0"/>
              <a:t> Detected 18/20 simulated impacts (90% accuracy).</a:t>
            </a:r>
          </a:p>
          <a:p>
            <a:pPr>
              <a:tabLst>
                <a:tab pos="0" algn="l"/>
              </a:tabLst>
            </a:pPr>
            <a:r>
              <a:rPr lang="en-US" sz="1600" b="0" u="none" strike="noStrike" dirty="0">
                <a:solidFill>
                  <a:srgbClr val="000000"/>
                </a:solidFill>
                <a:effectLst/>
                <a:uFillTx/>
                <a:latin typeface="Arial"/>
              </a:rPr>
              <a:t>2.</a:t>
            </a:r>
            <a:r>
              <a:rPr lang="en-US" sz="1600" dirty="0"/>
              <a:t> Alerts sent with location in avg. 8 seconds.</a:t>
            </a:r>
          </a:p>
          <a:p>
            <a:pPr>
              <a:tabLst>
                <a:tab pos="0" algn="l"/>
              </a:tabLst>
            </a:pPr>
            <a:r>
              <a:rPr lang="en-US" sz="1600" b="0" u="none" strike="noStrike" dirty="0">
                <a:solidFill>
                  <a:srgbClr val="000000"/>
                </a:solidFill>
                <a:effectLst/>
                <a:uFillTx/>
                <a:latin typeface="Arial"/>
              </a:rPr>
              <a:t>3.</a:t>
            </a:r>
            <a:r>
              <a:rPr lang="en-US" sz="1600" dirty="0"/>
              <a:t> Low false positives (3% in normal vibration tests).</a:t>
            </a:r>
          </a:p>
          <a:p>
            <a:pPr defTabSz="914400">
              <a:lnSpc>
                <a:spcPct val="100000"/>
              </a:lnSpc>
              <a:tabLst>
                <a:tab pos="0" algn="l"/>
              </a:tabLst>
            </a:pPr>
            <a:endParaRPr lang="en-US" sz="1300" b="0" u="none" strike="noStrike" dirty="0">
              <a:solidFill>
                <a:srgbClr val="000000"/>
              </a:solidFill>
              <a:effectLst/>
              <a:uFillTx/>
              <a:latin typeface="Arial"/>
            </a:endParaRPr>
          </a:p>
        </p:txBody>
      </p:sp>
      <p:sp>
        <p:nvSpPr>
          <p:cNvPr id="80" name="Text 19"/>
          <p:cNvSpPr/>
          <p:nvPr/>
        </p:nvSpPr>
        <p:spPr>
          <a:xfrm>
            <a:off x="1406776" y="5243932"/>
            <a:ext cx="3071880" cy="566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00" b="1" u="none" strike="noStrike" dirty="0">
                <a:solidFill>
                  <a:srgbClr val="4B5563"/>
                </a:solidFill>
                <a:effectLst/>
                <a:uFillTx/>
                <a:latin typeface="Calibri"/>
                <a:ea typeface="Calibri"/>
              </a:rPr>
              <a:t>Key gaps</a:t>
            </a:r>
            <a:endParaRPr lang="en-US" sz="1300" b="0" u="none" strike="noStrike" dirty="0">
              <a:solidFill>
                <a:srgbClr val="000000"/>
              </a:solidFill>
              <a:effectLst/>
              <a:uFillTx/>
              <a:latin typeface="Arial"/>
            </a:endParaRPr>
          </a:p>
        </p:txBody>
      </p:sp>
      <p:sp>
        <p:nvSpPr>
          <p:cNvPr id="81" name="Shape 20"/>
          <p:cNvSpPr/>
          <p:nvPr/>
        </p:nvSpPr>
        <p:spPr>
          <a:xfrm>
            <a:off x="4093080" y="5243932"/>
            <a:ext cx="7107960" cy="91944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2" name="Text 21"/>
          <p:cNvSpPr/>
          <p:nvPr/>
        </p:nvSpPr>
        <p:spPr>
          <a:xfrm>
            <a:off x="4111948" y="5084231"/>
            <a:ext cx="6481579" cy="1069609"/>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tabLst>
                <a:tab pos="0" algn="l"/>
              </a:tabLst>
            </a:pPr>
            <a:r>
              <a:rPr lang="en-US" sz="1600" dirty="0"/>
              <a:t>Real-world vibration handling; Enclosure for durability; Power backup;   Integration testing in vehicle-like setup.</a:t>
            </a:r>
          </a:p>
          <a:p>
            <a:pPr defTabSz="914400">
              <a:lnSpc>
                <a:spcPct val="100000"/>
              </a:lnSpc>
              <a:tabLst>
                <a:tab pos="0" algn="l"/>
              </a:tabLst>
            </a:pPr>
            <a:endParaRPr lang="en-US" sz="1300" b="0" u="none" strike="noStrike" dirty="0">
              <a:solidFill>
                <a:srgbClr val="000000"/>
              </a:solidFill>
              <a:effectLst/>
              <a:uFillTx/>
              <a:latin typeface="Arial"/>
            </a:endParaRPr>
          </a:p>
        </p:txBody>
      </p:sp>
      <p:sp>
        <p:nvSpPr>
          <p:cNvPr id="2" name="Shape 20">
            <a:extLst>
              <a:ext uri="{FF2B5EF4-FFF2-40B4-BE49-F238E27FC236}">
                <a16:creationId xmlns:a16="http://schemas.microsoft.com/office/drawing/2014/main" id="{4B03D756-2528-54E6-C704-C7E415E44F67}"/>
              </a:ext>
            </a:extLst>
          </p:cNvPr>
          <p:cNvSpPr/>
          <p:nvPr/>
        </p:nvSpPr>
        <p:spPr>
          <a:xfrm>
            <a:off x="4078170" y="3104460"/>
            <a:ext cx="7168680" cy="81378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tabLst>
                <a:tab pos="0" algn="l"/>
              </a:tabLst>
            </a:pPr>
            <a:r>
              <a:rPr lang="en-US" sz="1600" dirty="0"/>
              <a:t>Proved sensor-based detection feasibility, GPS accuracy, and GSM alerting without vehicle integration.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Shape 0"/>
          <p:cNvSpPr/>
          <p:nvPr/>
        </p:nvSpPr>
        <p:spPr>
          <a:xfrm>
            <a:off x="0" y="0"/>
            <a:ext cx="12191400" cy="566640"/>
          </a:xfrm>
          <a:prstGeom prst="rect">
            <a:avLst/>
          </a:prstGeom>
          <a:solidFill>
            <a:srgbClr val="0B2E4A"/>
          </a:solidFill>
          <a:ln w="12700">
            <a:solidFill>
              <a:srgbClr val="0B2E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7" name="Shape 1"/>
          <p:cNvSpPr/>
          <p:nvPr/>
        </p:nvSpPr>
        <p:spPr>
          <a:xfrm>
            <a:off x="0" y="0"/>
            <a:ext cx="145800" cy="566640"/>
          </a:xfrm>
          <a:prstGeom prst="rect">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8" name="Text 2"/>
          <p:cNvSpPr/>
          <p:nvPr/>
        </p:nvSpPr>
        <p:spPr>
          <a:xfrm>
            <a:off x="594360" y="109800"/>
            <a:ext cx="1100268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400" b="1" u="none" strike="noStrike">
                <a:solidFill>
                  <a:srgbClr val="FFFFFF"/>
                </a:solidFill>
                <a:effectLst/>
                <a:uFillTx/>
                <a:latin typeface="Calibri"/>
                <a:ea typeface="Calibri"/>
              </a:rPr>
              <a:t>SoI Innovation Pipeline</a:t>
            </a:r>
            <a:endParaRPr lang="en-US" sz="1400" b="0" u="none" strike="noStrike">
              <a:solidFill>
                <a:srgbClr val="000000"/>
              </a:solidFill>
              <a:effectLst/>
              <a:uFillTx/>
              <a:latin typeface="Arial"/>
            </a:endParaRPr>
          </a:p>
        </p:txBody>
      </p:sp>
      <p:sp>
        <p:nvSpPr>
          <p:cNvPr id="89" name="Shape 3"/>
          <p:cNvSpPr/>
          <p:nvPr/>
        </p:nvSpPr>
        <p:spPr>
          <a:xfrm>
            <a:off x="594360" y="658440"/>
            <a:ext cx="1919880" cy="292320"/>
          </a:xfrm>
          <a:prstGeom prst="roundRect">
            <a:avLst>
              <a:gd name="adj" fmla="val 16667"/>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0" name="Text 4"/>
          <p:cNvSpPr/>
          <p:nvPr/>
        </p:nvSpPr>
        <p:spPr>
          <a:xfrm>
            <a:off x="594360" y="704160"/>
            <a:ext cx="19198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PLAN</a:t>
            </a:r>
            <a:endParaRPr lang="en-US" sz="1200" b="0" u="none" strike="noStrike">
              <a:solidFill>
                <a:srgbClr val="000000"/>
              </a:solidFill>
              <a:effectLst/>
              <a:uFillTx/>
              <a:latin typeface="Arial"/>
            </a:endParaRPr>
          </a:p>
        </p:txBody>
      </p:sp>
      <p:sp>
        <p:nvSpPr>
          <p:cNvPr id="91" name="Text 5"/>
          <p:cNvSpPr/>
          <p:nvPr/>
        </p:nvSpPr>
        <p:spPr>
          <a:xfrm>
            <a:off x="594360" y="822960"/>
            <a:ext cx="11002680" cy="54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3200" b="1" u="none" strike="noStrike">
                <a:solidFill>
                  <a:srgbClr val="111827"/>
                </a:solidFill>
                <a:effectLst/>
                <a:uFillTx/>
                <a:latin typeface="Calibri"/>
                <a:ea typeface="Calibri"/>
              </a:rPr>
              <a:t>Prototype Objectives &amp; Success Criteria</a:t>
            </a:r>
            <a:endParaRPr lang="en-US" sz="3200" b="0" u="none" strike="noStrike">
              <a:solidFill>
                <a:srgbClr val="000000"/>
              </a:solidFill>
              <a:effectLst/>
              <a:uFillTx/>
              <a:latin typeface="Arial"/>
            </a:endParaRPr>
          </a:p>
        </p:txBody>
      </p:sp>
      <p:sp>
        <p:nvSpPr>
          <p:cNvPr id="93" name="Shape 7"/>
          <p:cNvSpPr/>
          <p:nvPr/>
        </p:nvSpPr>
        <p:spPr>
          <a:xfrm>
            <a:off x="594360" y="1920240"/>
            <a:ext cx="3620520" cy="456840"/>
          </a:xfrm>
          <a:prstGeom prst="rect">
            <a:avLst/>
          </a:prstGeom>
          <a:solidFill>
            <a:srgbClr val="0B2E4A"/>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4" name="Text 8"/>
          <p:cNvSpPr/>
          <p:nvPr/>
        </p:nvSpPr>
        <p:spPr>
          <a:xfrm>
            <a:off x="704160" y="2011680"/>
            <a:ext cx="340128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200" b="1" u="none" strike="noStrike">
                <a:solidFill>
                  <a:srgbClr val="FFFFFF"/>
                </a:solidFill>
                <a:effectLst/>
                <a:uFillTx/>
                <a:latin typeface="Calibri"/>
                <a:ea typeface="Calibri"/>
              </a:rPr>
              <a:t>Prototype objective / risk to reduce</a:t>
            </a:r>
            <a:endParaRPr lang="en-US" sz="1200" b="0" u="none" strike="noStrike">
              <a:solidFill>
                <a:srgbClr val="000000"/>
              </a:solidFill>
              <a:effectLst/>
              <a:uFillTx/>
              <a:latin typeface="Arial"/>
            </a:endParaRPr>
          </a:p>
        </p:txBody>
      </p:sp>
      <p:sp>
        <p:nvSpPr>
          <p:cNvPr id="95" name="Shape 9"/>
          <p:cNvSpPr/>
          <p:nvPr/>
        </p:nvSpPr>
        <p:spPr>
          <a:xfrm>
            <a:off x="4215240" y="1920240"/>
            <a:ext cx="1755360" cy="456840"/>
          </a:xfrm>
          <a:prstGeom prst="rect">
            <a:avLst/>
          </a:prstGeom>
          <a:solidFill>
            <a:srgbClr val="0B2E4A"/>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6" name="Text 10"/>
          <p:cNvSpPr/>
          <p:nvPr/>
        </p:nvSpPr>
        <p:spPr>
          <a:xfrm>
            <a:off x="4325040" y="2011680"/>
            <a:ext cx="153576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200" b="1" u="none" strike="noStrike">
                <a:solidFill>
                  <a:srgbClr val="FFFFFF"/>
                </a:solidFill>
                <a:effectLst/>
                <a:uFillTx/>
                <a:latin typeface="Calibri"/>
                <a:ea typeface="Calibri"/>
              </a:rPr>
              <a:t>Metric</a:t>
            </a:r>
            <a:endParaRPr lang="en-US" sz="1200" b="0" u="none" strike="noStrike">
              <a:solidFill>
                <a:srgbClr val="000000"/>
              </a:solidFill>
              <a:effectLst/>
              <a:uFillTx/>
              <a:latin typeface="Arial"/>
            </a:endParaRPr>
          </a:p>
        </p:txBody>
      </p:sp>
      <p:sp>
        <p:nvSpPr>
          <p:cNvPr id="97" name="Shape 11"/>
          <p:cNvSpPr/>
          <p:nvPr/>
        </p:nvSpPr>
        <p:spPr>
          <a:xfrm>
            <a:off x="5970960" y="1920240"/>
            <a:ext cx="1974600" cy="456840"/>
          </a:xfrm>
          <a:prstGeom prst="rect">
            <a:avLst/>
          </a:prstGeom>
          <a:solidFill>
            <a:srgbClr val="0B2E4A"/>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8" name="Text 12"/>
          <p:cNvSpPr/>
          <p:nvPr/>
        </p:nvSpPr>
        <p:spPr>
          <a:xfrm>
            <a:off x="6080760" y="2011680"/>
            <a:ext cx="175536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200" b="1" u="none" strike="noStrike">
                <a:solidFill>
                  <a:srgbClr val="FFFFFF"/>
                </a:solidFill>
                <a:effectLst/>
                <a:uFillTx/>
                <a:latin typeface="Calibri"/>
                <a:ea typeface="Calibri"/>
              </a:rPr>
              <a:t>Target</a:t>
            </a:r>
            <a:endParaRPr lang="en-US" sz="1200" b="0" u="none" strike="noStrike">
              <a:solidFill>
                <a:srgbClr val="000000"/>
              </a:solidFill>
              <a:effectLst/>
              <a:uFillTx/>
              <a:latin typeface="Arial"/>
            </a:endParaRPr>
          </a:p>
        </p:txBody>
      </p:sp>
      <p:sp>
        <p:nvSpPr>
          <p:cNvPr id="99" name="Shape 13"/>
          <p:cNvSpPr/>
          <p:nvPr/>
        </p:nvSpPr>
        <p:spPr>
          <a:xfrm>
            <a:off x="7946280" y="1920240"/>
            <a:ext cx="3620520" cy="456840"/>
          </a:xfrm>
          <a:prstGeom prst="rect">
            <a:avLst/>
          </a:prstGeom>
          <a:solidFill>
            <a:srgbClr val="0B2E4A"/>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0" name="Text 14"/>
          <p:cNvSpPr/>
          <p:nvPr/>
        </p:nvSpPr>
        <p:spPr>
          <a:xfrm>
            <a:off x="8055720" y="2011680"/>
            <a:ext cx="340128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200" b="1" u="none" strike="noStrike">
                <a:solidFill>
                  <a:srgbClr val="FFFFFF"/>
                </a:solidFill>
                <a:effectLst/>
                <a:uFillTx/>
                <a:latin typeface="Calibri"/>
                <a:ea typeface="Calibri"/>
              </a:rPr>
              <a:t>How we will test (prototype)</a:t>
            </a:r>
            <a:endParaRPr lang="en-US" sz="1200" b="0" u="none" strike="noStrike">
              <a:solidFill>
                <a:srgbClr val="000000"/>
              </a:solidFill>
              <a:effectLst/>
              <a:uFillTx/>
              <a:latin typeface="Arial"/>
            </a:endParaRPr>
          </a:p>
        </p:txBody>
      </p:sp>
      <p:sp>
        <p:nvSpPr>
          <p:cNvPr id="101" name="Shape 15"/>
          <p:cNvSpPr/>
          <p:nvPr/>
        </p:nvSpPr>
        <p:spPr>
          <a:xfrm>
            <a:off x="594360" y="2377440"/>
            <a:ext cx="3620520" cy="78588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2" name="Shape 16"/>
          <p:cNvSpPr/>
          <p:nvPr/>
        </p:nvSpPr>
        <p:spPr>
          <a:xfrm>
            <a:off x="4215240" y="2377440"/>
            <a:ext cx="1755360" cy="78588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3" name="Shape 17"/>
          <p:cNvSpPr/>
          <p:nvPr/>
        </p:nvSpPr>
        <p:spPr>
          <a:xfrm>
            <a:off x="5970960" y="2377440"/>
            <a:ext cx="1974600" cy="78588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4" name="Shape 18"/>
          <p:cNvSpPr/>
          <p:nvPr/>
        </p:nvSpPr>
        <p:spPr>
          <a:xfrm>
            <a:off x="7946280" y="2377440"/>
            <a:ext cx="3620520" cy="78588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5" name="Shape 19"/>
          <p:cNvSpPr/>
          <p:nvPr/>
        </p:nvSpPr>
        <p:spPr>
          <a:xfrm>
            <a:off x="594360" y="3163680"/>
            <a:ext cx="3620520" cy="78588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6" name="Shape 20"/>
          <p:cNvSpPr/>
          <p:nvPr/>
        </p:nvSpPr>
        <p:spPr>
          <a:xfrm>
            <a:off x="4291220" y="2467445"/>
            <a:ext cx="1679020" cy="640202"/>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dirty="0"/>
              <a:t>Detection accuracy</a:t>
            </a:r>
            <a:endParaRPr lang="en-IN" dirty="0">
              <a:effectLst/>
            </a:endParaRPr>
          </a:p>
        </p:txBody>
      </p:sp>
      <p:sp>
        <p:nvSpPr>
          <p:cNvPr id="107" name="Shape 21"/>
          <p:cNvSpPr/>
          <p:nvPr/>
        </p:nvSpPr>
        <p:spPr>
          <a:xfrm>
            <a:off x="5970960" y="3163680"/>
            <a:ext cx="1974600" cy="78588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8" name="Shape 22"/>
          <p:cNvSpPr/>
          <p:nvPr/>
        </p:nvSpPr>
        <p:spPr>
          <a:xfrm>
            <a:off x="7946280" y="3163680"/>
            <a:ext cx="3620520" cy="78588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9" name="Shape 23"/>
          <p:cNvSpPr/>
          <p:nvPr/>
        </p:nvSpPr>
        <p:spPr>
          <a:xfrm>
            <a:off x="594360" y="3950280"/>
            <a:ext cx="3620520" cy="78588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0" name="Shape 24"/>
          <p:cNvSpPr/>
          <p:nvPr/>
        </p:nvSpPr>
        <p:spPr>
          <a:xfrm>
            <a:off x="4215240" y="3950280"/>
            <a:ext cx="1755360" cy="78588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1" name="Shape 25"/>
          <p:cNvSpPr/>
          <p:nvPr/>
        </p:nvSpPr>
        <p:spPr>
          <a:xfrm>
            <a:off x="6080760" y="4151520"/>
            <a:ext cx="1864799" cy="584639"/>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dirty="0"/>
              <a:t>≥95% functional</a:t>
            </a:r>
          </a:p>
          <a:p>
            <a:endParaRPr lang="en-US" sz="1800" b="1" u="none" strike="noStrike" dirty="0">
              <a:solidFill>
                <a:srgbClr val="000000"/>
              </a:solidFill>
              <a:effectLst/>
              <a:uFillTx/>
              <a:latin typeface="Arial"/>
            </a:endParaRPr>
          </a:p>
        </p:txBody>
      </p:sp>
      <p:sp>
        <p:nvSpPr>
          <p:cNvPr id="112" name="Shape 26"/>
          <p:cNvSpPr/>
          <p:nvPr/>
        </p:nvSpPr>
        <p:spPr>
          <a:xfrm>
            <a:off x="7946280" y="3950280"/>
            <a:ext cx="3620520" cy="78588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4" name="Shape 28"/>
          <p:cNvSpPr/>
          <p:nvPr/>
        </p:nvSpPr>
        <p:spPr>
          <a:xfrm>
            <a:off x="5970240" y="3160736"/>
            <a:ext cx="1899700" cy="750076"/>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IN" dirty="0"/>
          </a:p>
          <a:p>
            <a:r>
              <a:rPr lang="en-IN" dirty="0"/>
              <a:t>    ≤15 seconds</a:t>
            </a:r>
            <a:endParaRPr lang="en-IN" dirty="0">
              <a:effectLst/>
            </a:endParaRPr>
          </a:p>
        </p:txBody>
      </p:sp>
      <p:sp>
        <p:nvSpPr>
          <p:cNvPr id="115" name="Shape 29"/>
          <p:cNvSpPr/>
          <p:nvPr/>
        </p:nvSpPr>
        <p:spPr>
          <a:xfrm>
            <a:off x="4298621" y="4800897"/>
            <a:ext cx="1671619" cy="78588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dirty="0"/>
              <a:t>False alert rate</a:t>
            </a:r>
            <a:endParaRPr lang="en-IN" dirty="0">
              <a:effectLst/>
            </a:endParaRPr>
          </a:p>
        </p:txBody>
      </p:sp>
      <p:sp>
        <p:nvSpPr>
          <p:cNvPr id="116" name="Shape 30"/>
          <p:cNvSpPr/>
          <p:nvPr/>
        </p:nvSpPr>
        <p:spPr>
          <a:xfrm>
            <a:off x="7946280" y="4736520"/>
            <a:ext cx="3620520" cy="78588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a:t>Normal driving simulations (bumps, turns); Count unintended triggers.</a:t>
            </a:r>
            <a:endParaRPr lang="en-US">
              <a:effectLst/>
            </a:endParaRPr>
          </a:p>
        </p:txBody>
      </p:sp>
      <p:sp>
        <p:nvSpPr>
          <p:cNvPr id="117" name="Shape 31"/>
          <p:cNvSpPr/>
          <p:nvPr/>
        </p:nvSpPr>
        <p:spPr>
          <a:xfrm>
            <a:off x="594360" y="5523120"/>
            <a:ext cx="3620520" cy="78588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8" name="Shape 32"/>
          <p:cNvSpPr/>
          <p:nvPr/>
        </p:nvSpPr>
        <p:spPr>
          <a:xfrm>
            <a:off x="4298621" y="5627970"/>
            <a:ext cx="1671619" cy="78588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dirty="0"/>
              <a:t>Installation</a:t>
            </a:r>
          </a:p>
          <a:p>
            <a:r>
              <a:rPr lang="en-IN" dirty="0"/>
              <a:t> time</a:t>
            </a:r>
            <a:endParaRPr lang="en-IN" dirty="0">
              <a:effectLst/>
            </a:endParaRPr>
          </a:p>
        </p:txBody>
      </p:sp>
      <p:sp>
        <p:nvSpPr>
          <p:cNvPr id="119" name="Shape 33"/>
          <p:cNvSpPr/>
          <p:nvPr/>
        </p:nvSpPr>
        <p:spPr>
          <a:xfrm>
            <a:off x="6190200" y="5671222"/>
            <a:ext cx="1755360" cy="637778"/>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dirty="0"/>
              <a:t>≤5 minutes</a:t>
            </a:r>
            <a:endParaRPr lang="en-IN" dirty="0">
              <a:effectLst/>
            </a:endParaRPr>
          </a:p>
        </p:txBody>
      </p:sp>
      <p:sp>
        <p:nvSpPr>
          <p:cNvPr id="120" name="Shape 34"/>
          <p:cNvSpPr/>
          <p:nvPr/>
        </p:nvSpPr>
        <p:spPr>
          <a:xfrm>
            <a:off x="702045" y="3949560"/>
            <a:ext cx="3458531" cy="765655"/>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dirty="0"/>
              <a:t>Hardware robustness in dynamic conditions</a:t>
            </a:r>
            <a:endParaRPr lang="en-US" dirty="0">
              <a:effectLst/>
            </a:endParaRPr>
          </a:p>
        </p:txBody>
      </p:sp>
      <p:sp>
        <p:nvSpPr>
          <p:cNvPr id="3" name="TextBox 2">
            <a:extLst>
              <a:ext uri="{FF2B5EF4-FFF2-40B4-BE49-F238E27FC236}">
                <a16:creationId xmlns:a16="http://schemas.microsoft.com/office/drawing/2014/main" id="{81A960A1-C0F6-1769-49B1-FDDEBFB4EF3F}"/>
              </a:ext>
            </a:extLst>
          </p:cNvPr>
          <p:cNvSpPr txBox="1"/>
          <p:nvPr/>
        </p:nvSpPr>
        <p:spPr>
          <a:xfrm>
            <a:off x="868101" y="2459340"/>
            <a:ext cx="2488557" cy="646331"/>
          </a:xfrm>
          <a:prstGeom prst="rect">
            <a:avLst/>
          </a:prstGeom>
          <a:noFill/>
        </p:spPr>
        <p:txBody>
          <a:bodyPr wrap="square">
            <a:spAutoFit/>
          </a:bodyPr>
          <a:lstStyle/>
          <a:p>
            <a:pPr>
              <a:buNone/>
            </a:pPr>
            <a:r>
              <a:rPr lang="en-IN" dirty="0">
                <a:effectLst/>
              </a:rPr>
              <a:t>End-to-end crash</a:t>
            </a:r>
          </a:p>
          <a:p>
            <a:pPr>
              <a:buNone/>
            </a:pPr>
            <a:r>
              <a:rPr lang="en-IN" dirty="0">
                <a:effectLst/>
              </a:rPr>
              <a:t>detection reliability</a:t>
            </a:r>
          </a:p>
        </p:txBody>
      </p:sp>
      <p:sp>
        <p:nvSpPr>
          <p:cNvPr id="5" name="TextBox 4">
            <a:extLst>
              <a:ext uri="{FF2B5EF4-FFF2-40B4-BE49-F238E27FC236}">
                <a16:creationId xmlns:a16="http://schemas.microsoft.com/office/drawing/2014/main" id="{C69F9656-EEE3-085E-4265-63B03DA313D4}"/>
              </a:ext>
            </a:extLst>
          </p:cNvPr>
          <p:cNvSpPr txBox="1"/>
          <p:nvPr/>
        </p:nvSpPr>
        <p:spPr>
          <a:xfrm>
            <a:off x="6510988" y="2640974"/>
            <a:ext cx="894543" cy="369332"/>
          </a:xfrm>
          <a:prstGeom prst="rect">
            <a:avLst/>
          </a:prstGeom>
          <a:noFill/>
        </p:spPr>
        <p:txBody>
          <a:bodyPr wrap="square">
            <a:spAutoFit/>
          </a:bodyPr>
          <a:lstStyle/>
          <a:p>
            <a:pPr>
              <a:buNone/>
            </a:pPr>
            <a:r>
              <a:rPr lang="en-IN" dirty="0">
                <a:effectLst/>
              </a:rPr>
              <a:t>≥95%</a:t>
            </a:r>
          </a:p>
        </p:txBody>
      </p:sp>
      <p:sp>
        <p:nvSpPr>
          <p:cNvPr id="7" name="TextBox 6">
            <a:extLst>
              <a:ext uri="{FF2B5EF4-FFF2-40B4-BE49-F238E27FC236}">
                <a16:creationId xmlns:a16="http://schemas.microsoft.com/office/drawing/2014/main" id="{6C30DF1F-63C1-5814-1D63-77D3E087D064}"/>
              </a:ext>
            </a:extLst>
          </p:cNvPr>
          <p:cNvSpPr txBox="1"/>
          <p:nvPr/>
        </p:nvSpPr>
        <p:spPr>
          <a:xfrm>
            <a:off x="7992339" y="2447214"/>
            <a:ext cx="3857801" cy="646331"/>
          </a:xfrm>
          <a:prstGeom prst="rect">
            <a:avLst/>
          </a:prstGeom>
          <a:noFill/>
        </p:spPr>
        <p:txBody>
          <a:bodyPr wrap="square">
            <a:spAutoFit/>
          </a:bodyPr>
          <a:lstStyle/>
          <a:p>
            <a:pPr>
              <a:buNone/>
            </a:pPr>
            <a:r>
              <a:rPr lang="en-US" dirty="0">
                <a:effectLst/>
              </a:rPr>
              <a:t>Simulate 30 crashes varying intensity; </a:t>
            </a:r>
          </a:p>
          <a:p>
            <a:pPr>
              <a:buNone/>
            </a:pPr>
            <a:r>
              <a:rPr lang="en-US" dirty="0">
                <a:effectLst/>
              </a:rPr>
              <a:t>Log sensor readings vs. triggers.</a:t>
            </a:r>
          </a:p>
        </p:txBody>
      </p:sp>
      <p:sp>
        <p:nvSpPr>
          <p:cNvPr id="9" name="TextBox 8">
            <a:extLst>
              <a:ext uri="{FF2B5EF4-FFF2-40B4-BE49-F238E27FC236}">
                <a16:creationId xmlns:a16="http://schemas.microsoft.com/office/drawing/2014/main" id="{728A6B5C-6DA0-43AD-7DF0-EA55D430F2FE}"/>
              </a:ext>
            </a:extLst>
          </p:cNvPr>
          <p:cNvSpPr txBox="1"/>
          <p:nvPr/>
        </p:nvSpPr>
        <p:spPr>
          <a:xfrm>
            <a:off x="702045" y="3264480"/>
            <a:ext cx="3061456" cy="646331"/>
          </a:xfrm>
          <a:prstGeom prst="rect">
            <a:avLst/>
          </a:prstGeom>
          <a:noFill/>
        </p:spPr>
        <p:txBody>
          <a:bodyPr wrap="square">
            <a:spAutoFit/>
          </a:bodyPr>
          <a:lstStyle/>
          <a:p>
            <a:pPr>
              <a:buNone/>
            </a:pPr>
            <a:r>
              <a:rPr lang="en-US" dirty="0">
                <a:effectLst/>
              </a:rPr>
              <a:t>Alert transmission</a:t>
            </a:r>
          </a:p>
          <a:p>
            <a:pPr>
              <a:buNone/>
            </a:pPr>
            <a:r>
              <a:rPr lang="en-US" dirty="0">
                <a:effectLst/>
              </a:rPr>
              <a:t>latency and accuracy</a:t>
            </a:r>
          </a:p>
        </p:txBody>
      </p:sp>
      <p:sp>
        <p:nvSpPr>
          <p:cNvPr id="11" name="TextBox 10">
            <a:extLst>
              <a:ext uri="{FF2B5EF4-FFF2-40B4-BE49-F238E27FC236}">
                <a16:creationId xmlns:a16="http://schemas.microsoft.com/office/drawing/2014/main" id="{33A3CCF6-D310-57EA-01B1-857206592AD7}"/>
              </a:ext>
            </a:extLst>
          </p:cNvPr>
          <p:cNvSpPr txBox="1"/>
          <p:nvPr/>
        </p:nvSpPr>
        <p:spPr>
          <a:xfrm>
            <a:off x="4322564" y="3316434"/>
            <a:ext cx="1646955" cy="646331"/>
          </a:xfrm>
          <a:prstGeom prst="rect">
            <a:avLst/>
          </a:prstGeom>
          <a:noFill/>
        </p:spPr>
        <p:txBody>
          <a:bodyPr wrap="square">
            <a:spAutoFit/>
          </a:bodyPr>
          <a:lstStyle/>
          <a:p>
            <a:pPr>
              <a:buNone/>
            </a:pPr>
            <a:r>
              <a:rPr lang="en-IN" dirty="0">
                <a:effectLst/>
              </a:rPr>
              <a:t>End-to-end </a:t>
            </a:r>
          </a:p>
          <a:p>
            <a:pPr>
              <a:buNone/>
            </a:pPr>
            <a:r>
              <a:rPr lang="en-IN" dirty="0">
                <a:effectLst/>
              </a:rPr>
              <a:t>latency</a:t>
            </a:r>
          </a:p>
        </p:txBody>
      </p:sp>
      <p:sp>
        <p:nvSpPr>
          <p:cNvPr id="13" name="TextBox 12">
            <a:extLst>
              <a:ext uri="{FF2B5EF4-FFF2-40B4-BE49-F238E27FC236}">
                <a16:creationId xmlns:a16="http://schemas.microsoft.com/office/drawing/2014/main" id="{A3B11550-1262-73AA-86F2-2C752B7D868A}"/>
              </a:ext>
            </a:extLst>
          </p:cNvPr>
          <p:cNvSpPr txBox="1"/>
          <p:nvPr/>
        </p:nvSpPr>
        <p:spPr>
          <a:xfrm>
            <a:off x="7930607" y="3251814"/>
            <a:ext cx="3842795" cy="646331"/>
          </a:xfrm>
          <a:prstGeom prst="rect">
            <a:avLst/>
          </a:prstGeom>
          <a:noFill/>
        </p:spPr>
        <p:txBody>
          <a:bodyPr wrap="square">
            <a:spAutoFit/>
          </a:bodyPr>
          <a:lstStyle/>
          <a:p>
            <a:r>
              <a:rPr lang="en-US" dirty="0"/>
              <a:t>Outdoor tests with real GPS; Measure</a:t>
            </a:r>
          </a:p>
          <a:p>
            <a:r>
              <a:rPr lang="en-US" dirty="0"/>
              <a:t>detection-to-SMS time; Verify location </a:t>
            </a:r>
            <a:endParaRPr lang="en-US" dirty="0">
              <a:effectLst/>
            </a:endParaRPr>
          </a:p>
        </p:txBody>
      </p:sp>
      <p:sp>
        <p:nvSpPr>
          <p:cNvPr id="15" name="TextBox 14">
            <a:extLst>
              <a:ext uri="{FF2B5EF4-FFF2-40B4-BE49-F238E27FC236}">
                <a16:creationId xmlns:a16="http://schemas.microsoft.com/office/drawing/2014/main" id="{63D68D42-1E5D-16B7-9EB8-95DFC8FC51DF}"/>
              </a:ext>
            </a:extLst>
          </p:cNvPr>
          <p:cNvSpPr txBox="1"/>
          <p:nvPr/>
        </p:nvSpPr>
        <p:spPr>
          <a:xfrm>
            <a:off x="4298857" y="3975316"/>
            <a:ext cx="1643622" cy="646331"/>
          </a:xfrm>
          <a:prstGeom prst="rect">
            <a:avLst/>
          </a:prstGeom>
          <a:noFill/>
        </p:spPr>
        <p:txBody>
          <a:bodyPr wrap="square">
            <a:spAutoFit/>
          </a:bodyPr>
          <a:lstStyle/>
          <a:p>
            <a:pPr>
              <a:buNone/>
            </a:pPr>
            <a:r>
              <a:rPr lang="en-IN" dirty="0">
                <a:effectLst/>
              </a:rPr>
              <a:t>Uptime under </a:t>
            </a:r>
          </a:p>
          <a:p>
            <a:pPr>
              <a:buNone/>
            </a:pPr>
            <a:r>
              <a:rPr lang="en-IN" dirty="0">
                <a:effectLst/>
              </a:rPr>
              <a:t>vibration</a:t>
            </a:r>
          </a:p>
        </p:txBody>
      </p:sp>
      <p:sp>
        <p:nvSpPr>
          <p:cNvPr id="17" name="TextBox 16">
            <a:extLst>
              <a:ext uri="{FF2B5EF4-FFF2-40B4-BE49-F238E27FC236}">
                <a16:creationId xmlns:a16="http://schemas.microsoft.com/office/drawing/2014/main" id="{E149E88A-6E0A-5E17-6312-676C2C3614CD}"/>
              </a:ext>
            </a:extLst>
          </p:cNvPr>
          <p:cNvSpPr txBox="1"/>
          <p:nvPr/>
        </p:nvSpPr>
        <p:spPr>
          <a:xfrm>
            <a:off x="7916044" y="4009221"/>
            <a:ext cx="3512475" cy="646331"/>
          </a:xfrm>
          <a:prstGeom prst="rect">
            <a:avLst/>
          </a:prstGeom>
          <a:noFill/>
        </p:spPr>
        <p:txBody>
          <a:bodyPr wrap="square">
            <a:spAutoFit/>
          </a:bodyPr>
          <a:lstStyle/>
          <a:p>
            <a:r>
              <a:rPr lang="en-US" dirty="0"/>
              <a:t>Shake table simulation; Monitor for</a:t>
            </a:r>
          </a:p>
          <a:p>
            <a:r>
              <a:rPr lang="en-US" dirty="0"/>
              <a:t> failures over 2-hour runs.</a:t>
            </a:r>
            <a:endParaRPr lang="en-US" dirty="0">
              <a:effectLst/>
            </a:endParaRPr>
          </a:p>
        </p:txBody>
      </p:sp>
      <p:sp>
        <p:nvSpPr>
          <p:cNvPr id="22" name="Shape 20">
            <a:extLst>
              <a:ext uri="{FF2B5EF4-FFF2-40B4-BE49-F238E27FC236}">
                <a16:creationId xmlns:a16="http://schemas.microsoft.com/office/drawing/2014/main" id="{08B58C63-FBA7-0709-62F0-A5009B45DD88}"/>
              </a:ext>
            </a:extLst>
          </p:cNvPr>
          <p:cNvSpPr/>
          <p:nvPr/>
        </p:nvSpPr>
        <p:spPr>
          <a:xfrm>
            <a:off x="594360" y="4800897"/>
            <a:ext cx="3620160" cy="640202"/>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dirty="0"/>
              <a:t>  False positive minimization</a:t>
            </a:r>
          </a:p>
          <a:p>
            <a:endParaRPr lang="en-IN" dirty="0">
              <a:effectLst/>
            </a:endParaRPr>
          </a:p>
        </p:txBody>
      </p:sp>
      <p:sp>
        <p:nvSpPr>
          <p:cNvPr id="24" name="TextBox 23">
            <a:extLst>
              <a:ext uri="{FF2B5EF4-FFF2-40B4-BE49-F238E27FC236}">
                <a16:creationId xmlns:a16="http://schemas.microsoft.com/office/drawing/2014/main" id="{945A34F7-48CA-DFC8-DDC3-91EECEDF6C0E}"/>
              </a:ext>
            </a:extLst>
          </p:cNvPr>
          <p:cNvSpPr txBox="1"/>
          <p:nvPr/>
        </p:nvSpPr>
        <p:spPr>
          <a:xfrm>
            <a:off x="6309836" y="4913815"/>
            <a:ext cx="1296848" cy="369332"/>
          </a:xfrm>
          <a:prstGeom prst="rect">
            <a:avLst/>
          </a:prstGeom>
          <a:noFill/>
        </p:spPr>
        <p:txBody>
          <a:bodyPr wrap="square">
            <a:spAutoFit/>
          </a:bodyPr>
          <a:lstStyle/>
          <a:p>
            <a:pPr>
              <a:buNone/>
            </a:pPr>
            <a:r>
              <a:rPr lang="en-IN" dirty="0">
                <a:effectLst/>
              </a:rPr>
              <a:t>≤2%</a:t>
            </a:r>
          </a:p>
        </p:txBody>
      </p:sp>
      <p:sp>
        <p:nvSpPr>
          <p:cNvPr id="26" name="TextBox 25">
            <a:extLst>
              <a:ext uri="{FF2B5EF4-FFF2-40B4-BE49-F238E27FC236}">
                <a16:creationId xmlns:a16="http://schemas.microsoft.com/office/drawing/2014/main" id="{52705470-F4F3-815C-1809-37AB96F8A9EB}"/>
              </a:ext>
            </a:extLst>
          </p:cNvPr>
          <p:cNvSpPr txBox="1"/>
          <p:nvPr/>
        </p:nvSpPr>
        <p:spPr>
          <a:xfrm>
            <a:off x="702045" y="5496179"/>
            <a:ext cx="1960132" cy="646331"/>
          </a:xfrm>
          <a:prstGeom prst="rect">
            <a:avLst/>
          </a:prstGeom>
          <a:noFill/>
        </p:spPr>
        <p:txBody>
          <a:bodyPr wrap="square">
            <a:spAutoFit/>
          </a:bodyPr>
          <a:lstStyle/>
          <a:p>
            <a:pPr>
              <a:buNone/>
            </a:pPr>
            <a:r>
              <a:rPr lang="en-US" dirty="0">
                <a:effectLst/>
              </a:rPr>
              <a:t>Ease of setup and</a:t>
            </a:r>
          </a:p>
          <a:p>
            <a:pPr>
              <a:buNone/>
            </a:pPr>
            <a:r>
              <a:rPr lang="en-US" dirty="0">
                <a:effectLst/>
              </a:rPr>
              <a:t> maintenance</a:t>
            </a:r>
          </a:p>
        </p:txBody>
      </p:sp>
      <p:sp>
        <p:nvSpPr>
          <p:cNvPr id="28" name="TextBox 27">
            <a:extLst>
              <a:ext uri="{FF2B5EF4-FFF2-40B4-BE49-F238E27FC236}">
                <a16:creationId xmlns:a16="http://schemas.microsoft.com/office/drawing/2014/main" id="{F51A57F8-57F9-0CF5-8068-29B7F3128031}"/>
              </a:ext>
            </a:extLst>
          </p:cNvPr>
          <p:cNvSpPr txBox="1"/>
          <p:nvPr/>
        </p:nvSpPr>
        <p:spPr>
          <a:xfrm>
            <a:off x="8055720" y="5553346"/>
            <a:ext cx="3391611" cy="646331"/>
          </a:xfrm>
          <a:prstGeom prst="rect">
            <a:avLst/>
          </a:prstGeom>
          <a:noFill/>
        </p:spPr>
        <p:txBody>
          <a:bodyPr wrap="square">
            <a:spAutoFit/>
          </a:bodyPr>
          <a:lstStyle/>
          <a:p>
            <a:pPr>
              <a:buNone/>
            </a:pPr>
            <a:r>
              <a:rPr lang="en-US" dirty="0">
                <a:effectLst/>
              </a:rPr>
              <a:t>5 peer usability tests; Time and </a:t>
            </a:r>
          </a:p>
          <a:p>
            <a:pPr>
              <a:buNone/>
            </a:pPr>
            <a:r>
              <a:rPr lang="en-US" dirty="0">
                <a:effectLst/>
              </a:rPr>
              <a:t>feedback on assembly/user guide.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Shape 0"/>
          <p:cNvSpPr/>
          <p:nvPr/>
        </p:nvSpPr>
        <p:spPr>
          <a:xfrm>
            <a:off x="0" y="0"/>
            <a:ext cx="12191400" cy="566640"/>
          </a:xfrm>
          <a:prstGeom prst="rect">
            <a:avLst/>
          </a:prstGeom>
          <a:solidFill>
            <a:srgbClr val="0B2E4A"/>
          </a:solidFill>
          <a:ln w="12700">
            <a:solidFill>
              <a:srgbClr val="0B2E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6" name="Shape 1"/>
          <p:cNvSpPr/>
          <p:nvPr/>
        </p:nvSpPr>
        <p:spPr>
          <a:xfrm>
            <a:off x="0" y="0"/>
            <a:ext cx="226142" cy="566640"/>
          </a:xfrm>
          <a:prstGeom prst="rect">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7" name="Text 2"/>
          <p:cNvSpPr/>
          <p:nvPr/>
        </p:nvSpPr>
        <p:spPr>
          <a:xfrm>
            <a:off x="594360" y="109800"/>
            <a:ext cx="1100268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400" b="1" u="none" strike="noStrike">
                <a:solidFill>
                  <a:srgbClr val="FFFFFF"/>
                </a:solidFill>
                <a:effectLst/>
                <a:uFillTx/>
                <a:latin typeface="Calibri"/>
                <a:ea typeface="Calibri"/>
              </a:rPr>
              <a:t>SoI Innovation Pipeline</a:t>
            </a:r>
            <a:endParaRPr lang="en-US" sz="1400" b="0" u="none" strike="noStrike">
              <a:solidFill>
                <a:srgbClr val="000000"/>
              </a:solidFill>
              <a:effectLst/>
              <a:uFillTx/>
              <a:latin typeface="Arial"/>
            </a:endParaRPr>
          </a:p>
        </p:txBody>
      </p:sp>
      <p:sp>
        <p:nvSpPr>
          <p:cNvPr id="128" name="Shape 3"/>
          <p:cNvSpPr/>
          <p:nvPr/>
        </p:nvSpPr>
        <p:spPr>
          <a:xfrm>
            <a:off x="594360" y="658440"/>
            <a:ext cx="1919880" cy="292320"/>
          </a:xfrm>
          <a:prstGeom prst="roundRect">
            <a:avLst>
              <a:gd name="adj" fmla="val 16667"/>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9" name="Text 4"/>
          <p:cNvSpPr/>
          <p:nvPr/>
        </p:nvSpPr>
        <p:spPr>
          <a:xfrm>
            <a:off x="594360" y="704160"/>
            <a:ext cx="19198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STRATEGY</a:t>
            </a:r>
            <a:endParaRPr lang="en-US" sz="1200" b="0" u="none" strike="noStrike">
              <a:solidFill>
                <a:srgbClr val="000000"/>
              </a:solidFill>
              <a:effectLst/>
              <a:uFillTx/>
              <a:latin typeface="Arial"/>
            </a:endParaRPr>
          </a:p>
        </p:txBody>
      </p:sp>
      <p:sp>
        <p:nvSpPr>
          <p:cNvPr id="130" name="Text 5"/>
          <p:cNvSpPr/>
          <p:nvPr/>
        </p:nvSpPr>
        <p:spPr>
          <a:xfrm>
            <a:off x="594360" y="850500"/>
            <a:ext cx="11002680" cy="54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3200" b="1" u="none" strike="noStrike" dirty="0">
                <a:solidFill>
                  <a:srgbClr val="111827"/>
                </a:solidFill>
                <a:effectLst/>
                <a:uFillTx/>
                <a:latin typeface="Calibri"/>
                <a:ea typeface="Calibri"/>
              </a:rPr>
              <a:t>Choose Your Prototype Strategy</a:t>
            </a:r>
            <a:endParaRPr lang="en-US" sz="3200" b="0" u="none" strike="noStrike" dirty="0">
              <a:solidFill>
                <a:srgbClr val="000000"/>
              </a:solidFill>
              <a:effectLst/>
              <a:uFillTx/>
              <a:latin typeface="Arial"/>
            </a:endParaRPr>
          </a:p>
        </p:txBody>
      </p:sp>
      <p:sp>
        <p:nvSpPr>
          <p:cNvPr id="134" name="Text 9"/>
          <p:cNvSpPr/>
          <p:nvPr/>
        </p:nvSpPr>
        <p:spPr>
          <a:xfrm>
            <a:off x="850320" y="2423160"/>
            <a:ext cx="4859640" cy="1380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10000"/>
              </a:lnSpc>
              <a:tabLst>
                <a:tab pos="0" algn="l"/>
              </a:tabLst>
            </a:pPr>
            <a:endParaRPr lang="en-US" sz="1300" b="0" u="none" strike="noStrike" dirty="0">
              <a:solidFill>
                <a:srgbClr val="000000"/>
              </a:solidFill>
              <a:effectLst/>
              <a:uFillTx/>
              <a:latin typeface="Arial"/>
            </a:endParaRPr>
          </a:p>
        </p:txBody>
      </p:sp>
      <p:sp>
        <p:nvSpPr>
          <p:cNvPr id="137" name="Text 12"/>
          <p:cNvSpPr/>
          <p:nvPr/>
        </p:nvSpPr>
        <p:spPr>
          <a:xfrm>
            <a:off x="6451200" y="2423160"/>
            <a:ext cx="4859640" cy="1380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10000"/>
              </a:lnSpc>
              <a:tabLst>
                <a:tab pos="0" algn="l"/>
              </a:tabLst>
            </a:pPr>
            <a:endParaRPr lang="en-US" sz="1300" b="0" u="none" strike="noStrike" dirty="0">
              <a:solidFill>
                <a:srgbClr val="000000"/>
              </a:solidFill>
              <a:effectLst/>
              <a:uFillTx/>
              <a:latin typeface="Arial"/>
            </a:endParaRPr>
          </a:p>
        </p:txBody>
      </p:sp>
      <p:sp>
        <p:nvSpPr>
          <p:cNvPr id="140" name="Text 15"/>
          <p:cNvSpPr/>
          <p:nvPr/>
        </p:nvSpPr>
        <p:spPr>
          <a:xfrm>
            <a:off x="850320" y="4709160"/>
            <a:ext cx="4859640" cy="1380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10000"/>
              </a:lnSpc>
              <a:tabLst>
                <a:tab pos="0" algn="l"/>
              </a:tabLst>
            </a:pPr>
            <a:endParaRPr lang="en-US" sz="1300" b="0" u="none" strike="noStrike" dirty="0">
              <a:solidFill>
                <a:srgbClr val="000000"/>
              </a:solidFill>
              <a:effectLst/>
              <a:uFillTx/>
              <a:latin typeface="Arial"/>
            </a:endParaRPr>
          </a:p>
        </p:txBody>
      </p:sp>
      <p:sp>
        <p:nvSpPr>
          <p:cNvPr id="141" name="Shape 16"/>
          <p:cNvSpPr/>
          <p:nvPr/>
        </p:nvSpPr>
        <p:spPr>
          <a:xfrm>
            <a:off x="1524000" y="1865160"/>
            <a:ext cx="9022080" cy="3987000"/>
          </a:xfrm>
          <a:prstGeom prst="roundRect">
            <a:avLst>
              <a:gd name="adj" fmla="val 16667"/>
            </a:avLst>
          </a:prstGeom>
          <a:solidFill>
            <a:srgbClr val="FFFFFF"/>
          </a:solidFill>
          <a:ln w="12700">
            <a:solidFill>
              <a:srgbClr val="E5E7EB"/>
            </a:solidFill>
            <a:round/>
          </a:ln>
          <a:effectLst>
            <a:outerShdw blurRad="28080" dist="19855" dir="2700000" algn="bl" rotWithShape="0">
              <a:srgbClr val="000000">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2" name="Text 17"/>
          <p:cNvSpPr/>
          <p:nvPr/>
        </p:nvSpPr>
        <p:spPr>
          <a:xfrm>
            <a:off x="1985880" y="2235780"/>
            <a:ext cx="485964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b="1" u="none" strike="noStrike" dirty="0">
                <a:solidFill>
                  <a:srgbClr val="111827"/>
                </a:solidFill>
                <a:effectLst/>
                <a:uFillTx/>
                <a:latin typeface="Calibri"/>
                <a:ea typeface="Calibri"/>
              </a:rPr>
              <a:t>Option D — Looks-like + works-like</a:t>
            </a:r>
            <a:endParaRPr lang="en-US" b="0" u="none" strike="noStrike" dirty="0">
              <a:solidFill>
                <a:srgbClr val="000000"/>
              </a:solidFill>
              <a:effectLst/>
              <a:uFillTx/>
              <a:latin typeface="Arial"/>
            </a:endParaRPr>
          </a:p>
        </p:txBody>
      </p:sp>
      <p:sp>
        <p:nvSpPr>
          <p:cNvPr id="143" name="Text 18"/>
          <p:cNvSpPr/>
          <p:nvPr/>
        </p:nvSpPr>
        <p:spPr>
          <a:xfrm>
            <a:off x="2518920" y="3063600"/>
            <a:ext cx="4859640" cy="1645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10000"/>
              </a:lnSpc>
              <a:tabLst>
                <a:tab pos="0" algn="l"/>
              </a:tabLst>
            </a:pPr>
            <a:r>
              <a:rPr lang="en-US" b="0" u="none" strike="noStrike" dirty="0">
                <a:solidFill>
                  <a:srgbClr val="4B5563"/>
                </a:solidFill>
                <a:effectLst/>
                <a:uFillTx/>
                <a:latin typeface="Calibri"/>
                <a:ea typeface="Calibri"/>
              </a:rPr>
              <a:t>Form-factor / ergonomics / mechanism matters.</a:t>
            </a:r>
            <a:endParaRPr lang="en-US" b="0" u="none" strike="noStrike" dirty="0">
              <a:solidFill>
                <a:srgbClr val="000000"/>
              </a:solidFill>
              <a:effectLst/>
              <a:uFillTx/>
              <a:latin typeface="Arial"/>
            </a:endParaRPr>
          </a:p>
          <a:p>
            <a:pPr defTabSz="914400">
              <a:lnSpc>
                <a:spcPct val="110000"/>
              </a:lnSpc>
              <a:tabLst>
                <a:tab pos="0" algn="l"/>
              </a:tabLst>
            </a:pPr>
            <a:r>
              <a:rPr lang="en-US" b="0" u="none" strike="noStrike" dirty="0">
                <a:solidFill>
                  <a:srgbClr val="4B5563"/>
                </a:solidFill>
                <a:effectLst/>
                <a:uFillTx/>
                <a:latin typeface="Calibri"/>
                <a:ea typeface="Calibri"/>
              </a:rPr>
              <a:t>Works-like rig + looks-like mock; safety + BOM.</a:t>
            </a:r>
            <a:endParaRPr lang="en-US" b="0" u="none" strike="noStrike" dirty="0">
              <a:solidFill>
                <a:srgbClr val="000000"/>
              </a:solidFill>
              <a:effectLst/>
              <a:uFillTx/>
              <a:latin typeface="Arial"/>
            </a:endParaRPr>
          </a:p>
          <a:p>
            <a:pPr defTabSz="914400">
              <a:lnSpc>
                <a:spcPct val="110000"/>
              </a:lnSpc>
              <a:tabLst>
                <a:tab pos="0" algn="l"/>
              </a:tabLst>
            </a:pPr>
            <a:r>
              <a:rPr lang="en-US" b="0" u="none" strike="noStrike" dirty="0">
                <a:solidFill>
                  <a:srgbClr val="4B5563"/>
                </a:solidFill>
                <a:effectLst/>
                <a:uFillTx/>
                <a:latin typeface="Calibri"/>
                <a:ea typeface="Calibri"/>
              </a:rPr>
              <a:t>Best for EI/MA (and HW-heavy AD).</a:t>
            </a:r>
            <a:endParaRPr lang="en-US" b="0" u="none" strike="noStrike" dirty="0">
              <a:solidFill>
                <a:srgbClr val="000000"/>
              </a:solidFill>
              <a:effectLst/>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 name="Shape 0"/>
          <p:cNvSpPr/>
          <p:nvPr/>
        </p:nvSpPr>
        <p:spPr>
          <a:xfrm>
            <a:off x="0" y="0"/>
            <a:ext cx="12191400" cy="566640"/>
          </a:xfrm>
          <a:prstGeom prst="rect">
            <a:avLst/>
          </a:prstGeom>
          <a:solidFill>
            <a:srgbClr val="0B2E4A"/>
          </a:solidFill>
          <a:ln w="12700">
            <a:solidFill>
              <a:srgbClr val="0B2E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55" name="Shape 1"/>
          <p:cNvSpPr/>
          <p:nvPr/>
        </p:nvSpPr>
        <p:spPr>
          <a:xfrm>
            <a:off x="0" y="0"/>
            <a:ext cx="145800" cy="566640"/>
          </a:xfrm>
          <a:prstGeom prst="rect">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56" name="Text 2"/>
          <p:cNvSpPr/>
          <p:nvPr/>
        </p:nvSpPr>
        <p:spPr>
          <a:xfrm>
            <a:off x="594360" y="109800"/>
            <a:ext cx="1100268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400" b="1" u="none" strike="noStrike">
                <a:solidFill>
                  <a:srgbClr val="FFFFFF"/>
                </a:solidFill>
                <a:effectLst/>
                <a:uFillTx/>
                <a:latin typeface="Calibri"/>
                <a:ea typeface="Calibri"/>
              </a:rPr>
              <a:t>SoI Innovation Pipeline</a:t>
            </a:r>
            <a:endParaRPr lang="en-US" sz="1400" b="0" u="none" strike="noStrike">
              <a:solidFill>
                <a:srgbClr val="000000"/>
              </a:solidFill>
              <a:effectLst/>
              <a:uFillTx/>
              <a:latin typeface="Arial"/>
            </a:endParaRPr>
          </a:p>
        </p:txBody>
      </p:sp>
      <p:sp>
        <p:nvSpPr>
          <p:cNvPr id="257" name="Shape 3"/>
          <p:cNvSpPr/>
          <p:nvPr/>
        </p:nvSpPr>
        <p:spPr>
          <a:xfrm>
            <a:off x="594360" y="658440"/>
            <a:ext cx="1919880" cy="292320"/>
          </a:xfrm>
          <a:prstGeom prst="roundRect">
            <a:avLst>
              <a:gd name="adj" fmla="val 16667"/>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58" name="Text 4"/>
          <p:cNvSpPr/>
          <p:nvPr/>
        </p:nvSpPr>
        <p:spPr>
          <a:xfrm>
            <a:off x="594360" y="704160"/>
            <a:ext cx="19198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STRATEGY</a:t>
            </a:r>
            <a:endParaRPr lang="en-US" sz="1200" b="0" u="none" strike="noStrike">
              <a:solidFill>
                <a:srgbClr val="000000"/>
              </a:solidFill>
              <a:effectLst/>
              <a:uFillTx/>
              <a:latin typeface="Arial"/>
            </a:endParaRPr>
          </a:p>
        </p:txBody>
      </p:sp>
      <p:sp>
        <p:nvSpPr>
          <p:cNvPr id="259" name="Text 5"/>
          <p:cNvSpPr/>
          <p:nvPr/>
        </p:nvSpPr>
        <p:spPr>
          <a:xfrm>
            <a:off x="594360" y="822960"/>
            <a:ext cx="11002680" cy="54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3200" b="1" u="none" strike="noStrike">
                <a:solidFill>
                  <a:srgbClr val="111827"/>
                </a:solidFill>
                <a:effectLst/>
                <a:uFillTx/>
                <a:latin typeface="Calibri"/>
                <a:ea typeface="Calibri"/>
              </a:rPr>
              <a:t>Prototype Strategy Option D</a:t>
            </a:r>
            <a:endParaRPr lang="en-US" sz="3200" b="0" u="none" strike="noStrike">
              <a:solidFill>
                <a:srgbClr val="000000"/>
              </a:solidFill>
              <a:effectLst/>
              <a:uFillTx/>
              <a:latin typeface="Arial"/>
            </a:endParaRPr>
          </a:p>
        </p:txBody>
      </p:sp>
      <p:sp>
        <p:nvSpPr>
          <p:cNvPr id="261" name="Shape 7"/>
          <p:cNvSpPr/>
          <p:nvPr/>
        </p:nvSpPr>
        <p:spPr>
          <a:xfrm>
            <a:off x="594360" y="658440"/>
            <a:ext cx="1919880" cy="292320"/>
          </a:xfrm>
          <a:prstGeom prst="roundRect">
            <a:avLst>
              <a:gd name="adj" fmla="val 16667"/>
            </a:avLst>
          </a:prstGeom>
          <a:solidFill>
            <a:srgbClr val="0EA5E9"/>
          </a:solidFill>
          <a:ln w="12700">
            <a:solidFill>
              <a:srgbClr val="0EA5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62" name="Text 8"/>
          <p:cNvSpPr/>
          <p:nvPr/>
        </p:nvSpPr>
        <p:spPr>
          <a:xfrm>
            <a:off x="594360" y="704160"/>
            <a:ext cx="19198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OPTION D</a:t>
            </a:r>
            <a:endParaRPr lang="en-US" sz="1200" b="0" u="none" strike="noStrike">
              <a:solidFill>
                <a:srgbClr val="000000"/>
              </a:solidFill>
              <a:effectLst/>
              <a:uFillTx/>
              <a:latin typeface="Arial"/>
            </a:endParaRPr>
          </a:p>
        </p:txBody>
      </p:sp>
      <p:sp>
        <p:nvSpPr>
          <p:cNvPr id="263" name="Shape 9"/>
          <p:cNvSpPr/>
          <p:nvPr/>
        </p:nvSpPr>
        <p:spPr>
          <a:xfrm>
            <a:off x="426780" y="1782720"/>
            <a:ext cx="5668920" cy="4525920"/>
          </a:xfrm>
          <a:prstGeom prst="roundRect">
            <a:avLst>
              <a:gd name="adj" fmla="val 16667"/>
            </a:avLst>
          </a:prstGeom>
          <a:solidFill>
            <a:srgbClr val="FFFFFF"/>
          </a:solidFill>
          <a:ln w="12700">
            <a:solidFill>
              <a:srgbClr val="E5E7EB"/>
            </a:solidFill>
            <a:round/>
          </a:ln>
          <a:effectLst>
            <a:outerShdw blurRad="28080" dist="19855" dir="2700000" algn="bl" rotWithShape="0">
              <a:srgbClr val="000000">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64" name="Text 10"/>
          <p:cNvSpPr/>
          <p:nvPr/>
        </p:nvSpPr>
        <p:spPr>
          <a:xfrm>
            <a:off x="850320" y="2039040"/>
            <a:ext cx="515700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600" b="1" u="none" strike="noStrike" dirty="0">
                <a:solidFill>
                  <a:srgbClr val="111827"/>
                </a:solidFill>
                <a:effectLst/>
                <a:uFillTx/>
                <a:latin typeface="Calibri"/>
                <a:ea typeface="Calibri"/>
              </a:rPr>
              <a:t>Choose this if…</a:t>
            </a:r>
            <a:endParaRPr lang="en-US" sz="1600" b="0" u="none" strike="noStrike" dirty="0">
              <a:solidFill>
                <a:srgbClr val="000000"/>
              </a:solidFill>
              <a:effectLst/>
              <a:uFillTx/>
              <a:latin typeface="Arial"/>
            </a:endParaRPr>
          </a:p>
        </p:txBody>
      </p:sp>
      <p:sp>
        <p:nvSpPr>
          <p:cNvPr id="265" name="Text 11"/>
          <p:cNvSpPr/>
          <p:nvPr/>
        </p:nvSpPr>
        <p:spPr>
          <a:xfrm>
            <a:off x="850320" y="2377440"/>
            <a:ext cx="5157000" cy="3849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10000"/>
              </a:lnSpc>
              <a:tabLst>
                <a:tab pos="0" algn="l"/>
              </a:tabLst>
            </a:pPr>
            <a:endParaRPr lang="en-US" sz="1300" b="0" u="none" strike="noStrike">
              <a:solidFill>
                <a:schemeClr val="dk1"/>
              </a:solidFill>
              <a:effectLst/>
              <a:uFillTx/>
              <a:latin typeface="Calibri"/>
            </a:endParaRPr>
          </a:p>
        </p:txBody>
      </p:sp>
      <p:sp>
        <p:nvSpPr>
          <p:cNvPr id="266" name="Text 12"/>
          <p:cNvSpPr/>
          <p:nvPr/>
        </p:nvSpPr>
        <p:spPr>
          <a:xfrm>
            <a:off x="914400" y="2487240"/>
            <a:ext cx="5074560" cy="3748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sz="1600" dirty="0"/>
              <a:t>Physical form factor, ergonomics, enclosure, or mechanism matters. You can show both: a works-like rig + a looks-like mock. You can document BOM, dimensions, assembly &amp; safety checks. Avoid: mass-manufacture optimization and expensive custom tooling.</a:t>
            </a:r>
            <a:endParaRPr lang="en-US" sz="1600" dirty="0">
              <a:effectLst/>
            </a:endParaRPr>
          </a:p>
        </p:txBody>
      </p:sp>
      <p:sp>
        <p:nvSpPr>
          <p:cNvPr id="267" name="Shape 13"/>
          <p:cNvSpPr/>
          <p:nvPr/>
        </p:nvSpPr>
        <p:spPr>
          <a:xfrm>
            <a:off x="6537960" y="1874520"/>
            <a:ext cx="5348880" cy="4525920"/>
          </a:xfrm>
          <a:prstGeom prst="roundRect">
            <a:avLst>
              <a:gd name="adj" fmla="val 16667"/>
            </a:avLst>
          </a:prstGeom>
          <a:solidFill>
            <a:srgbClr val="FFFFFF"/>
          </a:solidFill>
          <a:ln w="12700">
            <a:solidFill>
              <a:srgbClr val="E5E7EB"/>
            </a:solidFill>
            <a:round/>
          </a:ln>
          <a:effectLst>
            <a:outerShdw blurRad="28080" dist="19855" dir="2700000" algn="bl" rotWithShape="0">
              <a:srgbClr val="000000">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dirty="0">
              <a:solidFill>
                <a:srgbClr val="000000"/>
              </a:solidFill>
              <a:effectLst/>
              <a:uFillTx/>
              <a:latin typeface="Arial"/>
            </a:endParaRPr>
          </a:p>
        </p:txBody>
      </p:sp>
      <p:sp>
        <p:nvSpPr>
          <p:cNvPr id="268" name="Text 14"/>
          <p:cNvSpPr/>
          <p:nvPr/>
        </p:nvSpPr>
        <p:spPr>
          <a:xfrm>
            <a:off x="6793920" y="2039040"/>
            <a:ext cx="483696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600" b="1" u="none" strike="noStrike" dirty="0">
                <a:solidFill>
                  <a:srgbClr val="111827"/>
                </a:solidFill>
                <a:effectLst/>
                <a:uFillTx/>
                <a:latin typeface="Calibri"/>
                <a:ea typeface="Calibri"/>
              </a:rPr>
              <a:t>Your plan</a:t>
            </a:r>
            <a:endParaRPr lang="en-US" sz="1600" b="0" u="none" strike="noStrike" dirty="0">
              <a:solidFill>
                <a:srgbClr val="000000"/>
              </a:solidFill>
              <a:effectLst/>
              <a:uFillTx/>
              <a:latin typeface="Arial"/>
            </a:endParaRPr>
          </a:p>
        </p:txBody>
      </p:sp>
      <p:sp>
        <p:nvSpPr>
          <p:cNvPr id="269" name="Text 15"/>
          <p:cNvSpPr/>
          <p:nvPr/>
        </p:nvSpPr>
        <p:spPr>
          <a:xfrm>
            <a:off x="6793920" y="2377440"/>
            <a:ext cx="4836960" cy="3849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10000"/>
              </a:lnSpc>
              <a:tabLst>
                <a:tab pos="0" algn="l"/>
              </a:tabLst>
            </a:pPr>
            <a:endParaRPr lang="en-US" sz="1300" b="0" u="none" strike="noStrike">
              <a:solidFill>
                <a:schemeClr val="dk1"/>
              </a:solidFill>
              <a:effectLst/>
              <a:uFillTx/>
              <a:latin typeface="Calibri"/>
            </a:endParaRPr>
          </a:p>
        </p:txBody>
      </p:sp>
      <p:sp>
        <p:nvSpPr>
          <p:cNvPr id="270" name="Text 16"/>
          <p:cNvSpPr/>
          <p:nvPr/>
        </p:nvSpPr>
        <p:spPr>
          <a:xfrm>
            <a:off x="6903720" y="2487240"/>
            <a:ext cx="1384920" cy="511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00" b="1" u="none" strike="noStrike" dirty="0">
                <a:solidFill>
                  <a:srgbClr val="4B5563"/>
                </a:solidFill>
                <a:effectLst/>
                <a:uFillTx/>
                <a:latin typeface="Calibri"/>
                <a:ea typeface="Calibri"/>
              </a:rPr>
              <a:t>Works-like rig</a:t>
            </a:r>
            <a:endParaRPr lang="en-US" sz="1300" b="0" u="none" strike="noStrike" dirty="0">
              <a:solidFill>
                <a:srgbClr val="000000"/>
              </a:solidFill>
              <a:effectLst/>
              <a:uFillTx/>
              <a:latin typeface="Arial"/>
            </a:endParaRPr>
          </a:p>
        </p:txBody>
      </p:sp>
      <p:sp>
        <p:nvSpPr>
          <p:cNvPr id="271" name="Shape 17"/>
          <p:cNvSpPr/>
          <p:nvPr/>
        </p:nvSpPr>
        <p:spPr>
          <a:xfrm>
            <a:off x="8289000" y="2322360"/>
            <a:ext cx="3232080" cy="76788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72" name="Text 18"/>
          <p:cNvSpPr/>
          <p:nvPr/>
        </p:nvSpPr>
        <p:spPr>
          <a:xfrm>
            <a:off x="8288640" y="2450520"/>
            <a:ext cx="3122640" cy="594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r>
              <a:rPr lang="en-IN" sz="1400" dirty="0"/>
              <a:t>ESP32, MPU6050 accelerometer, NEO-6M GPS, SIM800L GSM; Wired for detection/alerting.</a:t>
            </a:r>
            <a:endParaRPr lang="en-IN" sz="1400" dirty="0">
              <a:effectLst/>
            </a:endParaRPr>
          </a:p>
        </p:txBody>
      </p:sp>
      <p:sp>
        <p:nvSpPr>
          <p:cNvPr id="273" name="Text 19"/>
          <p:cNvSpPr/>
          <p:nvPr/>
        </p:nvSpPr>
        <p:spPr>
          <a:xfrm>
            <a:off x="6812640" y="3163140"/>
            <a:ext cx="1384920" cy="511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00" b="1" u="none" strike="noStrike" dirty="0">
                <a:solidFill>
                  <a:srgbClr val="4B5563"/>
                </a:solidFill>
                <a:effectLst/>
                <a:uFillTx/>
                <a:latin typeface="Calibri"/>
                <a:ea typeface="Calibri"/>
              </a:rPr>
              <a:t>Looks-like mock</a:t>
            </a:r>
            <a:endParaRPr lang="en-US" sz="1300" b="0" u="none" strike="noStrike" dirty="0">
              <a:solidFill>
                <a:srgbClr val="000000"/>
              </a:solidFill>
              <a:effectLst/>
              <a:uFillTx/>
              <a:latin typeface="Arial"/>
            </a:endParaRPr>
          </a:p>
        </p:txBody>
      </p:sp>
      <p:sp>
        <p:nvSpPr>
          <p:cNvPr id="274" name="Shape 20"/>
          <p:cNvSpPr/>
          <p:nvPr/>
        </p:nvSpPr>
        <p:spPr>
          <a:xfrm>
            <a:off x="8298180" y="3214170"/>
            <a:ext cx="3232080" cy="40212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dirty="0">
              <a:solidFill>
                <a:srgbClr val="000000"/>
              </a:solidFill>
              <a:effectLst/>
              <a:uFillTx/>
              <a:latin typeface="Arial"/>
            </a:endParaRPr>
          </a:p>
        </p:txBody>
      </p:sp>
      <p:sp>
        <p:nvSpPr>
          <p:cNvPr id="275" name="Text 21"/>
          <p:cNvSpPr/>
          <p:nvPr/>
        </p:nvSpPr>
        <p:spPr>
          <a:xfrm>
            <a:off x="8284590" y="3254940"/>
            <a:ext cx="318141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r>
              <a:rPr lang="en-US" sz="1400" dirty="0"/>
              <a:t>ABS plastic; 10x7x3 cm dashboard mount.</a:t>
            </a:r>
            <a:endParaRPr lang="en-US" sz="1400" dirty="0">
              <a:effectLst/>
            </a:endParaRPr>
          </a:p>
        </p:txBody>
      </p:sp>
      <p:sp>
        <p:nvSpPr>
          <p:cNvPr id="276" name="Text 22"/>
          <p:cNvSpPr/>
          <p:nvPr/>
        </p:nvSpPr>
        <p:spPr>
          <a:xfrm>
            <a:off x="6773400" y="3822480"/>
            <a:ext cx="1384920" cy="511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00" b="1" u="none" strike="noStrike" dirty="0">
                <a:solidFill>
                  <a:srgbClr val="4B5563"/>
                </a:solidFill>
                <a:effectLst/>
                <a:uFillTx/>
                <a:latin typeface="Calibri"/>
                <a:ea typeface="Calibri"/>
              </a:rPr>
              <a:t>Key interactions</a:t>
            </a:r>
            <a:endParaRPr lang="en-US" sz="1300" b="0" u="none" strike="noStrike" dirty="0">
              <a:solidFill>
                <a:srgbClr val="000000"/>
              </a:solidFill>
              <a:effectLst/>
              <a:uFillTx/>
              <a:latin typeface="Arial"/>
            </a:endParaRPr>
          </a:p>
        </p:txBody>
      </p:sp>
      <p:sp>
        <p:nvSpPr>
          <p:cNvPr id="277" name="Shape 23"/>
          <p:cNvSpPr/>
          <p:nvPr/>
        </p:nvSpPr>
        <p:spPr>
          <a:xfrm>
            <a:off x="8298180" y="3877200"/>
            <a:ext cx="3232080" cy="40212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78" name="Text 24"/>
          <p:cNvSpPr/>
          <p:nvPr/>
        </p:nvSpPr>
        <p:spPr>
          <a:xfrm>
            <a:off x="8398800" y="3611880"/>
            <a:ext cx="301248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US" sz="1300" b="0" u="none" strike="noStrike" dirty="0">
              <a:solidFill>
                <a:srgbClr val="000000"/>
              </a:solidFill>
              <a:effectLst/>
              <a:uFillTx/>
              <a:latin typeface="Arial"/>
            </a:endParaRPr>
          </a:p>
        </p:txBody>
      </p:sp>
      <p:sp>
        <p:nvSpPr>
          <p:cNvPr id="279" name="Text 25"/>
          <p:cNvSpPr/>
          <p:nvPr/>
        </p:nvSpPr>
        <p:spPr>
          <a:xfrm>
            <a:off x="6794280" y="4527180"/>
            <a:ext cx="1384920" cy="511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00" b="1" u="none" strike="noStrike" dirty="0">
                <a:solidFill>
                  <a:srgbClr val="4B5563"/>
                </a:solidFill>
                <a:effectLst/>
                <a:uFillTx/>
                <a:latin typeface="Calibri"/>
                <a:ea typeface="Calibri"/>
              </a:rPr>
              <a:t>Safety checks</a:t>
            </a:r>
            <a:endParaRPr lang="en-US" sz="1300" b="0" u="none" strike="noStrike" dirty="0">
              <a:solidFill>
                <a:srgbClr val="000000"/>
              </a:solidFill>
              <a:effectLst/>
              <a:uFillTx/>
              <a:latin typeface="Arial"/>
            </a:endParaRPr>
          </a:p>
        </p:txBody>
      </p:sp>
      <p:sp>
        <p:nvSpPr>
          <p:cNvPr id="280" name="Shape 26"/>
          <p:cNvSpPr/>
          <p:nvPr/>
        </p:nvSpPr>
        <p:spPr>
          <a:xfrm>
            <a:off x="8298180" y="4595310"/>
            <a:ext cx="3268620" cy="40212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1" name="Text 27"/>
          <p:cNvSpPr/>
          <p:nvPr/>
        </p:nvSpPr>
        <p:spPr>
          <a:xfrm>
            <a:off x="8270820" y="3932280"/>
            <a:ext cx="301248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r>
              <a:rPr lang="en-US" sz="1400" dirty="0"/>
              <a:t>Impact trigger → GPS fetch → SMS to contacts.</a:t>
            </a:r>
            <a:endParaRPr lang="en-US" sz="1400" dirty="0">
              <a:effectLst/>
            </a:endParaRPr>
          </a:p>
        </p:txBody>
      </p:sp>
      <p:sp>
        <p:nvSpPr>
          <p:cNvPr id="282" name="Text 28"/>
          <p:cNvSpPr/>
          <p:nvPr/>
        </p:nvSpPr>
        <p:spPr>
          <a:xfrm>
            <a:off x="6794280" y="5350590"/>
            <a:ext cx="1384920" cy="511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00" b="1" u="none" strike="noStrike" dirty="0">
                <a:solidFill>
                  <a:srgbClr val="4B5563"/>
                </a:solidFill>
                <a:effectLst/>
                <a:uFillTx/>
                <a:latin typeface="Calibri"/>
                <a:ea typeface="Calibri"/>
              </a:rPr>
              <a:t>Redesign notes</a:t>
            </a:r>
            <a:endParaRPr lang="en-US" sz="1300" b="0" u="none" strike="noStrike" dirty="0">
              <a:solidFill>
                <a:srgbClr val="000000"/>
              </a:solidFill>
              <a:effectLst/>
              <a:uFillTx/>
              <a:latin typeface="Arial"/>
            </a:endParaRPr>
          </a:p>
        </p:txBody>
      </p:sp>
      <p:sp>
        <p:nvSpPr>
          <p:cNvPr id="283" name="Shape 29"/>
          <p:cNvSpPr/>
          <p:nvPr/>
        </p:nvSpPr>
        <p:spPr>
          <a:xfrm>
            <a:off x="8270730" y="5326380"/>
            <a:ext cx="3268620" cy="53577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sz="1400" dirty="0"/>
              <a:t>Improve vibration resistance; Add mounting clips in v2</a:t>
            </a:r>
            <a:r>
              <a:rPr lang="en-US" dirty="0"/>
              <a:t>.</a:t>
            </a:r>
            <a:endParaRPr lang="en-US" dirty="0">
              <a:effectLst/>
            </a:endParaRPr>
          </a:p>
        </p:txBody>
      </p:sp>
      <p:sp>
        <p:nvSpPr>
          <p:cNvPr id="284" name="Text 30"/>
          <p:cNvSpPr/>
          <p:nvPr/>
        </p:nvSpPr>
        <p:spPr>
          <a:xfrm>
            <a:off x="8270640" y="4636080"/>
            <a:ext cx="314064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r>
              <a:rPr lang="en-US" sz="1400" dirty="0"/>
              <a:t>Overvoltage protection; No sharp edges; Short-circuit tested.</a:t>
            </a:r>
            <a:endParaRPr lang="en-US" sz="1400" dirty="0">
              <a:effectLs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 name="Shape 0"/>
          <p:cNvSpPr/>
          <p:nvPr/>
        </p:nvSpPr>
        <p:spPr>
          <a:xfrm>
            <a:off x="0" y="0"/>
            <a:ext cx="12191400" cy="566640"/>
          </a:xfrm>
          <a:prstGeom prst="rect">
            <a:avLst/>
          </a:prstGeom>
          <a:solidFill>
            <a:srgbClr val="0B2E4A"/>
          </a:solidFill>
          <a:ln w="12700">
            <a:solidFill>
              <a:srgbClr val="0B2E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90" name="Shape 1"/>
          <p:cNvSpPr/>
          <p:nvPr/>
        </p:nvSpPr>
        <p:spPr>
          <a:xfrm>
            <a:off x="0" y="0"/>
            <a:ext cx="145800" cy="566640"/>
          </a:xfrm>
          <a:prstGeom prst="rect">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91" name="Text 2"/>
          <p:cNvSpPr/>
          <p:nvPr/>
        </p:nvSpPr>
        <p:spPr>
          <a:xfrm>
            <a:off x="594360" y="109800"/>
            <a:ext cx="1100268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400" b="1" u="none" strike="noStrike">
                <a:solidFill>
                  <a:srgbClr val="FFFFFF"/>
                </a:solidFill>
                <a:effectLst/>
                <a:uFillTx/>
                <a:latin typeface="Calibri"/>
                <a:ea typeface="Calibri"/>
              </a:rPr>
              <a:t>SoI Innovation Pipeline</a:t>
            </a:r>
            <a:endParaRPr lang="en-US" sz="1400" b="0" u="none" strike="noStrike">
              <a:solidFill>
                <a:srgbClr val="000000"/>
              </a:solidFill>
              <a:effectLst/>
              <a:uFillTx/>
              <a:latin typeface="Arial"/>
            </a:endParaRPr>
          </a:p>
        </p:txBody>
      </p:sp>
      <p:sp>
        <p:nvSpPr>
          <p:cNvPr id="292" name="Shape 3"/>
          <p:cNvSpPr/>
          <p:nvPr/>
        </p:nvSpPr>
        <p:spPr>
          <a:xfrm>
            <a:off x="594360" y="658440"/>
            <a:ext cx="1919880" cy="292320"/>
          </a:xfrm>
          <a:prstGeom prst="roundRect">
            <a:avLst>
              <a:gd name="adj" fmla="val 16667"/>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93" name="Text 4"/>
          <p:cNvSpPr/>
          <p:nvPr/>
        </p:nvSpPr>
        <p:spPr>
          <a:xfrm>
            <a:off x="594360" y="704160"/>
            <a:ext cx="19198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SCOPE</a:t>
            </a:r>
            <a:endParaRPr lang="en-US" sz="1200" b="0" u="none" strike="noStrike">
              <a:solidFill>
                <a:srgbClr val="000000"/>
              </a:solidFill>
              <a:effectLst/>
              <a:uFillTx/>
              <a:latin typeface="Arial"/>
            </a:endParaRPr>
          </a:p>
        </p:txBody>
      </p:sp>
      <p:sp>
        <p:nvSpPr>
          <p:cNvPr id="294" name="Text 5"/>
          <p:cNvSpPr/>
          <p:nvPr/>
        </p:nvSpPr>
        <p:spPr>
          <a:xfrm>
            <a:off x="594360" y="822960"/>
            <a:ext cx="11002680" cy="54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3200" b="1" u="none" strike="noStrike">
                <a:solidFill>
                  <a:srgbClr val="111827"/>
                </a:solidFill>
                <a:effectLst/>
                <a:uFillTx/>
                <a:latin typeface="Calibri"/>
                <a:ea typeface="Calibri"/>
              </a:rPr>
              <a:t>Prototype Scope, Requirements &amp; Constraints</a:t>
            </a:r>
            <a:endParaRPr lang="en-US" sz="3200" b="0" u="none" strike="noStrike">
              <a:solidFill>
                <a:srgbClr val="000000"/>
              </a:solidFill>
              <a:effectLst/>
              <a:uFillTx/>
              <a:latin typeface="Arial"/>
            </a:endParaRPr>
          </a:p>
        </p:txBody>
      </p:sp>
      <p:sp>
        <p:nvSpPr>
          <p:cNvPr id="296" name="Shape 7"/>
          <p:cNvSpPr/>
          <p:nvPr/>
        </p:nvSpPr>
        <p:spPr>
          <a:xfrm>
            <a:off x="472500" y="1911060"/>
            <a:ext cx="5623200" cy="4525920"/>
          </a:xfrm>
          <a:prstGeom prst="roundRect">
            <a:avLst>
              <a:gd name="adj" fmla="val 16667"/>
            </a:avLst>
          </a:prstGeom>
          <a:solidFill>
            <a:srgbClr val="FFFFFF"/>
          </a:solidFill>
          <a:ln w="12700">
            <a:solidFill>
              <a:srgbClr val="E5E7EB"/>
            </a:solidFill>
            <a:round/>
          </a:ln>
          <a:effectLst>
            <a:outerShdw blurRad="28080" dist="19855" dir="2700000" algn="bl" rotWithShape="0">
              <a:srgbClr val="000000">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97" name="Text 8"/>
          <p:cNvSpPr/>
          <p:nvPr/>
        </p:nvSpPr>
        <p:spPr>
          <a:xfrm>
            <a:off x="914400" y="1947240"/>
            <a:ext cx="511128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600" b="1" u="none" strike="noStrike" dirty="0">
                <a:solidFill>
                  <a:srgbClr val="111827"/>
                </a:solidFill>
                <a:effectLst/>
                <a:uFillTx/>
                <a:latin typeface="Calibri"/>
                <a:ea typeface="Calibri"/>
              </a:rPr>
              <a:t>Scope (fill)</a:t>
            </a:r>
            <a:endParaRPr lang="en-US" sz="1600" b="0" u="none" strike="noStrike" dirty="0">
              <a:solidFill>
                <a:srgbClr val="000000"/>
              </a:solidFill>
              <a:effectLst/>
              <a:uFillTx/>
              <a:latin typeface="Arial"/>
            </a:endParaRPr>
          </a:p>
        </p:txBody>
      </p:sp>
      <p:sp>
        <p:nvSpPr>
          <p:cNvPr id="298" name="Text 9"/>
          <p:cNvSpPr/>
          <p:nvPr/>
        </p:nvSpPr>
        <p:spPr>
          <a:xfrm>
            <a:off x="850320" y="2377440"/>
            <a:ext cx="5111280" cy="3849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10000"/>
              </a:lnSpc>
              <a:tabLst>
                <a:tab pos="0" algn="l"/>
              </a:tabLst>
            </a:pPr>
            <a:endParaRPr lang="en-US" sz="1300" b="0" u="none" strike="noStrike">
              <a:solidFill>
                <a:schemeClr val="dk1"/>
              </a:solidFill>
              <a:effectLst/>
              <a:uFillTx/>
              <a:latin typeface="Calibri"/>
            </a:endParaRPr>
          </a:p>
        </p:txBody>
      </p:sp>
      <p:sp>
        <p:nvSpPr>
          <p:cNvPr id="299" name="Text 10"/>
          <p:cNvSpPr/>
          <p:nvPr/>
        </p:nvSpPr>
        <p:spPr>
          <a:xfrm>
            <a:off x="914400" y="2266920"/>
            <a:ext cx="1099595" cy="869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00" b="1" u="none" strike="noStrike" dirty="0">
                <a:solidFill>
                  <a:srgbClr val="4B5563"/>
                </a:solidFill>
                <a:effectLst/>
                <a:uFillTx/>
                <a:latin typeface="Calibri"/>
                <a:ea typeface="Calibri"/>
              </a:rPr>
              <a:t>In scope</a:t>
            </a:r>
            <a:endParaRPr lang="en-US" sz="1300" b="0" u="none" strike="noStrike" dirty="0">
              <a:solidFill>
                <a:srgbClr val="000000"/>
              </a:solidFill>
              <a:effectLst/>
              <a:uFillTx/>
              <a:latin typeface="Arial"/>
            </a:endParaRPr>
          </a:p>
        </p:txBody>
      </p:sp>
      <p:sp>
        <p:nvSpPr>
          <p:cNvPr id="300" name="Shape 11"/>
          <p:cNvSpPr/>
          <p:nvPr/>
        </p:nvSpPr>
        <p:spPr>
          <a:xfrm>
            <a:off x="2409480" y="2358720"/>
            <a:ext cx="3488040" cy="72216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01" name="Text 12"/>
          <p:cNvSpPr/>
          <p:nvPr/>
        </p:nvSpPr>
        <p:spPr>
          <a:xfrm>
            <a:off x="2514240" y="2596680"/>
            <a:ext cx="3273840" cy="438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tabLst>
                <a:tab pos="0" algn="l"/>
              </a:tabLst>
            </a:pPr>
            <a:r>
              <a:rPr lang="en-US" sz="1400" dirty="0"/>
              <a:t>Sensor detection with severity; GPS/GSM alerting; Enclosure mock; Basic health monitoring.</a:t>
            </a:r>
          </a:p>
          <a:p>
            <a:pPr defTabSz="914400">
              <a:lnSpc>
                <a:spcPct val="100000"/>
              </a:lnSpc>
              <a:tabLst>
                <a:tab pos="0" algn="l"/>
              </a:tabLst>
            </a:pPr>
            <a:endParaRPr lang="en-US" sz="1300" b="0" u="none" strike="noStrike" dirty="0">
              <a:solidFill>
                <a:srgbClr val="000000"/>
              </a:solidFill>
              <a:effectLst/>
              <a:uFillTx/>
              <a:latin typeface="Arial"/>
            </a:endParaRPr>
          </a:p>
        </p:txBody>
      </p:sp>
      <p:sp>
        <p:nvSpPr>
          <p:cNvPr id="302" name="Text 13"/>
          <p:cNvSpPr/>
          <p:nvPr/>
        </p:nvSpPr>
        <p:spPr>
          <a:xfrm>
            <a:off x="914400" y="3136320"/>
            <a:ext cx="1494720" cy="62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00" b="1" u="none" strike="noStrike">
                <a:solidFill>
                  <a:srgbClr val="4B5563"/>
                </a:solidFill>
                <a:effectLst/>
                <a:uFillTx/>
                <a:latin typeface="Calibri"/>
                <a:ea typeface="Calibri"/>
              </a:rPr>
              <a:t>Out of scope</a:t>
            </a:r>
            <a:endParaRPr lang="en-US" sz="1300" b="0" u="none" strike="noStrike">
              <a:solidFill>
                <a:srgbClr val="000000"/>
              </a:solidFill>
              <a:effectLst/>
              <a:uFillTx/>
              <a:latin typeface="Arial"/>
            </a:endParaRPr>
          </a:p>
        </p:txBody>
      </p:sp>
      <p:sp>
        <p:nvSpPr>
          <p:cNvPr id="303" name="Shape 14"/>
          <p:cNvSpPr/>
          <p:nvPr/>
        </p:nvSpPr>
        <p:spPr>
          <a:xfrm>
            <a:off x="2409480" y="3191400"/>
            <a:ext cx="3488040" cy="62136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04" name="Text 15"/>
          <p:cNvSpPr/>
          <p:nvPr/>
        </p:nvSpPr>
        <p:spPr>
          <a:xfrm>
            <a:off x="2497935" y="3415371"/>
            <a:ext cx="3268800" cy="53264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tabLst>
                <a:tab pos="0" algn="l"/>
              </a:tabLst>
            </a:pPr>
            <a:r>
              <a:rPr lang="en-US" sz="1400" dirty="0"/>
              <a:t>Two-way comms; Battery backup; Cloud integration; Real vehicle pilots.</a:t>
            </a:r>
          </a:p>
          <a:p>
            <a:pPr defTabSz="914400">
              <a:lnSpc>
                <a:spcPct val="100000"/>
              </a:lnSpc>
              <a:tabLst>
                <a:tab pos="0" algn="l"/>
              </a:tabLst>
            </a:pPr>
            <a:endParaRPr lang="en-US" sz="1300" b="0" u="none" strike="noStrike" dirty="0">
              <a:solidFill>
                <a:srgbClr val="000000"/>
              </a:solidFill>
              <a:effectLst/>
              <a:uFillTx/>
              <a:latin typeface="Arial"/>
            </a:endParaRPr>
          </a:p>
        </p:txBody>
      </p:sp>
      <p:sp>
        <p:nvSpPr>
          <p:cNvPr id="305" name="Text 16"/>
          <p:cNvSpPr/>
          <p:nvPr/>
        </p:nvSpPr>
        <p:spPr>
          <a:xfrm>
            <a:off x="882360" y="4059720"/>
            <a:ext cx="1494720" cy="62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00" b="1" u="none" strike="noStrike" dirty="0">
                <a:solidFill>
                  <a:srgbClr val="4B5563"/>
                </a:solidFill>
                <a:effectLst/>
                <a:uFillTx/>
                <a:latin typeface="Calibri"/>
                <a:ea typeface="Calibri"/>
              </a:rPr>
              <a:t>Assumptions</a:t>
            </a:r>
            <a:endParaRPr lang="en-US" sz="1300" b="0" u="none" strike="noStrike" dirty="0">
              <a:solidFill>
                <a:srgbClr val="000000"/>
              </a:solidFill>
              <a:effectLst/>
              <a:uFillTx/>
              <a:latin typeface="Arial"/>
            </a:endParaRPr>
          </a:p>
        </p:txBody>
      </p:sp>
      <p:sp>
        <p:nvSpPr>
          <p:cNvPr id="306" name="Shape 17"/>
          <p:cNvSpPr/>
          <p:nvPr/>
        </p:nvSpPr>
        <p:spPr>
          <a:xfrm>
            <a:off x="2409120" y="3993736"/>
            <a:ext cx="3552120" cy="76824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07" name="Text 18"/>
          <p:cNvSpPr/>
          <p:nvPr/>
        </p:nvSpPr>
        <p:spPr>
          <a:xfrm>
            <a:off x="2523600" y="4086900"/>
            <a:ext cx="3296160" cy="712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tabLst>
                <a:tab pos="0" algn="l"/>
              </a:tabLst>
            </a:pPr>
            <a:r>
              <a:rPr lang="en-US" sz="1400" dirty="0"/>
              <a:t>Access to GSM network/SIM; Simulated environments; Team hardware skills.</a:t>
            </a:r>
          </a:p>
          <a:p>
            <a:pPr defTabSz="914400">
              <a:lnSpc>
                <a:spcPct val="100000"/>
              </a:lnSpc>
              <a:tabLst>
                <a:tab pos="0" algn="l"/>
              </a:tabLst>
            </a:pPr>
            <a:endParaRPr lang="en-US" sz="1300" b="0" u="none" strike="noStrike" dirty="0">
              <a:solidFill>
                <a:srgbClr val="000000"/>
              </a:solidFill>
              <a:effectLst/>
              <a:uFillTx/>
              <a:latin typeface="Arial"/>
            </a:endParaRPr>
          </a:p>
        </p:txBody>
      </p:sp>
      <p:sp>
        <p:nvSpPr>
          <p:cNvPr id="308" name="Text 19"/>
          <p:cNvSpPr/>
          <p:nvPr/>
        </p:nvSpPr>
        <p:spPr>
          <a:xfrm>
            <a:off x="882360" y="5097470"/>
            <a:ext cx="1494720" cy="62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00" b="1" u="none" strike="noStrike" dirty="0">
                <a:solidFill>
                  <a:srgbClr val="4B5563"/>
                </a:solidFill>
                <a:effectLst/>
                <a:uFillTx/>
                <a:latin typeface="Calibri"/>
                <a:ea typeface="Calibri"/>
              </a:rPr>
              <a:t>Constraints</a:t>
            </a:r>
            <a:endParaRPr lang="en-US" sz="1300" b="0" u="none" strike="noStrike" dirty="0">
              <a:solidFill>
                <a:srgbClr val="000000"/>
              </a:solidFill>
              <a:effectLst/>
              <a:uFillTx/>
              <a:latin typeface="Arial"/>
            </a:endParaRPr>
          </a:p>
        </p:txBody>
      </p:sp>
      <p:sp>
        <p:nvSpPr>
          <p:cNvPr id="309" name="Shape 20"/>
          <p:cNvSpPr/>
          <p:nvPr/>
        </p:nvSpPr>
        <p:spPr>
          <a:xfrm>
            <a:off x="2409480" y="5097470"/>
            <a:ext cx="3488040" cy="93757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10" name="Text 21"/>
          <p:cNvSpPr/>
          <p:nvPr/>
        </p:nvSpPr>
        <p:spPr>
          <a:xfrm>
            <a:off x="2497935" y="5059746"/>
            <a:ext cx="3520440" cy="89740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r>
              <a:rPr lang="en-US" sz="1400" dirty="0"/>
              <a:t>Time: 3 weeks to submission; Budget: ₹3000 max; Safety: No high-voltage; Privacy: Dummy data only.</a:t>
            </a:r>
            <a:endParaRPr lang="en-US" sz="1400" dirty="0">
              <a:effectLst/>
            </a:endParaRPr>
          </a:p>
        </p:txBody>
      </p:sp>
      <p:sp>
        <p:nvSpPr>
          <p:cNvPr id="311" name="Shape 22"/>
          <p:cNvSpPr/>
          <p:nvPr/>
        </p:nvSpPr>
        <p:spPr>
          <a:xfrm>
            <a:off x="6324900" y="1874957"/>
            <a:ext cx="5394600" cy="4525920"/>
          </a:xfrm>
          <a:prstGeom prst="roundRect">
            <a:avLst>
              <a:gd name="adj" fmla="val 16667"/>
            </a:avLst>
          </a:prstGeom>
          <a:solidFill>
            <a:srgbClr val="FFFFFF"/>
          </a:solidFill>
          <a:ln w="12700">
            <a:solidFill>
              <a:srgbClr val="E5E7EB"/>
            </a:solidFill>
            <a:round/>
          </a:ln>
          <a:effectLst>
            <a:outerShdw blurRad="28080" dist="19855" dir="2700000" algn="bl" rotWithShape="0">
              <a:srgbClr val="000000">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12" name="Text 23"/>
          <p:cNvSpPr/>
          <p:nvPr/>
        </p:nvSpPr>
        <p:spPr>
          <a:xfrm>
            <a:off x="6748200" y="2039040"/>
            <a:ext cx="488268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600" b="1" u="none" strike="noStrike">
                <a:solidFill>
                  <a:srgbClr val="111827"/>
                </a:solidFill>
                <a:effectLst/>
                <a:uFillTx/>
                <a:latin typeface="Calibri"/>
                <a:ea typeface="Calibri"/>
              </a:rPr>
              <a:t>Acceptance checks (3–5)</a:t>
            </a:r>
            <a:endParaRPr lang="en-US" sz="1600" b="0" u="none" strike="noStrike">
              <a:solidFill>
                <a:srgbClr val="000000"/>
              </a:solidFill>
              <a:effectLst/>
              <a:uFillTx/>
              <a:latin typeface="Arial"/>
            </a:endParaRPr>
          </a:p>
        </p:txBody>
      </p:sp>
      <p:sp>
        <p:nvSpPr>
          <p:cNvPr id="313" name="Text 24"/>
          <p:cNvSpPr/>
          <p:nvPr/>
        </p:nvSpPr>
        <p:spPr>
          <a:xfrm>
            <a:off x="6748200" y="2377440"/>
            <a:ext cx="4882680" cy="3849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dirty="0"/>
          </a:p>
          <a:p>
            <a:r>
              <a:rPr lang="en-US" dirty="0"/>
              <a:t>1. System detects G-force &gt;15g in ≤2s (p95).</a:t>
            </a:r>
          </a:p>
          <a:p>
            <a:r>
              <a:rPr lang="en-US" dirty="0"/>
              <a:t>2. GPS location accurate to ≤10m (p95).</a:t>
            </a:r>
          </a:p>
          <a:p>
            <a:r>
              <a:rPr lang="en-US" dirty="0"/>
              <a:t>3. SMS alert success rate ≥98%.</a:t>
            </a:r>
          </a:p>
          <a:p>
            <a:r>
              <a:rPr lang="en-US" dirty="0"/>
              <a:t>4. Enclosure survives 50cm drop without damage.</a:t>
            </a:r>
          </a:p>
          <a:p>
            <a:r>
              <a:rPr lang="en-US" dirty="0"/>
              <a:t>5. Power consumption &lt;500mA during operation.</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 name="Shape 0"/>
          <p:cNvSpPr/>
          <p:nvPr/>
        </p:nvSpPr>
        <p:spPr>
          <a:xfrm>
            <a:off x="0" y="0"/>
            <a:ext cx="12191400" cy="566640"/>
          </a:xfrm>
          <a:prstGeom prst="rect">
            <a:avLst/>
          </a:prstGeom>
          <a:solidFill>
            <a:srgbClr val="0B2E4A"/>
          </a:solidFill>
          <a:ln w="12700">
            <a:solidFill>
              <a:srgbClr val="0B2E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18" name="Shape 1"/>
          <p:cNvSpPr/>
          <p:nvPr/>
        </p:nvSpPr>
        <p:spPr>
          <a:xfrm>
            <a:off x="0" y="0"/>
            <a:ext cx="145800" cy="566640"/>
          </a:xfrm>
          <a:prstGeom prst="rect">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19" name="Text 2"/>
          <p:cNvSpPr/>
          <p:nvPr/>
        </p:nvSpPr>
        <p:spPr>
          <a:xfrm>
            <a:off x="594360" y="109800"/>
            <a:ext cx="1100268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400" b="1" u="none" strike="noStrike">
                <a:solidFill>
                  <a:srgbClr val="FFFFFF"/>
                </a:solidFill>
                <a:effectLst/>
                <a:uFillTx/>
                <a:latin typeface="Calibri"/>
                <a:ea typeface="Calibri"/>
              </a:rPr>
              <a:t>SoI Innovation Pipeline</a:t>
            </a:r>
            <a:endParaRPr lang="en-US" sz="1400" b="0" u="none" strike="noStrike">
              <a:solidFill>
                <a:srgbClr val="000000"/>
              </a:solidFill>
              <a:effectLst/>
              <a:uFillTx/>
              <a:latin typeface="Arial"/>
            </a:endParaRPr>
          </a:p>
        </p:txBody>
      </p:sp>
      <p:sp>
        <p:nvSpPr>
          <p:cNvPr id="320" name="Shape 3"/>
          <p:cNvSpPr/>
          <p:nvPr/>
        </p:nvSpPr>
        <p:spPr>
          <a:xfrm>
            <a:off x="594360" y="658440"/>
            <a:ext cx="1919880" cy="292320"/>
          </a:xfrm>
          <a:prstGeom prst="roundRect">
            <a:avLst>
              <a:gd name="adj" fmla="val 16667"/>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21" name="Text 4"/>
          <p:cNvSpPr/>
          <p:nvPr/>
        </p:nvSpPr>
        <p:spPr>
          <a:xfrm>
            <a:off x="594360" y="704160"/>
            <a:ext cx="19198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DESIGN</a:t>
            </a:r>
            <a:endParaRPr lang="en-US" sz="1200" b="0" u="none" strike="noStrike">
              <a:solidFill>
                <a:srgbClr val="000000"/>
              </a:solidFill>
              <a:effectLst/>
              <a:uFillTx/>
              <a:latin typeface="Arial"/>
            </a:endParaRPr>
          </a:p>
        </p:txBody>
      </p:sp>
      <p:sp>
        <p:nvSpPr>
          <p:cNvPr id="322" name="Text 5"/>
          <p:cNvSpPr/>
          <p:nvPr/>
        </p:nvSpPr>
        <p:spPr>
          <a:xfrm>
            <a:off x="594360" y="822960"/>
            <a:ext cx="11002680" cy="54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3200" b="1" u="none" strike="noStrike">
                <a:solidFill>
                  <a:srgbClr val="111827"/>
                </a:solidFill>
                <a:effectLst/>
                <a:uFillTx/>
                <a:latin typeface="Calibri"/>
                <a:ea typeface="Calibri"/>
              </a:rPr>
              <a:t>Prototype System Overview — Architecture / Design</a:t>
            </a:r>
            <a:endParaRPr lang="en-US" sz="3200" b="0" u="none" strike="noStrike">
              <a:solidFill>
                <a:srgbClr val="000000"/>
              </a:solidFill>
              <a:effectLst/>
              <a:uFillTx/>
              <a:latin typeface="Arial"/>
            </a:endParaRPr>
          </a:p>
        </p:txBody>
      </p:sp>
      <p:sp>
        <p:nvSpPr>
          <p:cNvPr id="323" name="Text 6"/>
          <p:cNvSpPr/>
          <p:nvPr/>
        </p:nvSpPr>
        <p:spPr>
          <a:xfrm>
            <a:off x="594360" y="1417320"/>
            <a:ext cx="1100268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US" sz="1600" b="0" u="none" strike="noStrike" dirty="0">
              <a:solidFill>
                <a:srgbClr val="000000"/>
              </a:solidFill>
              <a:effectLst/>
              <a:uFillTx/>
              <a:latin typeface="Arial"/>
            </a:endParaRPr>
          </a:p>
        </p:txBody>
      </p:sp>
      <p:sp>
        <p:nvSpPr>
          <p:cNvPr id="324" name="Shape 7"/>
          <p:cNvSpPr/>
          <p:nvPr/>
        </p:nvSpPr>
        <p:spPr>
          <a:xfrm>
            <a:off x="594360" y="1426320"/>
            <a:ext cx="10972440" cy="4802815"/>
          </a:xfrm>
          <a:prstGeom prst="roundRect">
            <a:avLst>
              <a:gd name="adj" fmla="val 16667"/>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dirty="0">
              <a:solidFill>
                <a:srgbClr val="000000"/>
              </a:solidFill>
              <a:effectLst/>
              <a:uFillTx/>
              <a:latin typeface="Arial"/>
            </a:endParaRPr>
          </a:p>
        </p:txBody>
      </p:sp>
      <p:sp>
        <p:nvSpPr>
          <p:cNvPr id="325" name="Text 8"/>
          <p:cNvSpPr/>
          <p:nvPr/>
        </p:nvSpPr>
        <p:spPr>
          <a:xfrm>
            <a:off x="777240" y="2030040"/>
            <a:ext cx="10606680" cy="4077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endParaRPr lang="en-US" sz="1400" b="0" u="none" strike="noStrike" dirty="0">
              <a:solidFill>
                <a:srgbClr val="000000"/>
              </a:solidFill>
              <a:effectLst/>
              <a:uFillTx/>
              <a:latin typeface="Arial"/>
            </a:endParaRPr>
          </a:p>
        </p:txBody>
      </p:sp>
      <p:sp>
        <p:nvSpPr>
          <p:cNvPr id="329" name="Shape 12"/>
          <p:cNvSpPr/>
          <p:nvPr/>
        </p:nvSpPr>
        <p:spPr>
          <a:xfrm>
            <a:off x="0" y="6565320"/>
            <a:ext cx="12191400" cy="29232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30" name="Text 13"/>
          <p:cNvSpPr/>
          <p:nvPr/>
        </p:nvSpPr>
        <p:spPr>
          <a:xfrm>
            <a:off x="594360" y="6620400"/>
            <a:ext cx="110026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6B7280"/>
                </a:solidFill>
                <a:effectLst/>
                <a:uFillTx/>
                <a:latin typeface="Calibri"/>
                <a:ea typeface="Calibri"/>
              </a:rPr>
              <a:t>SoI Prototype Stage — Submission Deck</a:t>
            </a:r>
            <a:endParaRPr lang="en-US" sz="1000" b="0" u="none" strike="noStrike">
              <a:solidFill>
                <a:srgbClr val="000000"/>
              </a:solidFill>
              <a:effectLst/>
              <a:uFillTx/>
              <a:latin typeface="Arial"/>
            </a:endParaRPr>
          </a:p>
        </p:txBody>
      </p:sp>
      <p:pic>
        <p:nvPicPr>
          <p:cNvPr id="3" name="Picture 2">
            <a:extLst>
              <a:ext uri="{FF2B5EF4-FFF2-40B4-BE49-F238E27FC236}">
                <a16:creationId xmlns:a16="http://schemas.microsoft.com/office/drawing/2014/main" id="{7C4D7EF8-6233-D983-A87A-FA88259481E8}"/>
              </a:ext>
            </a:extLst>
          </p:cNvPr>
          <p:cNvPicPr>
            <a:picLocks noChangeAspect="1"/>
          </p:cNvPicPr>
          <p:nvPr/>
        </p:nvPicPr>
        <p:blipFill>
          <a:blip r:embed="rId3"/>
          <a:stretch>
            <a:fillRect/>
          </a:stretch>
        </p:blipFill>
        <p:spPr>
          <a:xfrm>
            <a:off x="3146322" y="1627560"/>
            <a:ext cx="5171767" cy="4462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 name="Shape 0"/>
          <p:cNvSpPr/>
          <p:nvPr/>
        </p:nvSpPr>
        <p:spPr>
          <a:xfrm>
            <a:off x="0" y="0"/>
            <a:ext cx="12191400" cy="566640"/>
          </a:xfrm>
          <a:prstGeom prst="rect">
            <a:avLst/>
          </a:prstGeom>
          <a:solidFill>
            <a:srgbClr val="0B2E4A"/>
          </a:solidFill>
          <a:ln w="12700">
            <a:solidFill>
              <a:srgbClr val="0B2E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33" name="Shape 1"/>
          <p:cNvSpPr/>
          <p:nvPr/>
        </p:nvSpPr>
        <p:spPr>
          <a:xfrm>
            <a:off x="0" y="0"/>
            <a:ext cx="145800" cy="566640"/>
          </a:xfrm>
          <a:prstGeom prst="rect">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34" name="Text 2"/>
          <p:cNvSpPr/>
          <p:nvPr/>
        </p:nvSpPr>
        <p:spPr>
          <a:xfrm>
            <a:off x="594360" y="109800"/>
            <a:ext cx="1100268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400" b="1" u="none" strike="noStrike">
                <a:solidFill>
                  <a:srgbClr val="FFFFFF"/>
                </a:solidFill>
                <a:effectLst/>
                <a:uFillTx/>
                <a:latin typeface="Calibri"/>
                <a:ea typeface="Calibri"/>
              </a:rPr>
              <a:t>SoI Innovation Pipeline</a:t>
            </a:r>
            <a:endParaRPr lang="en-US" sz="1400" b="0" u="none" strike="noStrike">
              <a:solidFill>
                <a:srgbClr val="000000"/>
              </a:solidFill>
              <a:effectLst/>
              <a:uFillTx/>
              <a:latin typeface="Arial"/>
            </a:endParaRPr>
          </a:p>
        </p:txBody>
      </p:sp>
      <p:sp>
        <p:nvSpPr>
          <p:cNvPr id="335" name="Shape 3"/>
          <p:cNvSpPr/>
          <p:nvPr/>
        </p:nvSpPr>
        <p:spPr>
          <a:xfrm>
            <a:off x="594360" y="658440"/>
            <a:ext cx="1919880" cy="292320"/>
          </a:xfrm>
          <a:prstGeom prst="roundRect">
            <a:avLst>
              <a:gd name="adj" fmla="val 16667"/>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36" name="Text 4"/>
          <p:cNvSpPr/>
          <p:nvPr/>
        </p:nvSpPr>
        <p:spPr>
          <a:xfrm>
            <a:off x="594360" y="704160"/>
            <a:ext cx="19198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BUILD</a:t>
            </a:r>
            <a:endParaRPr lang="en-US" sz="1200" b="0" u="none" strike="noStrike">
              <a:solidFill>
                <a:srgbClr val="000000"/>
              </a:solidFill>
              <a:effectLst/>
              <a:uFillTx/>
              <a:latin typeface="Arial"/>
            </a:endParaRPr>
          </a:p>
        </p:txBody>
      </p:sp>
      <p:sp>
        <p:nvSpPr>
          <p:cNvPr id="337" name="Text 5"/>
          <p:cNvSpPr/>
          <p:nvPr/>
        </p:nvSpPr>
        <p:spPr>
          <a:xfrm>
            <a:off x="594360" y="834535"/>
            <a:ext cx="11002680" cy="54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3200" b="1" u="none" strike="noStrike">
                <a:solidFill>
                  <a:srgbClr val="111827"/>
                </a:solidFill>
                <a:effectLst/>
                <a:uFillTx/>
                <a:latin typeface="Calibri"/>
                <a:ea typeface="Calibri"/>
              </a:rPr>
              <a:t>Prototype Build Plan &amp; Timeline (Sprints)</a:t>
            </a:r>
            <a:endParaRPr lang="en-US" sz="3200" b="0" u="none" strike="noStrike">
              <a:solidFill>
                <a:srgbClr val="000000"/>
              </a:solidFill>
              <a:effectLst/>
              <a:uFillTx/>
              <a:latin typeface="Arial"/>
            </a:endParaRPr>
          </a:p>
        </p:txBody>
      </p:sp>
      <p:sp>
        <p:nvSpPr>
          <p:cNvPr id="339" name="Shape 7"/>
          <p:cNvSpPr/>
          <p:nvPr/>
        </p:nvSpPr>
        <p:spPr>
          <a:xfrm>
            <a:off x="594360" y="1920240"/>
            <a:ext cx="1974600" cy="456840"/>
          </a:xfrm>
          <a:prstGeom prst="rect">
            <a:avLst/>
          </a:prstGeom>
          <a:solidFill>
            <a:srgbClr val="0B2E4A"/>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40" name="Text 8"/>
          <p:cNvSpPr/>
          <p:nvPr/>
        </p:nvSpPr>
        <p:spPr>
          <a:xfrm>
            <a:off x="704160" y="2011680"/>
            <a:ext cx="175536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200" b="1" u="none" strike="noStrike">
                <a:solidFill>
                  <a:srgbClr val="FFFFFF"/>
                </a:solidFill>
                <a:effectLst/>
                <a:uFillTx/>
                <a:latin typeface="Calibri"/>
                <a:ea typeface="Calibri"/>
              </a:rPr>
              <a:t>Sprint / Week</a:t>
            </a:r>
            <a:endParaRPr lang="en-US" sz="1200" b="0" u="none" strike="noStrike">
              <a:solidFill>
                <a:srgbClr val="000000"/>
              </a:solidFill>
              <a:effectLst/>
              <a:uFillTx/>
              <a:latin typeface="Arial"/>
            </a:endParaRPr>
          </a:p>
        </p:txBody>
      </p:sp>
      <p:sp>
        <p:nvSpPr>
          <p:cNvPr id="341" name="Shape 9"/>
          <p:cNvSpPr/>
          <p:nvPr/>
        </p:nvSpPr>
        <p:spPr>
          <a:xfrm>
            <a:off x="2569320" y="1920240"/>
            <a:ext cx="4608360" cy="456840"/>
          </a:xfrm>
          <a:prstGeom prst="rect">
            <a:avLst/>
          </a:prstGeom>
          <a:solidFill>
            <a:srgbClr val="0B2E4A"/>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42" name="Text 10"/>
          <p:cNvSpPr/>
          <p:nvPr/>
        </p:nvSpPr>
        <p:spPr>
          <a:xfrm>
            <a:off x="2679120" y="2011680"/>
            <a:ext cx="438876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200" b="1" u="none" strike="noStrike">
                <a:solidFill>
                  <a:srgbClr val="FFFFFF"/>
                </a:solidFill>
                <a:effectLst/>
                <a:uFillTx/>
                <a:latin typeface="Calibri"/>
                <a:ea typeface="Calibri"/>
              </a:rPr>
              <a:t>Key tasks &amp; deliverables</a:t>
            </a:r>
            <a:endParaRPr lang="en-US" sz="1200" b="0" u="none" strike="noStrike">
              <a:solidFill>
                <a:srgbClr val="000000"/>
              </a:solidFill>
              <a:effectLst/>
              <a:uFillTx/>
              <a:latin typeface="Arial"/>
            </a:endParaRPr>
          </a:p>
        </p:txBody>
      </p:sp>
      <p:sp>
        <p:nvSpPr>
          <p:cNvPr id="343" name="Shape 11"/>
          <p:cNvSpPr/>
          <p:nvPr/>
        </p:nvSpPr>
        <p:spPr>
          <a:xfrm>
            <a:off x="7178040" y="1920240"/>
            <a:ext cx="2413800" cy="456840"/>
          </a:xfrm>
          <a:prstGeom prst="rect">
            <a:avLst/>
          </a:prstGeom>
          <a:solidFill>
            <a:srgbClr val="0B2E4A"/>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44" name="Text 12"/>
          <p:cNvSpPr/>
          <p:nvPr/>
        </p:nvSpPr>
        <p:spPr>
          <a:xfrm>
            <a:off x="7287840" y="2011680"/>
            <a:ext cx="219420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200" b="1" u="none" strike="noStrike">
                <a:solidFill>
                  <a:srgbClr val="FFFFFF"/>
                </a:solidFill>
                <a:effectLst/>
                <a:uFillTx/>
                <a:latin typeface="Calibri"/>
                <a:ea typeface="Calibri"/>
              </a:rPr>
              <a:t>Owner(s)</a:t>
            </a:r>
            <a:endParaRPr lang="en-US" sz="1200" b="0" u="none" strike="noStrike">
              <a:solidFill>
                <a:srgbClr val="000000"/>
              </a:solidFill>
              <a:effectLst/>
              <a:uFillTx/>
              <a:latin typeface="Arial"/>
            </a:endParaRPr>
          </a:p>
        </p:txBody>
      </p:sp>
      <p:sp>
        <p:nvSpPr>
          <p:cNvPr id="345" name="Shape 13"/>
          <p:cNvSpPr/>
          <p:nvPr/>
        </p:nvSpPr>
        <p:spPr>
          <a:xfrm>
            <a:off x="9592200" y="1920240"/>
            <a:ext cx="1974600" cy="456840"/>
          </a:xfrm>
          <a:prstGeom prst="rect">
            <a:avLst/>
          </a:prstGeom>
          <a:solidFill>
            <a:srgbClr val="0B2E4A"/>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46" name="Text 14"/>
          <p:cNvSpPr/>
          <p:nvPr/>
        </p:nvSpPr>
        <p:spPr>
          <a:xfrm>
            <a:off x="9701640" y="2011680"/>
            <a:ext cx="175536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200" b="1" u="none" strike="noStrike">
                <a:solidFill>
                  <a:srgbClr val="FFFFFF"/>
                </a:solidFill>
                <a:effectLst/>
                <a:uFillTx/>
                <a:latin typeface="Calibri"/>
                <a:ea typeface="Calibri"/>
              </a:rPr>
              <a:t>Status</a:t>
            </a:r>
            <a:endParaRPr lang="en-US" sz="1200" b="0" u="none" strike="noStrike">
              <a:solidFill>
                <a:srgbClr val="000000"/>
              </a:solidFill>
              <a:effectLst/>
              <a:uFillTx/>
              <a:latin typeface="Arial"/>
            </a:endParaRPr>
          </a:p>
        </p:txBody>
      </p:sp>
      <p:sp>
        <p:nvSpPr>
          <p:cNvPr id="347" name="Shape 15"/>
          <p:cNvSpPr/>
          <p:nvPr/>
        </p:nvSpPr>
        <p:spPr>
          <a:xfrm>
            <a:off x="594360" y="2377440"/>
            <a:ext cx="1974600" cy="95976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a:t>Sprint 1 / Week 1</a:t>
            </a:r>
            <a:endParaRPr lang="en-IN">
              <a:effectLst/>
            </a:endParaRPr>
          </a:p>
        </p:txBody>
      </p:sp>
      <p:sp>
        <p:nvSpPr>
          <p:cNvPr id="348" name="Shape 16"/>
          <p:cNvSpPr/>
          <p:nvPr/>
        </p:nvSpPr>
        <p:spPr>
          <a:xfrm>
            <a:off x="2569320" y="2377440"/>
            <a:ext cx="4608360" cy="95976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a:t>Hardware assembly; Basic code for detection; v1 rig demo.</a:t>
            </a:r>
            <a:endParaRPr lang="en-US">
              <a:effectLst/>
            </a:endParaRPr>
          </a:p>
        </p:txBody>
      </p:sp>
      <p:sp>
        <p:nvSpPr>
          <p:cNvPr id="349" name="Shape 17"/>
          <p:cNvSpPr/>
          <p:nvPr/>
        </p:nvSpPr>
        <p:spPr>
          <a:xfrm>
            <a:off x="7178040" y="2377440"/>
            <a:ext cx="2413800" cy="95976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a:t>SHANKAR D, SHYAMJITH K</a:t>
            </a:r>
            <a:endParaRPr lang="en-IN">
              <a:effectLst/>
            </a:endParaRPr>
          </a:p>
        </p:txBody>
      </p:sp>
      <p:sp>
        <p:nvSpPr>
          <p:cNvPr id="350" name="Shape 18"/>
          <p:cNvSpPr/>
          <p:nvPr/>
        </p:nvSpPr>
        <p:spPr>
          <a:xfrm>
            <a:off x="9592200" y="2377440"/>
            <a:ext cx="1974600" cy="95976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a:t>To Do</a:t>
            </a:r>
            <a:endParaRPr lang="en-IN">
              <a:effectLst/>
            </a:endParaRPr>
          </a:p>
        </p:txBody>
      </p:sp>
      <p:sp>
        <p:nvSpPr>
          <p:cNvPr id="351" name="Shape 19"/>
          <p:cNvSpPr/>
          <p:nvPr/>
        </p:nvSpPr>
        <p:spPr>
          <a:xfrm>
            <a:off x="594360" y="3337560"/>
            <a:ext cx="1974600" cy="95976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a:t>Sprint 2 / Week 2</a:t>
            </a:r>
            <a:endParaRPr lang="en-IN">
              <a:effectLst/>
            </a:endParaRPr>
          </a:p>
        </p:txBody>
      </p:sp>
      <p:sp>
        <p:nvSpPr>
          <p:cNvPr id="352" name="Shape 20"/>
          <p:cNvSpPr/>
          <p:nvPr/>
        </p:nvSpPr>
        <p:spPr>
          <a:xfrm>
            <a:off x="2569320" y="3337560"/>
            <a:ext cx="4608360" cy="95976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a:t>Integrate GPS/GSM; Add severity analysis; Enclosure CAD/print; v2 tests.</a:t>
            </a:r>
            <a:endParaRPr lang="en-US">
              <a:effectLst/>
            </a:endParaRPr>
          </a:p>
        </p:txBody>
      </p:sp>
      <p:sp>
        <p:nvSpPr>
          <p:cNvPr id="353" name="Shape 21"/>
          <p:cNvSpPr/>
          <p:nvPr/>
        </p:nvSpPr>
        <p:spPr>
          <a:xfrm>
            <a:off x="7178040" y="3337560"/>
            <a:ext cx="2413800" cy="95976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dirty="0"/>
              <a:t>TANUSHRI Y, </a:t>
            </a:r>
          </a:p>
          <a:p>
            <a:r>
              <a:rPr lang="en-IN" dirty="0"/>
              <a:t> RATHIKA S</a:t>
            </a:r>
            <a:endParaRPr lang="en-IN" dirty="0">
              <a:effectLst/>
            </a:endParaRPr>
          </a:p>
        </p:txBody>
      </p:sp>
      <p:sp>
        <p:nvSpPr>
          <p:cNvPr id="354" name="Shape 22"/>
          <p:cNvSpPr/>
          <p:nvPr/>
        </p:nvSpPr>
        <p:spPr>
          <a:xfrm>
            <a:off x="9592200" y="3337560"/>
            <a:ext cx="1974600" cy="95976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a:t>To Do</a:t>
            </a:r>
            <a:endParaRPr lang="en-IN">
              <a:effectLst/>
            </a:endParaRPr>
          </a:p>
        </p:txBody>
      </p:sp>
      <p:sp>
        <p:nvSpPr>
          <p:cNvPr id="355" name="Shape 23"/>
          <p:cNvSpPr/>
          <p:nvPr/>
        </p:nvSpPr>
        <p:spPr>
          <a:xfrm>
            <a:off x="594360" y="4297680"/>
            <a:ext cx="1974600" cy="95976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a:t>Sprint 3 / Week 3</a:t>
            </a:r>
            <a:endParaRPr lang="en-IN">
              <a:effectLst/>
            </a:endParaRPr>
          </a:p>
        </p:txBody>
      </p:sp>
      <p:sp>
        <p:nvSpPr>
          <p:cNvPr id="356" name="Shape 24"/>
          <p:cNvSpPr/>
          <p:nvPr/>
        </p:nvSpPr>
        <p:spPr>
          <a:xfrm>
            <a:off x="2569320" y="4297680"/>
            <a:ext cx="4608360" cy="95976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a:t>Validation runs; Iterations; User guide/docs; Final demo video.</a:t>
            </a:r>
            <a:endParaRPr lang="en-IN">
              <a:effectLst/>
            </a:endParaRPr>
          </a:p>
        </p:txBody>
      </p:sp>
      <p:sp>
        <p:nvSpPr>
          <p:cNvPr id="357" name="Shape 25"/>
          <p:cNvSpPr/>
          <p:nvPr/>
        </p:nvSpPr>
        <p:spPr>
          <a:xfrm>
            <a:off x="7178040" y="4297680"/>
            <a:ext cx="2413800" cy="95976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dirty="0"/>
              <a:t>All</a:t>
            </a:r>
            <a:endParaRPr lang="en-IN" dirty="0">
              <a:effectLst/>
            </a:endParaRPr>
          </a:p>
        </p:txBody>
      </p:sp>
      <p:sp>
        <p:nvSpPr>
          <p:cNvPr id="358" name="Shape 26"/>
          <p:cNvSpPr/>
          <p:nvPr/>
        </p:nvSpPr>
        <p:spPr>
          <a:xfrm>
            <a:off x="9592200" y="4297680"/>
            <a:ext cx="1974600" cy="95976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a:t>To Do</a:t>
            </a:r>
            <a:endParaRPr lang="en-IN">
              <a:effectL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 name="Shape 0"/>
          <p:cNvSpPr/>
          <p:nvPr/>
        </p:nvSpPr>
        <p:spPr>
          <a:xfrm>
            <a:off x="0" y="0"/>
            <a:ext cx="12191400" cy="566640"/>
          </a:xfrm>
          <a:prstGeom prst="rect">
            <a:avLst/>
          </a:prstGeom>
          <a:solidFill>
            <a:srgbClr val="0B2E4A"/>
          </a:solidFill>
          <a:ln w="12700">
            <a:solidFill>
              <a:srgbClr val="0B2E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68" name="Shape 1"/>
          <p:cNvSpPr/>
          <p:nvPr/>
        </p:nvSpPr>
        <p:spPr>
          <a:xfrm>
            <a:off x="0" y="0"/>
            <a:ext cx="145800" cy="566640"/>
          </a:xfrm>
          <a:prstGeom prst="rect">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69" name="Text 2"/>
          <p:cNvSpPr/>
          <p:nvPr/>
        </p:nvSpPr>
        <p:spPr>
          <a:xfrm>
            <a:off x="594360" y="109800"/>
            <a:ext cx="1100268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400" b="1" u="none" strike="noStrike">
                <a:solidFill>
                  <a:srgbClr val="FFFFFF"/>
                </a:solidFill>
                <a:effectLst/>
                <a:uFillTx/>
                <a:latin typeface="Calibri"/>
                <a:ea typeface="Calibri"/>
              </a:rPr>
              <a:t>SoI Innovation Pipeline</a:t>
            </a:r>
            <a:endParaRPr lang="en-US" sz="1400" b="0" u="none" strike="noStrike">
              <a:solidFill>
                <a:srgbClr val="000000"/>
              </a:solidFill>
              <a:effectLst/>
              <a:uFillTx/>
              <a:latin typeface="Arial"/>
            </a:endParaRPr>
          </a:p>
        </p:txBody>
      </p:sp>
      <p:sp>
        <p:nvSpPr>
          <p:cNvPr id="370" name="Shape 3"/>
          <p:cNvSpPr/>
          <p:nvPr/>
        </p:nvSpPr>
        <p:spPr>
          <a:xfrm>
            <a:off x="594360" y="658440"/>
            <a:ext cx="1919880" cy="292320"/>
          </a:xfrm>
          <a:prstGeom prst="roundRect">
            <a:avLst>
              <a:gd name="adj" fmla="val 16667"/>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71" name="Text 4"/>
          <p:cNvSpPr/>
          <p:nvPr/>
        </p:nvSpPr>
        <p:spPr>
          <a:xfrm>
            <a:off x="594360" y="704160"/>
            <a:ext cx="19198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RESOURCES</a:t>
            </a:r>
            <a:endParaRPr lang="en-US" sz="1200" b="0" u="none" strike="noStrike">
              <a:solidFill>
                <a:srgbClr val="000000"/>
              </a:solidFill>
              <a:effectLst/>
              <a:uFillTx/>
              <a:latin typeface="Arial"/>
            </a:endParaRPr>
          </a:p>
        </p:txBody>
      </p:sp>
      <p:sp>
        <p:nvSpPr>
          <p:cNvPr id="372" name="Text 5"/>
          <p:cNvSpPr/>
          <p:nvPr/>
        </p:nvSpPr>
        <p:spPr>
          <a:xfrm>
            <a:off x="594360" y="822960"/>
            <a:ext cx="11002680" cy="54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3200" b="1" u="none" strike="noStrike">
                <a:solidFill>
                  <a:srgbClr val="111827"/>
                </a:solidFill>
                <a:effectLst/>
                <a:uFillTx/>
                <a:latin typeface="Calibri"/>
                <a:ea typeface="Calibri"/>
              </a:rPr>
              <a:t>Resources, BOM &amp; Budget</a:t>
            </a:r>
            <a:endParaRPr lang="en-US" sz="3200" b="0" u="none" strike="noStrike">
              <a:solidFill>
                <a:srgbClr val="000000"/>
              </a:solidFill>
              <a:effectLst/>
              <a:uFillTx/>
              <a:latin typeface="Arial"/>
            </a:endParaRPr>
          </a:p>
        </p:txBody>
      </p:sp>
      <p:sp>
        <p:nvSpPr>
          <p:cNvPr id="375" name="Text 8"/>
          <p:cNvSpPr/>
          <p:nvPr/>
        </p:nvSpPr>
        <p:spPr>
          <a:xfrm>
            <a:off x="704160" y="2011680"/>
            <a:ext cx="373032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200" b="1" u="none" strike="noStrike">
                <a:solidFill>
                  <a:srgbClr val="FFFFFF"/>
                </a:solidFill>
                <a:effectLst/>
                <a:uFillTx/>
                <a:latin typeface="Calibri"/>
                <a:ea typeface="Calibri"/>
              </a:rPr>
              <a:t>Item / resource</a:t>
            </a:r>
            <a:endParaRPr lang="en-US" sz="1200" b="0" u="none" strike="noStrike">
              <a:solidFill>
                <a:srgbClr val="000000"/>
              </a:solidFill>
              <a:effectLst/>
              <a:uFillTx/>
              <a:latin typeface="Arial"/>
            </a:endParaRPr>
          </a:p>
        </p:txBody>
      </p:sp>
      <p:graphicFrame>
        <p:nvGraphicFramePr>
          <p:cNvPr id="3" name="Table 2">
            <a:extLst>
              <a:ext uri="{FF2B5EF4-FFF2-40B4-BE49-F238E27FC236}">
                <a16:creationId xmlns:a16="http://schemas.microsoft.com/office/drawing/2014/main" id="{C0CC0D78-5ABB-8B76-61A0-5B30DD38857B}"/>
              </a:ext>
            </a:extLst>
          </p:cNvPr>
          <p:cNvGraphicFramePr>
            <a:graphicFrameLocks noGrp="1"/>
          </p:cNvGraphicFramePr>
          <p:nvPr>
            <p:extLst>
              <p:ext uri="{D42A27DB-BD31-4B8C-83A1-F6EECF244321}">
                <p14:modId xmlns:p14="http://schemas.microsoft.com/office/powerpoint/2010/main" val="719331800"/>
              </p:ext>
            </p:extLst>
          </p:nvPr>
        </p:nvGraphicFramePr>
        <p:xfrm>
          <a:off x="2569320" y="1490040"/>
          <a:ext cx="7162800" cy="4410452"/>
        </p:xfrm>
        <a:graphic>
          <a:graphicData uri="http://schemas.openxmlformats.org/drawingml/2006/table">
            <a:tbl>
              <a:tblPr firstRow="1" bandRow="1">
                <a:tableStyleId>{5C22544A-7EE6-4342-B048-85BDC9FD1C3A}</a:tableStyleId>
              </a:tblPr>
              <a:tblGrid>
                <a:gridCol w="2018570">
                  <a:extLst>
                    <a:ext uri="{9D8B030D-6E8A-4147-A177-3AD203B41FA5}">
                      <a16:colId xmlns:a16="http://schemas.microsoft.com/office/drawing/2014/main" val="471824157"/>
                    </a:ext>
                  </a:extLst>
                </a:gridCol>
                <a:gridCol w="1639030">
                  <a:extLst>
                    <a:ext uri="{9D8B030D-6E8A-4147-A177-3AD203B41FA5}">
                      <a16:colId xmlns:a16="http://schemas.microsoft.com/office/drawing/2014/main" val="929532674"/>
                    </a:ext>
                  </a:extLst>
                </a:gridCol>
                <a:gridCol w="1656080">
                  <a:extLst>
                    <a:ext uri="{9D8B030D-6E8A-4147-A177-3AD203B41FA5}">
                      <a16:colId xmlns:a16="http://schemas.microsoft.com/office/drawing/2014/main" val="4240144569"/>
                    </a:ext>
                  </a:extLst>
                </a:gridCol>
                <a:gridCol w="1849120">
                  <a:extLst>
                    <a:ext uri="{9D8B030D-6E8A-4147-A177-3AD203B41FA5}">
                      <a16:colId xmlns:a16="http://schemas.microsoft.com/office/drawing/2014/main" val="1814762084"/>
                    </a:ext>
                  </a:extLst>
                </a:gridCol>
              </a:tblGrid>
              <a:tr h="489394">
                <a:tc>
                  <a:txBody>
                    <a:bodyPr/>
                    <a:lstStyle/>
                    <a:p>
                      <a:pPr algn="ctr"/>
                      <a:r>
                        <a:rPr lang="en-IN" sz="1600" dirty="0">
                          <a:latin typeface="+mj-lt"/>
                        </a:rPr>
                        <a:t>Item/resource</a:t>
                      </a:r>
                    </a:p>
                  </a:txBody>
                  <a:tcPr anchor="ctr">
                    <a:solidFill>
                      <a:schemeClr val="accent1">
                        <a:lumMod val="50000"/>
                      </a:schemeClr>
                    </a:solidFill>
                  </a:tcPr>
                </a:tc>
                <a:tc>
                  <a:txBody>
                    <a:bodyPr/>
                    <a:lstStyle/>
                    <a:p>
                      <a:pPr algn="ctr"/>
                      <a:r>
                        <a:rPr lang="en-IN" sz="1600" dirty="0">
                          <a:latin typeface="+mj-lt"/>
                        </a:rPr>
                        <a:t>Qty</a:t>
                      </a:r>
                    </a:p>
                  </a:txBody>
                  <a:tcPr anchor="ctr">
                    <a:solidFill>
                      <a:schemeClr val="accent1">
                        <a:lumMod val="50000"/>
                      </a:schemeClr>
                    </a:solidFill>
                  </a:tcPr>
                </a:tc>
                <a:tc>
                  <a:txBody>
                    <a:bodyPr/>
                    <a:lstStyle/>
                    <a:p>
                      <a:pPr algn="ctr"/>
                      <a:r>
                        <a:rPr lang="en-IN" sz="1600" dirty="0">
                          <a:latin typeface="+mj-lt"/>
                        </a:rPr>
                        <a:t>Unit cost</a:t>
                      </a:r>
                    </a:p>
                  </a:txBody>
                  <a:tcPr anchor="ctr">
                    <a:solidFill>
                      <a:schemeClr val="accent1">
                        <a:lumMod val="50000"/>
                      </a:schemeClr>
                    </a:solidFill>
                  </a:tcPr>
                </a:tc>
                <a:tc>
                  <a:txBody>
                    <a:bodyPr/>
                    <a:lstStyle/>
                    <a:p>
                      <a:pPr algn="ctr"/>
                      <a:r>
                        <a:rPr lang="en-IN" sz="1600" dirty="0">
                          <a:latin typeface="+mj-lt"/>
                        </a:rPr>
                        <a:t>Source</a:t>
                      </a:r>
                    </a:p>
                  </a:txBody>
                  <a:tcPr anchor="ctr">
                    <a:solidFill>
                      <a:schemeClr val="accent1">
                        <a:lumMod val="50000"/>
                      </a:schemeClr>
                    </a:solidFill>
                  </a:tcPr>
                </a:tc>
                <a:extLst>
                  <a:ext uri="{0D108BD9-81ED-4DB2-BD59-A6C34878D82A}">
                    <a16:rowId xmlns:a16="http://schemas.microsoft.com/office/drawing/2014/main" val="986312971"/>
                  </a:ext>
                </a:extLst>
              </a:tr>
              <a:tr h="489394">
                <a:tc>
                  <a:txBody>
                    <a:bodyPr/>
                    <a:lstStyle/>
                    <a:p>
                      <a:pPr algn="ctr" fontAlgn="b">
                        <a:buNone/>
                      </a:pPr>
                      <a:r>
                        <a:rPr lang="en-IN" sz="1600" b="0" i="0" u="none" strike="noStrike" dirty="0">
                          <a:solidFill>
                            <a:srgbClr val="000000"/>
                          </a:solidFill>
                          <a:effectLst/>
                          <a:latin typeface="+mj-lt"/>
                        </a:rPr>
                        <a:t>ESP32 Dev Board</a:t>
                      </a:r>
                    </a:p>
                  </a:txBody>
                  <a:tcPr marL="7620" marR="7620" marT="7620" marB="0" anchor="ctr">
                    <a:solidFill>
                      <a:schemeClr val="bg1">
                        <a:lumMod val="95000"/>
                      </a:schemeClr>
                    </a:solidFill>
                  </a:tcPr>
                </a:tc>
                <a:tc>
                  <a:txBody>
                    <a:bodyPr/>
                    <a:lstStyle/>
                    <a:p>
                      <a:pPr algn="ctr" fontAlgn="b">
                        <a:buNone/>
                      </a:pPr>
                      <a:r>
                        <a:rPr lang="en-IN" sz="1600" b="0" i="0" u="none" strike="noStrike" dirty="0">
                          <a:solidFill>
                            <a:srgbClr val="000000"/>
                          </a:solidFill>
                          <a:effectLst/>
                          <a:latin typeface="+mj-lt"/>
                        </a:rPr>
                        <a:t>1</a:t>
                      </a:r>
                    </a:p>
                  </a:txBody>
                  <a:tcPr marL="7620" marR="7620" marT="7620" marB="0" anchor="ctr">
                    <a:solidFill>
                      <a:schemeClr val="bg1">
                        <a:lumMod val="95000"/>
                      </a:schemeClr>
                    </a:solidFill>
                  </a:tcPr>
                </a:tc>
                <a:tc>
                  <a:txBody>
                    <a:bodyPr/>
                    <a:lstStyle/>
                    <a:p>
                      <a:pPr algn="ctr" fontAlgn="b">
                        <a:buNone/>
                      </a:pPr>
                      <a:r>
                        <a:rPr lang="en-IN" sz="1600" b="0" i="0" u="none" strike="noStrike" dirty="0">
                          <a:solidFill>
                            <a:srgbClr val="000000"/>
                          </a:solidFill>
                          <a:effectLst/>
                          <a:latin typeface="+mj-lt"/>
                        </a:rPr>
                        <a:t>400</a:t>
                      </a:r>
                    </a:p>
                  </a:txBody>
                  <a:tcPr marL="7620" marR="7620" marT="7620" marB="0" anchor="ctr">
                    <a:solidFill>
                      <a:schemeClr val="bg1">
                        <a:lumMod val="95000"/>
                      </a:schemeClr>
                    </a:solidFill>
                  </a:tcPr>
                </a:tc>
                <a:tc>
                  <a:txBody>
                    <a:bodyPr/>
                    <a:lstStyle/>
                    <a:p>
                      <a:pPr algn="ctr"/>
                      <a:r>
                        <a:rPr lang="en-IN" sz="1600" dirty="0" err="1">
                          <a:latin typeface="+mj-lt"/>
                        </a:rPr>
                        <a:t>Majestronicz</a:t>
                      </a:r>
                      <a:endParaRPr lang="en-IN" sz="1600" dirty="0">
                        <a:latin typeface="+mj-lt"/>
                      </a:endParaRPr>
                    </a:p>
                  </a:txBody>
                  <a:tcPr anchor="ctr">
                    <a:solidFill>
                      <a:schemeClr val="bg1">
                        <a:lumMod val="95000"/>
                      </a:schemeClr>
                    </a:solidFill>
                  </a:tcPr>
                </a:tc>
                <a:extLst>
                  <a:ext uri="{0D108BD9-81ED-4DB2-BD59-A6C34878D82A}">
                    <a16:rowId xmlns:a16="http://schemas.microsoft.com/office/drawing/2014/main" val="3019480227"/>
                  </a:ext>
                </a:extLst>
              </a:tr>
              <a:tr h="489394">
                <a:tc>
                  <a:txBody>
                    <a:bodyPr/>
                    <a:lstStyle/>
                    <a:p>
                      <a:pPr algn="ctr" fontAlgn="b">
                        <a:buNone/>
                      </a:pPr>
                      <a:r>
                        <a:rPr lang="en-IN" sz="1600" b="0" i="0" u="none" strike="noStrike">
                          <a:solidFill>
                            <a:srgbClr val="000000"/>
                          </a:solidFill>
                          <a:effectLst/>
                          <a:latin typeface="+mj-lt"/>
                        </a:rPr>
                        <a:t>MPU6050</a:t>
                      </a:r>
                    </a:p>
                  </a:txBody>
                  <a:tcPr marL="7620" marR="7620" marT="7620" marB="0" anchor="ctr"/>
                </a:tc>
                <a:tc>
                  <a:txBody>
                    <a:bodyPr/>
                    <a:lstStyle/>
                    <a:p>
                      <a:pPr algn="ctr" fontAlgn="b">
                        <a:buNone/>
                      </a:pPr>
                      <a:r>
                        <a:rPr lang="en-IN" sz="1600" b="0" i="0" u="none" strike="noStrike">
                          <a:solidFill>
                            <a:srgbClr val="000000"/>
                          </a:solidFill>
                          <a:effectLst/>
                          <a:latin typeface="+mj-lt"/>
                        </a:rPr>
                        <a:t>1</a:t>
                      </a:r>
                    </a:p>
                  </a:txBody>
                  <a:tcPr marL="7620" marR="7620" marT="7620" marB="0" anchor="ctr"/>
                </a:tc>
                <a:tc>
                  <a:txBody>
                    <a:bodyPr/>
                    <a:lstStyle/>
                    <a:p>
                      <a:pPr algn="ctr" fontAlgn="b">
                        <a:buNone/>
                      </a:pPr>
                      <a:r>
                        <a:rPr lang="en-IN" sz="1600" b="0" i="0" u="none" strike="noStrike">
                          <a:solidFill>
                            <a:srgbClr val="000000"/>
                          </a:solidFill>
                          <a:effectLst/>
                          <a:latin typeface="+mj-lt"/>
                        </a:rPr>
                        <a:t>150</a:t>
                      </a:r>
                    </a:p>
                  </a:txBody>
                  <a:tcPr marL="7620" marR="7620" marT="7620" marB="0" anchor="ctr"/>
                </a:tc>
                <a:tc>
                  <a:txBody>
                    <a:bodyPr/>
                    <a:lstStyle/>
                    <a:p>
                      <a:pPr algn="ctr"/>
                      <a:r>
                        <a:rPr lang="en-IN" sz="1600" dirty="0" err="1">
                          <a:latin typeface="+mj-lt"/>
                        </a:rPr>
                        <a:t>Majestronicz</a:t>
                      </a:r>
                      <a:endParaRPr lang="en-IN" sz="1600" dirty="0">
                        <a:latin typeface="+mj-lt"/>
                      </a:endParaRPr>
                    </a:p>
                  </a:txBody>
                  <a:tcPr anchor="ctr"/>
                </a:tc>
                <a:extLst>
                  <a:ext uri="{0D108BD9-81ED-4DB2-BD59-A6C34878D82A}">
                    <a16:rowId xmlns:a16="http://schemas.microsoft.com/office/drawing/2014/main" val="532092481"/>
                  </a:ext>
                </a:extLst>
              </a:tr>
              <a:tr h="489394">
                <a:tc>
                  <a:txBody>
                    <a:bodyPr/>
                    <a:lstStyle/>
                    <a:p>
                      <a:pPr algn="ctr" fontAlgn="b">
                        <a:buNone/>
                      </a:pPr>
                      <a:r>
                        <a:rPr lang="en-IN" sz="1600" b="0" i="0" u="none" strike="noStrike">
                          <a:solidFill>
                            <a:srgbClr val="000000"/>
                          </a:solidFill>
                          <a:effectLst/>
                          <a:latin typeface="+mj-lt"/>
                        </a:rPr>
                        <a:t>SW-420 Sensor</a:t>
                      </a:r>
                    </a:p>
                  </a:txBody>
                  <a:tcPr marL="7620" marR="7620" marT="7620" marB="0" anchor="ctr">
                    <a:solidFill>
                      <a:schemeClr val="accent3">
                        <a:lumMod val="20000"/>
                        <a:lumOff val="80000"/>
                      </a:schemeClr>
                    </a:solidFill>
                  </a:tcPr>
                </a:tc>
                <a:tc>
                  <a:txBody>
                    <a:bodyPr/>
                    <a:lstStyle/>
                    <a:p>
                      <a:pPr algn="ctr" fontAlgn="b">
                        <a:buNone/>
                      </a:pPr>
                      <a:r>
                        <a:rPr lang="en-IN" sz="1600" b="0" i="0" u="none" strike="noStrike">
                          <a:solidFill>
                            <a:srgbClr val="000000"/>
                          </a:solidFill>
                          <a:effectLst/>
                          <a:latin typeface="+mj-lt"/>
                        </a:rPr>
                        <a:t>1</a:t>
                      </a:r>
                    </a:p>
                  </a:txBody>
                  <a:tcPr marL="7620" marR="7620" marT="7620" marB="0" anchor="ctr">
                    <a:solidFill>
                      <a:schemeClr val="accent3">
                        <a:lumMod val="20000"/>
                        <a:lumOff val="80000"/>
                      </a:schemeClr>
                    </a:solidFill>
                  </a:tcPr>
                </a:tc>
                <a:tc>
                  <a:txBody>
                    <a:bodyPr/>
                    <a:lstStyle/>
                    <a:p>
                      <a:pPr algn="ctr" fontAlgn="b">
                        <a:buNone/>
                      </a:pPr>
                      <a:r>
                        <a:rPr lang="en-IN" sz="1600" b="0" i="0" u="none" strike="noStrike">
                          <a:solidFill>
                            <a:srgbClr val="000000"/>
                          </a:solidFill>
                          <a:effectLst/>
                          <a:latin typeface="+mj-lt"/>
                        </a:rPr>
                        <a:t>80</a:t>
                      </a:r>
                    </a:p>
                  </a:txBody>
                  <a:tcPr marL="7620" marR="7620" marT="7620" marB="0" anchor="ctr">
                    <a:solidFill>
                      <a:schemeClr val="accent3">
                        <a:lumMod val="20000"/>
                        <a:lumOff val="80000"/>
                      </a:schemeClr>
                    </a:solidFill>
                  </a:tcPr>
                </a:tc>
                <a:tc>
                  <a:txBody>
                    <a:bodyPr/>
                    <a:lstStyle/>
                    <a:p>
                      <a:pPr algn="ctr"/>
                      <a:r>
                        <a:rPr lang="en-IN" sz="1600" dirty="0" err="1">
                          <a:latin typeface="+mj-lt"/>
                        </a:rPr>
                        <a:t>Majestronicz</a:t>
                      </a:r>
                      <a:endParaRPr lang="en-IN" sz="1600" dirty="0">
                        <a:latin typeface="+mj-lt"/>
                      </a:endParaRPr>
                    </a:p>
                  </a:txBody>
                  <a:tcPr anchor="ctr">
                    <a:solidFill>
                      <a:schemeClr val="accent3">
                        <a:lumMod val="20000"/>
                        <a:lumOff val="80000"/>
                      </a:schemeClr>
                    </a:solidFill>
                  </a:tcPr>
                </a:tc>
                <a:extLst>
                  <a:ext uri="{0D108BD9-81ED-4DB2-BD59-A6C34878D82A}">
                    <a16:rowId xmlns:a16="http://schemas.microsoft.com/office/drawing/2014/main" val="2214929488"/>
                  </a:ext>
                </a:extLst>
              </a:tr>
              <a:tr h="489394">
                <a:tc>
                  <a:txBody>
                    <a:bodyPr/>
                    <a:lstStyle/>
                    <a:p>
                      <a:pPr algn="ctr" fontAlgn="b">
                        <a:buNone/>
                      </a:pPr>
                      <a:r>
                        <a:rPr lang="en-IN" sz="1600" b="0" i="0" u="none" strike="noStrike">
                          <a:solidFill>
                            <a:srgbClr val="000000"/>
                          </a:solidFill>
                          <a:effectLst/>
                          <a:latin typeface="+mj-lt"/>
                        </a:rPr>
                        <a:t>GPS Module</a:t>
                      </a:r>
                    </a:p>
                  </a:txBody>
                  <a:tcPr marL="7620" marR="7620" marT="7620" marB="0" anchor="ctr"/>
                </a:tc>
                <a:tc>
                  <a:txBody>
                    <a:bodyPr/>
                    <a:lstStyle/>
                    <a:p>
                      <a:pPr algn="ctr" fontAlgn="b">
                        <a:buNone/>
                      </a:pPr>
                      <a:r>
                        <a:rPr lang="en-IN" sz="1600" b="0" i="0" u="none" strike="noStrike">
                          <a:solidFill>
                            <a:srgbClr val="000000"/>
                          </a:solidFill>
                          <a:effectLst/>
                          <a:latin typeface="+mj-lt"/>
                        </a:rPr>
                        <a:t>1</a:t>
                      </a:r>
                    </a:p>
                  </a:txBody>
                  <a:tcPr marL="7620" marR="7620" marT="7620" marB="0" anchor="ctr"/>
                </a:tc>
                <a:tc>
                  <a:txBody>
                    <a:bodyPr/>
                    <a:lstStyle/>
                    <a:p>
                      <a:pPr algn="ctr" fontAlgn="b">
                        <a:buNone/>
                      </a:pPr>
                      <a:r>
                        <a:rPr lang="en-IN" sz="1600" b="0" i="0" u="none" strike="noStrike">
                          <a:solidFill>
                            <a:srgbClr val="000000"/>
                          </a:solidFill>
                          <a:effectLst/>
                          <a:latin typeface="+mj-lt"/>
                        </a:rPr>
                        <a:t>300</a:t>
                      </a:r>
                    </a:p>
                  </a:txBody>
                  <a:tcPr marL="7620" marR="7620" marT="7620" marB="0" anchor="ctr"/>
                </a:tc>
                <a:tc>
                  <a:txBody>
                    <a:bodyPr/>
                    <a:lstStyle/>
                    <a:p>
                      <a:pPr algn="ctr"/>
                      <a:r>
                        <a:rPr lang="en-IN" sz="1600" dirty="0" err="1">
                          <a:latin typeface="+mj-lt"/>
                        </a:rPr>
                        <a:t>Majestronicz</a:t>
                      </a:r>
                      <a:endParaRPr lang="en-IN" sz="1600" dirty="0">
                        <a:latin typeface="+mj-lt"/>
                      </a:endParaRPr>
                    </a:p>
                  </a:txBody>
                  <a:tcPr anchor="ctr"/>
                </a:tc>
                <a:extLst>
                  <a:ext uri="{0D108BD9-81ED-4DB2-BD59-A6C34878D82A}">
                    <a16:rowId xmlns:a16="http://schemas.microsoft.com/office/drawing/2014/main" val="2222033374"/>
                  </a:ext>
                </a:extLst>
              </a:tr>
              <a:tr h="489394">
                <a:tc>
                  <a:txBody>
                    <a:bodyPr/>
                    <a:lstStyle/>
                    <a:p>
                      <a:pPr algn="ctr" fontAlgn="b">
                        <a:buNone/>
                      </a:pPr>
                      <a:r>
                        <a:rPr lang="en-IN" sz="1600" b="0" i="0" u="none" strike="noStrike">
                          <a:solidFill>
                            <a:srgbClr val="000000"/>
                          </a:solidFill>
                          <a:effectLst/>
                          <a:latin typeface="+mj-lt"/>
                        </a:rPr>
                        <a:t>GSM Module</a:t>
                      </a:r>
                    </a:p>
                  </a:txBody>
                  <a:tcPr marL="7620" marR="7620" marT="7620" marB="0" anchor="ctr">
                    <a:solidFill>
                      <a:schemeClr val="accent3">
                        <a:lumMod val="20000"/>
                        <a:lumOff val="80000"/>
                      </a:schemeClr>
                    </a:solidFill>
                  </a:tcPr>
                </a:tc>
                <a:tc>
                  <a:txBody>
                    <a:bodyPr/>
                    <a:lstStyle/>
                    <a:p>
                      <a:pPr algn="ctr" fontAlgn="b">
                        <a:buNone/>
                      </a:pPr>
                      <a:r>
                        <a:rPr lang="en-IN" sz="1600" b="0" i="0" u="none" strike="noStrike">
                          <a:solidFill>
                            <a:srgbClr val="000000"/>
                          </a:solidFill>
                          <a:effectLst/>
                          <a:latin typeface="+mj-lt"/>
                        </a:rPr>
                        <a:t>1</a:t>
                      </a:r>
                    </a:p>
                  </a:txBody>
                  <a:tcPr marL="7620" marR="7620" marT="7620" marB="0" anchor="ctr">
                    <a:solidFill>
                      <a:schemeClr val="accent3">
                        <a:lumMod val="20000"/>
                        <a:lumOff val="80000"/>
                      </a:schemeClr>
                    </a:solidFill>
                  </a:tcPr>
                </a:tc>
                <a:tc>
                  <a:txBody>
                    <a:bodyPr/>
                    <a:lstStyle/>
                    <a:p>
                      <a:pPr algn="ctr" fontAlgn="b">
                        <a:buNone/>
                      </a:pPr>
                      <a:r>
                        <a:rPr lang="en-IN" sz="1600" b="0" i="0" u="none" strike="noStrike">
                          <a:solidFill>
                            <a:srgbClr val="000000"/>
                          </a:solidFill>
                          <a:effectLst/>
                          <a:latin typeface="+mj-lt"/>
                        </a:rPr>
                        <a:t>600</a:t>
                      </a:r>
                    </a:p>
                  </a:txBody>
                  <a:tcPr marL="7620" marR="7620" marT="7620" marB="0" anchor="ctr">
                    <a:solidFill>
                      <a:schemeClr val="accent3">
                        <a:lumMod val="20000"/>
                        <a:lumOff val="80000"/>
                      </a:schemeClr>
                    </a:solidFill>
                  </a:tcPr>
                </a:tc>
                <a:tc>
                  <a:txBody>
                    <a:bodyPr/>
                    <a:lstStyle/>
                    <a:p>
                      <a:pPr algn="ctr"/>
                      <a:r>
                        <a:rPr lang="en-IN" sz="1600" dirty="0" err="1">
                          <a:latin typeface="+mj-lt"/>
                        </a:rPr>
                        <a:t>Majestronicz</a:t>
                      </a:r>
                      <a:endParaRPr lang="en-IN" sz="1600" dirty="0">
                        <a:latin typeface="+mj-lt"/>
                      </a:endParaRPr>
                    </a:p>
                  </a:txBody>
                  <a:tcPr anchor="ctr">
                    <a:solidFill>
                      <a:schemeClr val="accent3">
                        <a:lumMod val="20000"/>
                        <a:lumOff val="80000"/>
                      </a:schemeClr>
                    </a:solidFill>
                  </a:tcPr>
                </a:tc>
                <a:extLst>
                  <a:ext uri="{0D108BD9-81ED-4DB2-BD59-A6C34878D82A}">
                    <a16:rowId xmlns:a16="http://schemas.microsoft.com/office/drawing/2014/main" val="2840663113"/>
                  </a:ext>
                </a:extLst>
              </a:tr>
              <a:tr h="489394">
                <a:tc>
                  <a:txBody>
                    <a:bodyPr/>
                    <a:lstStyle/>
                    <a:p>
                      <a:pPr algn="ctr" fontAlgn="b">
                        <a:buNone/>
                      </a:pPr>
                      <a:r>
                        <a:rPr lang="en-IN" sz="1600" b="0" i="0" u="none" strike="noStrike">
                          <a:solidFill>
                            <a:srgbClr val="000000"/>
                          </a:solidFill>
                          <a:effectLst/>
                          <a:latin typeface="+mj-lt"/>
                        </a:rPr>
                        <a:t>DHT11</a:t>
                      </a:r>
                    </a:p>
                  </a:txBody>
                  <a:tcPr marL="7620" marR="7620" marT="7620" marB="0" anchor="ctr"/>
                </a:tc>
                <a:tc>
                  <a:txBody>
                    <a:bodyPr/>
                    <a:lstStyle/>
                    <a:p>
                      <a:pPr algn="ctr" fontAlgn="b">
                        <a:buNone/>
                      </a:pPr>
                      <a:r>
                        <a:rPr lang="en-IN" sz="1600" b="0" i="0" u="none" strike="noStrike">
                          <a:solidFill>
                            <a:srgbClr val="000000"/>
                          </a:solidFill>
                          <a:effectLst/>
                          <a:latin typeface="+mj-lt"/>
                        </a:rPr>
                        <a:t>1</a:t>
                      </a:r>
                    </a:p>
                  </a:txBody>
                  <a:tcPr marL="7620" marR="7620" marT="7620" marB="0" anchor="ctr"/>
                </a:tc>
                <a:tc>
                  <a:txBody>
                    <a:bodyPr/>
                    <a:lstStyle/>
                    <a:p>
                      <a:pPr algn="ctr" fontAlgn="b">
                        <a:buNone/>
                      </a:pPr>
                      <a:r>
                        <a:rPr lang="en-IN" sz="1600" b="0" i="0" u="none" strike="noStrike">
                          <a:solidFill>
                            <a:srgbClr val="000000"/>
                          </a:solidFill>
                          <a:effectLst/>
                          <a:latin typeface="+mj-lt"/>
                        </a:rPr>
                        <a:t>70</a:t>
                      </a:r>
                    </a:p>
                  </a:txBody>
                  <a:tcPr marL="7620" marR="7620" marT="7620" marB="0" anchor="ctr"/>
                </a:tc>
                <a:tc>
                  <a:txBody>
                    <a:bodyPr/>
                    <a:lstStyle/>
                    <a:p>
                      <a:pPr algn="ctr"/>
                      <a:r>
                        <a:rPr lang="en-IN" sz="1600" dirty="0" err="1">
                          <a:latin typeface="+mj-lt"/>
                        </a:rPr>
                        <a:t>Majestronicz</a:t>
                      </a:r>
                      <a:endParaRPr lang="en-IN" sz="1600" dirty="0">
                        <a:latin typeface="+mj-lt"/>
                      </a:endParaRPr>
                    </a:p>
                  </a:txBody>
                  <a:tcPr anchor="ctr"/>
                </a:tc>
                <a:extLst>
                  <a:ext uri="{0D108BD9-81ED-4DB2-BD59-A6C34878D82A}">
                    <a16:rowId xmlns:a16="http://schemas.microsoft.com/office/drawing/2014/main" val="4086101074"/>
                  </a:ext>
                </a:extLst>
              </a:tr>
              <a:tr h="489394">
                <a:tc>
                  <a:txBody>
                    <a:bodyPr/>
                    <a:lstStyle/>
                    <a:p>
                      <a:pPr algn="ctr" fontAlgn="b">
                        <a:buNone/>
                      </a:pPr>
                      <a:r>
                        <a:rPr lang="en-IN" sz="1600" b="0" i="0" u="none" strike="noStrike" dirty="0">
                          <a:solidFill>
                            <a:srgbClr val="000000"/>
                          </a:solidFill>
                          <a:effectLst/>
                          <a:latin typeface="+mj-lt"/>
                        </a:rPr>
                        <a:t>Buck Converter</a:t>
                      </a:r>
                    </a:p>
                  </a:txBody>
                  <a:tcPr marL="7620" marR="7620" marT="7620" marB="0" anchor="ctr">
                    <a:solidFill>
                      <a:schemeClr val="accent3">
                        <a:lumMod val="20000"/>
                        <a:lumOff val="80000"/>
                      </a:schemeClr>
                    </a:solidFill>
                  </a:tcPr>
                </a:tc>
                <a:tc>
                  <a:txBody>
                    <a:bodyPr/>
                    <a:lstStyle/>
                    <a:p>
                      <a:pPr algn="ctr" fontAlgn="b">
                        <a:buNone/>
                      </a:pPr>
                      <a:r>
                        <a:rPr lang="en-IN" sz="1600" b="0" i="0" u="none" strike="noStrike" dirty="0">
                          <a:solidFill>
                            <a:srgbClr val="000000"/>
                          </a:solidFill>
                          <a:effectLst/>
                          <a:latin typeface="+mj-lt"/>
                        </a:rPr>
                        <a:t>1</a:t>
                      </a:r>
                    </a:p>
                  </a:txBody>
                  <a:tcPr marL="7620" marR="7620" marT="7620" marB="0" anchor="ctr">
                    <a:solidFill>
                      <a:schemeClr val="accent3">
                        <a:lumMod val="20000"/>
                        <a:lumOff val="80000"/>
                      </a:schemeClr>
                    </a:solidFill>
                  </a:tcPr>
                </a:tc>
                <a:tc>
                  <a:txBody>
                    <a:bodyPr/>
                    <a:lstStyle/>
                    <a:p>
                      <a:pPr algn="ctr" fontAlgn="b">
                        <a:buNone/>
                      </a:pPr>
                      <a:r>
                        <a:rPr lang="en-IN" sz="1600" b="0" i="0" u="none" strike="noStrike" dirty="0">
                          <a:solidFill>
                            <a:srgbClr val="000000"/>
                          </a:solidFill>
                          <a:effectLst/>
                          <a:latin typeface="+mj-lt"/>
                        </a:rPr>
                        <a:t>130</a:t>
                      </a:r>
                    </a:p>
                  </a:txBody>
                  <a:tcPr marL="7620" marR="7620" marT="7620" marB="0"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dirty="0" err="1">
                          <a:latin typeface="+mj-lt"/>
                        </a:rPr>
                        <a:t>Majestronicz</a:t>
                      </a:r>
                      <a:endParaRPr lang="en-IN" sz="1600" dirty="0">
                        <a:latin typeface="+mj-lt"/>
                      </a:endParaRPr>
                    </a:p>
                  </a:txBody>
                  <a:tcPr anchor="ctr">
                    <a:solidFill>
                      <a:schemeClr val="accent3">
                        <a:lumMod val="20000"/>
                        <a:lumOff val="80000"/>
                      </a:schemeClr>
                    </a:solidFill>
                  </a:tcPr>
                </a:tc>
                <a:extLst>
                  <a:ext uri="{0D108BD9-81ED-4DB2-BD59-A6C34878D82A}">
                    <a16:rowId xmlns:a16="http://schemas.microsoft.com/office/drawing/2014/main" val="1931734877"/>
                  </a:ext>
                </a:extLst>
              </a:tr>
              <a:tr h="489394">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IN" sz="1600" b="0" i="0" u="none" strike="noStrike" dirty="0">
                          <a:solidFill>
                            <a:srgbClr val="000000"/>
                          </a:solidFill>
                          <a:effectLst/>
                          <a:latin typeface="+mj-lt"/>
                        </a:rPr>
                        <a:t>Charging Module</a:t>
                      </a:r>
                    </a:p>
                    <a:p>
                      <a:pPr algn="ctr" fontAlgn="b">
                        <a:buNone/>
                      </a:pPr>
                      <a:endParaRPr lang="en-IN" sz="1600" b="0" i="0" u="none" strike="noStrike" dirty="0">
                        <a:solidFill>
                          <a:srgbClr val="000000"/>
                        </a:solidFill>
                        <a:effectLst/>
                        <a:latin typeface="+mj-lt"/>
                      </a:endParaRPr>
                    </a:p>
                  </a:txBody>
                  <a:tcPr marL="7620" marR="7620" marT="7620" marB="0">
                    <a:solidFill>
                      <a:schemeClr val="accent1">
                        <a:lumMod val="20000"/>
                        <a:lumOff val="80000"/>
                      </a:schemeClr>
                    </a:solidFill>
                  </a:tcPr>
                </a:tc>
                <a:tc>
                  <a:txBody>
                    <a:bodyPr/>
                    <a:lstStyle/>
                    <a:p>
                      <a:pPr algn="ctr" fontAlgn="b">
                        <a:buNone/>
                      </a:pPr>
                      <a:r>
                        <a:rPr lang="en-IN" sz="1600" b="0" i="0" u="none" strike="noStrike" dirty="0">
                          <a:solidFill>
                            <a:srgbClr val="000000"/>
                          </a:solidFill>
                          <a:effectLst/>
                          <a:latin typeface="+mj-lt"/>
                        </a:rPr>
                        <a:t>1</a:t>
                      </a:r>
                    </a:p>
                  </a:txBody>
                  <a:tcPr marL="7620" marR="7620" marT="7620" marB="0" anchor="ctr">
                    <a:solidFill>
                      <a:schemeClr val="accent1">
                        <a:lumMod val="20000"/>
                        <a:lumOff val="80000"/>
                      </a:schemeClr>
                    </a:solidFill>
                  </a:tcPr>
                </a:tc>
                <a:tc>
                  <a:txBody>
                    <a:bodyPr/>
                    <a:lstStyle/>
                    <a:p>
                      <a:pPr algn="ctr" fontAlgn="b">
                        <a:buNone/>
                      </a:pPr>
                      <a:r>
                        <a:rPr lang="en-IN" sz="1600" b="0" i="0" u="none" strike="noStrike" dirty="0">
                          <a:solidFill>
                            <a:srgbClr val="000000"/>
                          </a:solidFill>
                          <a:effectLst/>
                          <a:latin typeface="+mj-lt"/>
                        </a:rPr>
                        <a:t>60</a:t>
                      </a:r>
                    </a:p>
                  </a:txBody>
                  <a:tcPr marL="7620" marR="7620" marT="7620" marB="0" anchor="ctr">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IN" sz="1600" dirty="0" err="1">
                          <a:latin typeface="+mj-lt"/>
                        </a:rPr>
                        <a:t>Majestronicz</a:t>
                      </a:r>
                      <a:endParaRPr lang="en-IN" sz="1600" dirty="0">
                        <a:latin typeface="+mj-lt"/>
                      </a:endParaRPr>
                    </a:p>
                    <a:p>
                      <a:pPr algn="ctr" fontAlgn="b">
                        <a:buNone/>
                      </a:pPr>
                      <a:endParaRPr lang="en-IN" sz="1600" b="0" i="0" u="none" strike="noStrike" dirty="0">
                        <a:solidFill>
                          <a:srgbClr val="000000"/>
                        </a:solidFill>
                        <a:effectLst/>
                        <a:latin typeface="+mj-lt"/>
                      </a:endParaRPr>
                    </a:p>
                  </a:txBody>
                  <a:tcPr marL="7620" marR="7620" marT="7620" marB="0" anchor="ctr">
                    <a:solidFill>
                      <a:schemeClr val="accent1">
                        <a:lumMod val="20000"/>
                        <a:lumOff val="80000"/>
                      </a:schemeClr>
                    </a:solidFill>
                  </a:tcPr>
                </a:tc>
                <a:extLst>
                  <a:ext uri="{0D108BD9-81ED-4DB2-BD59-A6C34878D82A}">
                    <a16:rowId xmlns:a16="http://schemas.microsoft.com/office/drawing/2014/main" val="2482619782"/>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0D7E9-67FD-2A19-6F5B-21324DCEB917}"/>
            </a:ext>
          </a:extLst>
        </p:cNvPr>
        <p:cNvGrpSpPr/>
        <p:nvPr/>
      </p:nvGrpSpPr>
      <p:grpSpPr>
        <a:xfrm>
          <a:off x="0" y="0"/>
          <a:ext cx="0" cy="0"/>
          <a:chOff x="0" y="0"/>
          <a:chExt cx="0" cy="0"/>
        </a:xfrm>
      </p:grpSpPr>
      <p:sp>
        <p:nvSpPr>
          <p:cNvPr id="367" name="Shape 0">
            <a:extLst>
              <a:ext uri="{FF2B5EF4-FFF2-40B4-BE49-F238E27FC236}">
                <a16:creationId xmlns:a16="http://schemas.microsoft.com/office/drawing/2014/main" id="{8D798D5A-5141-2B63-90E4-03E5ED745167}"/>
              </a:ext>
            </a:extLst>
          </p:cNvPr>
          <p:cNvSpPr/>
          <p:nvPr/>
        </p:nvSpPr>
        <p:spPr>
          <a:xfrm>
            <a:off x="0" y="0"/>
            <a:ext cx="12191400" cy="566640"/>
          </a:xfrm>
          <a:prstGeom prst="rect">
            <a:avLst/>
          </a:prstGeom>
          <a:solidFill>
            <a:srgbClr val="0B2E4A"/>
          </a:solidFill>
          <a:ln w="12700">
            <a:solidFill>
              <a:srgbClr val="0B2E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68" name="Shape 1">
            <a:extLst>
              <a:ext uri="{FF2B5EF4-FFF2-40B4-BE49-F238E27FC236}">
                <a16:creationId xmlns:a16="http://schemas.microsoft.com/office/drawing/2014/main" id="{8F125BC4-CD44-51C5-55C5-DD1B83FF197B}"/>
              </a:ext>
            </a:extLst>
          </p:cNvPr>
          <p:cNvSpPr/>
          <p:nvPr/>
        </p:nvSpPr>
        <p:spPr>
          <a:xfrm>
            <a:off x="0" y="0"/>
            <a:ext cx="145800" cy="566640"/>
          </a:xfrm>
          <a:prstGeom prst="rect">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69" name="Text 2">
            <a:extLst>
              <a:ext uri="{FF2B5EF4-FFF2-40B4-BE49-F238E27FC236}">
                <a16:creationId xmlns:a16="http://schemas.microsoft.com/office/drawing/2014/main" id="{DAC890DD-B20E-4B9B-570C-91CD25012A73}"/>
              </a:ext>
            </a:extLst>
          </p:cNvPr>
          <p:cNvSpPr/>
          <p:nvPr/>
        </p:nvSpPr>
        <p:spPr>
          <a:xfrm>
            <a:off x="594360" y="109800"/>
            <a:ext cx="1100268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400" b="1" u="none" strike="noStrike">
                <a:solidFill>
                  <a:srgbClr val="FFFFFF"/>
                </a:solidFill>
                <a:effectLst/>
                <a:uFillTx/>
                <a:latin typeface="Calibri"/>
                <a:ea typeface="Calibri"/>
              </a:rPr>
              <a:t>SoI Innovation Pipeline</a:t>
            </a:r>
            <a:endParaRPr lang="en-US" sz="1400" b="0" u="none" strike="noStrike">
              <a:solidFill>
                <a:srgbClr val="000000"/>
              </a:solidFill>
              <a:effectLst/>
              <a:uFillTx/>
              <a:latin typeface="Arial"/>
            </a:endParaRPr>
          </a:p>
        </p:txBody>
      </p:sp>
      <p:sp>
        <p:nvSpPr>
          <p:cNvPr id="370" name="Shape 3">
            <a:extLst>
              <a:ext uri="{FF2B5EF4-FFF2-40B4-BE49-F238E27FC236}">
                <a16:creationId xmlns:a16="http://schemas.microsoft.com/office/drawing/2014/main" id="{E4DADFB5-C568-BAC6-A5C8-4D2F5D62BB9F}"/>
              </a:ext>
            </a:extLst>
          </p:cNvPr>
          <p:cNvSpPr/>
          <p:nvPr/>
        </p:nvSpPr>
        <p:spPr>
          <a:xfrm>
            <a:off x="594360" y="658440"/>
            <a:ext cx="1919880" cy="292320"/>
          </a:xfrm>
          <a:prstGeom prst="roundRect">
            <a:avLst>
              <a:gd name="adj" fmla="val 16667"/>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71" name="Text 4">
            <a:extLst>
              <a:ext uri="{FF2B5EF4-FFF2-40B4-BE49-F238E27FC236}">
                <a16:creationId xmlns:a16="http://schemas.microsoft.com/office/drawing/2014/main" id="{9EE42761-DE87-B1C1-5DBE-D888CE11B834}"/>
              </a:ext>
            </a:extLst>
          </p:cNvPr>
          <p:cNvSpPr/>
          <p:nvPr/>
        </p:nvSpPr>
        <p:spPr>
          <a:xfrm>
            <a:off x="594360" y="704160"/>
            <a:ext cx="19198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RESOURCES</a:t>
            </a:r>
            <a:endParaRPr lang="en-US" sz="1200" b="0" u="none" strike="noStrike">
              <a:solidFill>
                <a:srgbClr val="000000"/>
              </a:solidFill>
              <a:effectLst/>
              <a:uFillTx/>
              <a:latin typeface="Arial"/>
            </a:endParaRPr>
          </a:p>
        </p:txBody>
      </p:sp>
      <p:sp>
        <p:nvSpPr>
          <p:cNvPr id="372" name="Text 5">
            <a:extLst>
              <a:ext uri="{FF2B5EF4-FFF2-40B4-BE49-F238E27FC236}">
                <a16:creationId xmlns:a16="http://schemas.microsoft.com/office/drawing/2014/main" id="{219A588A-2CFE-9529-778F-5E95F8885A39}"/>
              </a:ext>
            </a:extLst>
          </p:cNvPr>
          <p:cNvSpPr/>
          <p:nvPr/>
        </p:nvSpPr>
        <p:spPr>
          <a:xfrm>
            <a:off x="594360" y="822960"/>
            <a:ext cx="11002680" cy="54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3200" b="1" u="none" strike="noStrike">
                <a:solidFill>
                  <a:srgbClr val="111827"/>
                </a:solidFill>
                <a:effectLst/>
                <a:uFillTx/>
                <a:latin typeface="Calibri"/>
                <a:ea typeface="Calibri"/>
              </a:rPr>
              <a:t>Resources, BOM &amp; Budget</a:t>
            </a:r>
            <a:endParaRPr lang="en-US" sz="3200" b="0" u="none" strike="noStrike">
              <a:solidFill>
                <a:srgbClr val="000000"/>
              </a:solidFill>
              <a:effectLst/>
              <a:uFillTx/>
              <a:latin typeface="Arial"/>
            </a:endParaRPr>
          </a:p>
        </p:txBody>
      </p:sp>
      <p:sp>
        <p:nvSpPr>
          <p:cNvPr id="375" name="Text 8">
            <a:extLst>
              <a:ext uri="{FF2B5EF4-FFF2-40B4-BE49-F238E27FC236}">
                <a16:creationId xmlns:a16="http://schemas.microsoft.com/office/drawing/2014/main" id="{BB4DA2DC-1E20-CF06-ADE8-378368DC5573}"/>
              </a:ext>
            </a:extLst>
          </p:cNvPr>
          <p:cNvSpPr/>
          <p:nvPr/>
        </p:nvSpPr>
        <p:spPr>
          <a:xfrm>
            <a:off x="704160" y="2011680"/>
            <a:ext cx="373032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200" b="1" u="none" strike="noStrike">
                <a:solidFill>
                  <a:srgbClr val="FFFFFF"/>
                </a:solidFill>
                <a:effectLst/>
                <a:uFillTx/>
                <a:latin typeface="Calibri"/>
                <a:ea typeface="Calibri"/>
              </a:rPr>
              <a:t>Item / resource</a:t>
            </a:r>
            <a:endParaRPr lang="en-US" sz="1200" b="0" u="none" strike="noStrike">
              <a:solidFill>
                <a:srgbClr val="000000"/>
              </a:solidFill>
              <a:effectLst/>
              <a:uFillTx/>
              <a:latin typeface="Arial"/>
            </a:endParaRPr>
          </a:p>
        </p:txBody>
      </p:sp>
      <p:sp>
        <p:nvSpPr>
          <p:cNvPr id="379" name="Text 12">
            <a:extLst>
              <a:ext uri="{FF2B5EF4-FFF2-40B4-BE49-F238E27FC236}">
                <a16:creationId xmlns:a16="http://schemas.microsoft.com/office/drawing/2014/main" id="{67FF2DDA-C520-61B5-F590-4212F9721C48}"/>
              </a:ext>
            </a:extLst>
          </p:cNvPr>
          <p:cNvSpPr/>
          <p:nvPr/>
        </p:nvSpPr>
        <p:spPr>
          <a:xfrm>
            <a:off x="6190560" y="2011680"/>
            <a:ext cx="131652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200" b="1" u="none" strike="noStrike">
                <a:solidFill>
                  <a:srgbClr val="FFFFFF"/>
                </a:solidFill>
                <a:effectLst/>
                <a:uFillTx/>
                <a:latin typeface="Calibri"/>
                <a:ea typeface="Calibri"/>
              </a:rPr>
              <a:t>Unit cost</a:t>
            </a:r>
            <a:endParaRPr lang="en-US" sz="1200" b="0" u="none" strike="noStrike">
              <a:solidFill>
                <a:srgbClr val="000000"/>
              </a:solidFill>
              <a:effectLst/>
              <a:uFillTx/>
              <a:latin typeface="Arial"/>
            </a:endParaRPr>
          </a:p>
        </p:txBody>
      </p:sp>
      <p:sp>
        <p:nvSpPr>
          <p:cNvPr id="383" name="Text 16">
            <a:extLst>
              <a:ext uri="{FF2B5EF4-FFF2-40B4-BE49-F238E27FC236}">
                <a16:creationId xmlns:a16="http://schemas.microsoft.com/office/drawing/2014/main" id="{EBFC35A7-0F39-28BB-E96F-B7C7E4B9D299}"/>
              </a:ext>
            </a:extLst>
          </p:cNvPr>
          <p:cNvSpPr/>
          <p:nvPr/>
        </p:nvSpPr>
        <p:spPr>
          <a:xfrm>
            <a:off x="9701640" y="2011680"/>
            <a:ext cx="175536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200" b="1" u="none" strike="noStrike">
                <a:solidFill>
                  <a:srgbClr val="FFFFFF"/>
                </a:solidFill>
                <a:effectLst/>
                <a:uFillTx/>
                <a:latin typeface="Calibri"/>
                <a:ea typeface="Calibri"/>
              </a:rPr>
              <a:t>Notes</a:t>
            </a:r>
            <a:endParaRPr lang="en-US" sz="1200" b="0" u="none" strike="noStrike">
              <a:solidFill>
                <a:srgbClr val="000000"/>
              </a:solidFill>
              <a:effectLst/>
              <a:uFillTx/>
              <a:latin typeface="Arial"/>
            </a:endParaRPr>
          </a:p>
        </p:txBody>
      </p:sp>
      <p:graphicFrame>
        <p:nvGraphicFramePr>
          <p:cNvPr id="2" name="Table 1">
            <a:extLst>
              <a:ext uri="{FF2B5EF4-FFF2-40B4-BE49-F238E27FC236}">
                <a16:creationId xmlns:a16="http://schemas.microsoft.com/office/drawing/2014/main" id="{0E63E8AC-35AA-B238-4E9B-5A3D42EC64C5}"/>
              </a:ext>
            </a:extLst>
          </p:cNvPr>
          <p:cNvGraphicFramePr>
            <a:graphicFrameLocks noGrp="1"/>
          </p:cNvGraphicFramePr>
          <p:nvPr>
            <p:extLst>
              <p:ext uri="{D42A27DB-BD31-4B8C-83A1-F6EECF244321}">
                <p14:modId xmlns:p14="http://schemas.microsoft.com/office/powerpoint/2010/main" val="4110871821"/>
              </p:ext>
            </p:extLst>
          </p:nvPr>
        </p:nvGraphicFramePr>
        <p:xfrm>
          <a:off x="2609160" y="1608404"/>
          <a:ext cx="7162800" cy="3915152"/>
        </p:xfrm>
        <a:graphic>
          <a:graphicData uri="http://schemas.openxmlformats.org/drawingml/2006/table">
            <a:tbl>
              <a:tblPr firstRow="1" bandRow="1">
                <a:tableStyleId>{5C22544A-7EE6-4342-B048-85BDC9FD1C3A}</a:tableStyleId>
              </a:tblPr>
              <a:tblGrid>
                <a:gridCol w="2018570">
                  <a:extLst>
                    <a:ext uri="{9D8B030D-6E8A-4147-A177-3AD203B41FA5}">
                      <a16:colId xmlns:a16="http://schemas.microsoft.com/office/drawing/2014/main" val="1981286215"/>
                    </a:ext>
                  </a:extLst>
                </a:gridCol>
                <a:gridCol w="1639030">
                  <a:extLst>
                    <a:ext uri="{9D8B030D-6E8A-4147-A177-3AD203B41FA5}">
                      <a16:colId xmlns:a16="http://schemas.microsoft.com/office/drawing/2014/main" val="1373194717"/>
                    </a:ext>
                  </a:extLst>
                </a:gridCol>
                <a:gridCol w="1656080">
                  <a:extLst>
                    <a:ext uri="{9D8B030D-6E8A-4147-A177-3AD203B41FA5}">
                      <a16:colId xmlns:a16="http://schemas.microsoft.com/office/drawing/2014/main" val="2863278236"/>
                    </a:ext>
                  </a:extLst>
                </a:gridCol>
                <a:gridCol w="1849120">
                  <a:extLst>
                    <a:ext uri="{9D8B030D-6E8A-4147-A177-3AD203B41FA5}">
                      <a16:colId xmlns:a16="http://schemas.microsoft.com/office/drawing/2014/main" val="2115089662"/>
                    </a:ext>
                  </a:extLst>
                </a:gridCol>
              </a:tblGrid>
              <a:tr h="489394">
                <a:tc>
                  <a:txBody>
                    <a:bodyPr/>
                    <a:lstStyle/>
                    <a:p>
                      <a:pPr algn="ctr" fontAlgn="b">
                        <a:buNone/>
                      </a:pPr>
                      <a:r>
                        <a:rPr lang="en-IN" sz="1600" b="0" i="0" u="none" strike="noStrike">
                          <a:solidFill>
                            <a:srgbClr val="000000"/>
                          </a:solidFill>
                          <a:effectLst/>
                          <a:latin typeface="+mj-lt"/>
                        </a:rPr>
                        <a:t>Li-ion Battery</a:t>
                      </a:r>
                    </a:p>
                  </a:txBody>
                  <a:tcPr marL="7620" marR="7620" marT="7620" marB="0" anchor="ctr">
                    <a:solidFill>
                      <a:schemeClr val="accent1">
                        <a:lumMod val="20000"/>
                        <a:lumOff val="80000"/>
                      </a:schemeClr>
                    </a:solidFill>
                  </a:tcPr>
                </a:tc>
                <a:tc>
                  <a:txBody>
                    <a:bodyPr/>
                    <a:lstStyle/>
                    <a:p>
                      <a:pPr algn="ctr" fontAlgn="b">
                        <a:buNone/>
                      </a:pPr>
                      <a:r>
                        <a:rPr lang="en-IN" sz="1600" b="0" i="0" u="none" strike="noStrike" dirty="0">
                          <a:solidFill>
                            <a:srgbClr val="000000"/>
                          </a:solidFill>
                          <a:effectLst/>
                          <a:latin typeface="Calibri" panose="020F0502020204030204" pitchFamily="34" charset="0"/>
                        </a:rPr>
                        <a:t>3</a:t>
                      </a:r>
                    </a:p>
                  </a:txBody>
                  <a:tcPr marL="7620" marR="7620" marT="7620" marB="0" anchor="ctr">
                    <a:solidFill>
                      <a:schemeClr val="accent1">
                        <a:lumMod val="20000"/>
                        <a:lumOff val="80000"/>
                      </a:schemeClr>
                    </a:solidFill>
                  </a:tcPr>
                </a:tc>
                <a:tc>
                  <a:txBody>
                    <a:bodyPr/>
                    <a:lstStyle/>
                    <a:p>
                      <a:pPr algn="ctr" fontAlgn="b">
                        <a:buNone/>
                      </a:pPr>
                      <a:r>
                        <a:rPr lang="en-IN" sz="1600" b="0" i="0" u="none" strike="noStrike" dirty="0">
                          <a:solidFill>
                            <a:srgbClr val="000000"/>
                          </a:solidFill>
                          <a:effectLst/>
                          <a:latin typeface="Calibri" panose="020F0502020204030204" pitchFamily="34" charset="0"/>
                        </a:rPr>
                        <a:t>200</a:t>
                      </a:r>
                    </a:p>
                  </a:txBody>
                  <a:tcPr marL="7620" marR="7620" marT="7620" marB="0" anchor="ctr">
                    <a:solidFill>
                      <a:schemeClr val="accent1">
                        <a:lumMod val="20000"/>
                        <a:lumOff val="80000"/>
                      </a:schemeClr>
                    </a:solidFill>
                  </a:tcPr>
                </a:tc>
                <a:tc>
                  <a:txBody>
                    <a:bodyPr/>
                    <a:lstStyle/>
                    <a:p>
                      <a:pPr algn="ctr"/>
                      <a:r>
                        <a:rPr lang="en-IN" sz="1600" b="0" dirty="0" err="1">
                          <a:solidFill>
                            <a:schemeClr val="tx1"/>
                          </a:solidFill>
                          <a:latin typeface="+mj-lt"/>
                        </a:rPr>
                        <a:t>Majestronicz</a:t>
                      </a:r>
                      <a:endParaRPr lang="en-IN" sz="1600" b="0" dirty="0">
                        <a:solidFill>
                          <a:schemeClr val="tx1"/>
                        </a:solidFill>
                        <a:latin typeface="+mj-lt"/>
                      </a:endParaRPr>
                    </a:p>
                  </a:txBody>
                  <a:tcPr anchor="ctr">
                    <a:solidFill>
                      <a:schemeClr val="accent1">
                        <a:lumMod val="20000"/>
                        <a:lumOff val="80000"/>
                      </a:schemeClr>
                    </a:solidFill>
                  </a:tcPr>
                </a:tc>
                <a:extLst>
                  <a:ext uri="{0D108BD9-81ED-4DB2-BD59-A6C34878D82A}">
                    <a16:rowId xmlns:a16="http://schemas.microsoft.com/office/drawing/2014/main" val="2677899716"/>
                  </a:ext>
                </a:extLst>
              </a:tr>
              <a:tr h="489394">
                <a:tc>
                  <a:txBody>
                    <a:bodyPr/>
                    <a:lstStyle/>
                    <a:p>
                      <a:pPr algn="ctr" fontAlgn="b">
                        <a:buNone/>
                      </a:pPr>
                      <a:r>
                        <a:rPr lang="en-IN" sz="1600" b="0" i="0" u="none" strike="noStrike">
                          <a:solidFill>
                            <a:srgbClr val="000000"/>
                          </a:solidFill>
                          <a:effectLst/>
                          <a:latin typeface="+mj-lt"/>
                        </a:rPr>
                        <a:t>Buzzer</a:t>
                      </a:r>
                    </a:p>
                  </a:txBody>
                  <a:tcPr marL="7620" marR="7620" marT="7620" marB="0" anchor="ctr">
                    <a:solidFill>
                      <a:schemeClr val="bg1">
                        <a:lumMod val="95000"/>
                      </a:schemeClr>
                    </a:solidFill>
                  </a:tcPr>
                </a:tc>
                <a:tc>
                  <a:txBody>
                    <a:bodyPr/>
                    <a:lstStyle/>
                    <a:p>
                      <a:pPr algn="ctr" fontAlgn="b">
                        <a:buNone/>
                      </a:pPr>
                      <a:r>
                        <a:rPr lang="en-IN" sz="1600" b="0" i="0" u="none" strike="noStrike">
                          <a:solidFill>
                            <a:srgbClr val="000000"/>
                          </a:solidFill>
                          <a:effectLst/>
                          <a:latin typeface="Calibri" panose="020F0502020204030204" pitchFamily="34" charset="0"/>
                        </a:rPr>
                        <a:t>1</a:t>
                      </a:r>
                    </a:p>
                  </a:txBody>
                  <a:tcPr marL="7620" marR="7620" marT="7620" marB="0" anchor="ctr">
                    <a:solidFill>
                      <a:schemeClr val="bg1">
                        <a:lumMod val="95000"/>
                      </a:schemeClr>
                    </a:solidFill>
                  </a:tcPr>
                </a:tc>
                <a:tc>
                  <a:txBody>
                    <a:bodyPr/>
                    <a:lstStyle/>
                    <a:p>
                      <a:pPr algn="ctr" fontAlgn="b">
                        <a:buNone/>
                      </a:pPr>
                      <a:r>
                        <a:rPr lang="en-IN" sz="1600" b="0" i="0" u="none" strike="noStrike">
                          <a:solidFill>
                            <a:srgbClr val="000000"/>
                          </a:solidFill>
                          <a:effectLst/>
                          <a:latin typeface="Calibri" panose="020F0502020204030204" pitchFamily="34" charset="0"/>
                        </a:rPr>
                        <a:t>20</a:t>
                      </a:r>
                    </a:p>
                  </a:txBody>
                  <a:tcPr marL="7620" marR="7620" marT="7620" marB="0" anchor="ctr">
                    <a:solidFill>
                      <a:schemeClr val="bg1">
                        <a:lumMod val="95000"/>
                      </a:schemeClr>
                    </a:solidFill>
                  </a:tcPr>
                </a:tc>
                <a:tc>
                  <a:txBody>
                    <a:bodyPr/>
                    <a:lstStyle/>
                    <a:p>
                      <a:pPr algn="ctr"/>
                      <a:r>
                        <a:rPr lang="en-IN" sz="1600" dirty="0" err="1">
                          <a:latin typeface="+mj-lt"/>
                        </a:rPr>
                        <a:t>Majestronicz</a:t>
                      </a:r>
                      <a:endParaRPr lang="en-IN" sz="1600" dirty="0">
                        <a:latin typeface="+mj-lt"/>
                      </a:endParaRPr>
                    </a:p>
                  </a:txBody>
                  <a:tcPr anchor="ctr">
                    <a:solidFill>
                      <a:schemeClr val="bg1">
                        <a:lumMod val="95000"/>
                      </a:schemeClr>
                    </a:solidFill>
                  </a:tcPr>
                </a:tc>
                <a:extLst>
                  <a:ext uri="{0D108BD9-81ED-4DB2-BD59-A6C34878D82A}">
                    <a16:rowId xmlns:a16="http://schemas.microsoft.com/office/drawing/2014/main" val="2617621647"/>
                  </a:ext>
                </a:extLst>
              </a:tr>
              <a:tr h="489394">
                <a:tc>
                  <a:txBody>
                    <a:bodyPr/>
                    <a:lstStyle/>
                    <a:p>
                      <a:pPr algn="ctr" fontAlgn="b">
                        <a:buNone/>
                      </a:pPr>
                      <a:r>
                        <a:rPr lang="en-IN" sz="1600" b="0" i="0" u="none" strike="noStrike">
                          <a:solidFill>
                            <a:srgbClr val="000000"/>
                          </a:solidFill>
                          <a:effectLst/>
                          <a:latin typeface="+mj-lt"/>
                        </a:rPr>
                        <a:t>LED + Resistor</a:t>
                      </a:r>
                    </a:p>
                  </a:txBody>
                  <a:tcPr marL="7620" marR="7620" marT="7620" marB="0" anchor="ctr"/>
                </a:tc>
                <a:tc>
                  <a:txBody>
                    <a:bodyPr/>
                    <a:lstStyle/>
                    <a:p>
                      <a:pPr algn="ctr" fontAlgn="b">
                        <a:buNone/>
                      </a:pPr>
                      <a:r>
                        <a:rPr lang="en-IN" sz="1600" b="0" i="0" u="none" strike="noStrike">
                          <a:solidFill>
                            <a:srgbClr val="000000"/>
                          </a:solidFill>
                          <a:effectLst/>
                          <a:latin typeface="Calibri" panose="020F0502020204030204" pitchFamily="34" charset="0"/>
                        </a:rPr>
                        <a:t>1</a:t>
                      </a:r>
                    </a:p>
                  </a:txBody>
                  <a:tcPr marL="7620" marR="7620" marT="7620" marB="0" anchor="ctr"/>
                </a:tc>
                <a:tc>
                  <a:txBody>
                    <a:bodyPr/>
                    <a:lstStyle/>
                    <a:p>
                      <a:pPr algn="ctr" fontAlgn="b">
                        <a:buNone/>
                      </a:pPr>
                      <a:r>
                        <a:rPr lang="en-IN" sz="1600" b="0" i="0" u="none" strike="noStrike">
                          <a:solidFill>
                            <a:srgbClr val="000000"/>
                          </a:solidFill>
                          <a:effectLst/>
                          <a:latin typeface="Calibri" panose="020F0502020204030204" pitchFamily="34" charset="0"/>
                        </a:rPr>
                        <a:t>20</a:t>
                      </a:r>
                    </a:p>
                  </a:txBody>
                  <a:tcPr marL="7620" marR="7620" marT="7620" marB="0" anchor="ctr"/>
                </a:tc>
                <a:tc>
                  <a:txBody>
                    <a:bodyPr/>
                    <a:lstStyle/>
                    <a:p>
                      <a:pPr algn="ctr"/>
                      <a:r>
                        <a:rPr lang="en-IN" sz="1600" dirty="0" err="1">
                          <a:latin typeface="+mj-lt"/>
                        </a:rPr>
                        <a:t>Majestronicz</a:t>
                      </a:r>
                      <a:endParaRPr lang="en-IN" sz="1600" dirty="0">
                        <a:latin typeface="+mj-lt"/>
                      </a:endParaRPr>
                    </a:p>
                  </a:txBody>
                  <a:tcPr anchor="ctr"/>
                </a:tc>
                <a:extLst>
                  <a:ext uri="{0D108BD9-81ED-4DB2-BD59-A6C34878D82A}">
                    <a16:rowId xmlns:a16="http://schemas.microsoft.com/office/drawing/2014/main" val="983697115"/>
                  </a:ext>
                </a:extLst>
              </a:tr>
              <a:tr h="489394">
                <a:tc>
                  <a:txBody>
                    <a:bodyPr/>
                    <a:lstStyle/>
                    <a:p>
                      <a:pPr algn="ctr" fontAlgn="b">
                        <a:buNone/>
                      </a:pPr>
                      <a:r>
                        <a:rPr lang="en-IN" sz="1600" b="0" i="0" u="none" strike="noStrike">
                          <a:solidFill>
                            <a:srgbClr val="000000"/>
                          </a:solidFill>
                          <a:effectLst/>
                          <a:latin typeface="+mj-lt"/>
                        </a:rPr>
                        <a:t>Push Button</a:t>
                      </a:r>
                    </a:p>
                  </a:txBody>
                  <a:tcPr marL="7620" marR="7620" marT="7620" marB="0" anchor="ctr">
                    <a:solidFill>
                      <a:schemeClr val="accent3">
                        <a:lumMod val="20000"/>
                        <a:lumOff val="80000"/>
                      </a:schemeClr>
                    </a:solidFill>
                  </a:tcPr>
                </a:tc>
                <a:tc>
                  <a:txBody>
                    <a:bodyPr/>
                    <a:lstStyle/>
                    <a:p>
                      <a:pPr algn="ctr" fontAlgn="b">
                        <a:buNone/>
                      </a:pPr>
                      <a:r>
                        <a:rPr lang="en-IN" sz="1600" b="0" i="0" u="none" strike="noStrike">
                          <a:solidFill>
                            <a:srgbClr val="000000"/>
                          </a:solidFill>
                          <a:effectLst/>
                          <a:latin typeface="Calibri" panose="020F0502020204030204" pitchFamily="34" charset="0"/>
                        </a:rPr>
                        <a:t>1</a:t>
                      </a:r>
                    </a:p>
                  </a:txBody>
                  <a:tcPr marL="7620" marR="7620" marT="7620" marB="0" anchor="ctr">
                    <a:solidFill>
                      <a:schemeClr val="accent3">
                        <a:lumMod val="20000"/>
                        <a:lumOff val="80000"/>
                      </a:schemeClr>
                    </a:solidFill>
                  </a:tcPr>
                </a:tc>
                <a:tc>
                  <a:txBody>
                    <a:bodyPr/>
                    <a:lstStyle/>
                    <a:p>
                      <a:pPr algn="ctr" fontAlgn="b">
                        <a:buNone/>
                      </a:pPr>
                      <a:r>
                        <a:rPr lang="en-IN" sz="1600" b="0" i="0" u="none" strike="noStrike">
                          <a:solidFill>
                            <a:srgbClr val="000000"/>
                          </a:solidFill>
                          <a:effectLst/>
                          <a:latin typeface="Calibri" panose="020F0502020204030204" pitchFamily="34" charset="0"/>
                        </a:rPr>
                        <a:t>20</a:t>
                      </a:r>
                    </a:p>
                  </a:txBody>
                  <a:tcPr marL="7620" marR="7620" marT="7620" marB="0" anchor="ctr">
                    <a:solidFill>
                      <a:schemeClr val="accent3">
                        <a:lumMod val="20000"/>
                        <a:lumOff val="80000"/>
                      </a:schemeClr>
                    </a:solidFill>
                  </a:tcPr>
                </a:tc>
                <a:tc>
                  <a:txBody>
                    <a:bodyPr/>
                    <a:lstStyle/>
                    <a:p>
                      <a:pPr algn="ctr"/>
                      <a:r>
                        <a:rPr lang="en-IN" sz="1600" dirty="0" err="1">
                          <a:latin typeface="+mj-lt"/>
                        </a:rPr>
                        <a:t>Majestronicz</a:t>
                      </a:r>
                      <a:endParaRPr lang="en-IN" sz="1600" dirty="0">
                        <a:latin typeface="+mj-lt"/>
                      </a:endParaRPr>
                    </a:p>
                  </a:txBody>
                  <a:tcPr anchor="ctr">
                    <a:solidFill>
                      <a:schemeClr val="accent3">
                        <a:lumMod val="20000"/>
                        <a:lumOff val="80000"/>
                      </a:schemeClr>
                    </a:solidFill>
                  </a:tcPr>
                </a:tc>
                <a:extLst>
                  <a:ext uri="{0D108BD9-81ED-4DB2-BD59-A6C34878D82A}">
                    <a16:rowId xmlns:a16="http://schemas.microsoft.com/office/drawing/2014/main" val="1641236208"/>
                  </a:ext>
                </a:extLst>
              </a:tr>
              <a:tr h="489394">
                <a:tc>
                  <a:txBody>
                    <a:bodyPr/>
                    <a:lstStyle/>
                    <a:p>
                      <a:pPr algn="ctr" fontAlgn="b">
                        <a:buNone/>
                      </a:pPr>
                      <a:r>
                        <a:rPr lang="en-IN" sz="1600" b="0" i="0" u="none" strike="noStrike">
                          <a:solidFill>
                            <a:srgbClr val="000000"/>
                          </a:solidFill>
                          <a:effectLst/>
                          <a:latin typeface="+mj-lt"/>
                        </a:rPr>
                        <a:t>Jumper Wires</a:t>
                      </a:r>
                    </a:p>
                  </a:txBody>
                  <a:tcPr marL="7620" marR="7620" marT="7620" marB="0" anchor="ctr"/>
                </a:tc>
                <a:tc>
                  <a:txBody>
                    <a:bodyPr/>
                    <a:lstStyle/>
                    <a:p>
                      <a:pPr algn="ctr" fontAlgn="b">
                        <a:buNone/>
                      </a:pPr>
                      <a:r>
                        <a:rPr lang="en-IN" sz="1600" b="0" i="0" u="none" strike="noStrike">
                          <a:solidFill>
                            <a:srgbClr val="000000"/>
                          </a:solidFill>
                          <a:effectLst/>
                          <a:latin typeface="Calibri" panose="020F0502020204030204" pitchFamily="34" charset="0"/>
                        </a:rPr>
                        <a:t>1</a:t>
                      </a:r>
                    </a:p>
                  </a:txBody>
                  <a:tcPr marL="7620" marR="7620" marT="7620" marB="0" anchor="ctr"/>
                </a:tc>
                <a:tc>
                  <a:txBody>
                    <a:bodyPr/>
                    <a:lstStyle/>
                    <a:p>
                      <a:pPr algn="ctr" fontAlgn="b">
                        <a:buNone/>
                      </a:pPr>
                      <a:r>
                        <a:rPr lang="en-IN" sz="1600" b="0" i="0" u="none" strike="noStrike">
                          <a:solidFill>
                            <a:srgbClr val="000000"/>
                          </a:solidFill>
                          <a:effectLst/>
                          <a:latin typeface="Calibri" panose="020F0502020204030204" pitchFamily="34" charset="0"/>
                        </a:rPr>
                        <a:t>100</a:t>
                      </a:r>
                    </a:p>
                  </a:txBody>
                  <a:tcPr marL="7620" marR="7620" marT="7620" marB="0" anchor="ctr"/>
                </a:tc>
                <a:tc>
                  <a:txBody>
                    <a:bodyPr/>
                    <a:lstStyle/>
                    <a:p>
                      <a:pPr algn="ctr"/>
                      <a:r>
                        <a:rPr lang="en-IN" sz="1600" dirty="0" err="1">
                          <a:latin typeface="+mj-lt"/>
                        </a:rPr>
                        <a:t>Majestronicz</a:t>
                      </a:r>
                      <a:endParaRPr lang="en-IN" sz="1600" dirty="0">
                        <a:latin typeface="+mj-lt"/>
                      </a:endParaRPr>
                    </a:p>
                  </a:txBody>
                  <a:tcPr anchor="ctr"/>
                </a:tc>
                <a:extLst>
                  <a:ext uri="{0D108BD9-81ED-4DB2-BD59-A6C34878D82A}">
                    <a16:rowId xmlns:a16="http://schemas.microsoft.com/office/drawing/2014/main" val="3803451443"/>
                  </a:ext>
                </a:extLst>
              </a:tr>
              <a:tr h="489394">
                <a:tc>
                  <a:txBody>
                    <a:bodyPr/>
                    <a:lstStyle/>
                    <a:p>
                      <a:pPr algn="ctr" fontAlgn="b">
                        <a:buNone/>
                      </a:pPr>
                      <a:r>
                        <a:rPr lang="en-IN" sz="1600" b="0" i="0" u="none" strike="noStrike">
                          <a:solidFill>
                            <a:srgbClr val="000000"/>
                          </a:solidFill>
                          <a:effectLst/>
                          <a:latin typeface="+mj-lt"/>
                        </a:rPr>
                        <a:t>Breadboard/PCB</a:t>
                      </a:r>
                    </a:p>
                  </a:txBody>
                  <a:tcPr marL="7620" marR="7620" marT="7620" marB="0" anchor="ctr">
                    <a:solidFill>
                      <a:schemeClr val="accent3">
                        <a:lumMod val="20000"/>
                        <a:lumOff val="80000"/>
                      </a:schemeClr>
                    </a:solidFill>
                  </a:tcPr>
                </a:tc>
                <a:tc>
                  <a:txBody>
                    <a:bodyPr/>
                    <a:lstStyle/>
                    <a:p>
                      <a:pPr algn="ctr" fontAlgn="b">
                        <a:buNone/>
                      </a:pPr>
                      <a:r>
                        <a:rPr lang="en-IN" sz="1600" b="0" i="0" u="none" strike="noStrike">
                          <a:solidFill>
                            <a:srgbClr val="000000"/>
                          </a:solidFill>
                          <a:effectLst/>
                          <a:latin typeface="Calibri" panose="020F0502020204030204" pitchFamily="34" charset="0"/>
                        </a:rPr>
                        <a:t>1</a:t>
                      </a:r>
                    </a:p>
                  </a:txBody>
                  <a:tcPr marL="7620" marR="7620" marT="7620" marB="0" anchor="ctr">
                    <a:solidFill>
                      <a:schemeClr val="accent3">
                        <a:lumMod val="20000"/>
                        <a:lumOff val="80000"/>
                      </a:schemeClr>
                    </a:solidFill>
                  </a:tcPr>
                </a:tc>
                <a:tc>
                  <a:txBody>
                    <a:bodyPr/>
                    <a:lstStyle/>
                    <a:p>
                      <a:pPr algn="ctr" fontAlgn="b">
                        <a:buNone/>
                      </a:pPr>
                      <a:r>
                        <a:rPr lang="en-IN" sz="1600" b="0" i="0" u="none" strike="noStrike">
                          <a:solidFill>
                            <a:srgbClr val="000000"/>
                          </a:solidFill>
                          <a:effectLst/>
                          <a:latin typeface="Calibri" panose="020F0502020204030204" pitchFamily="34" charset="0"/>
                        </a:rPr>
                        <a:t>150</a:t>
                      </a:r>
                    </a:p>
                  </a:txBody>
                  <a:tcPr marL="7620" marR="7620" marT="7620" marB="0" anchor="ctr">
                    <a:solidFill>
                      <a:schemeClr val="accent3">
                        <a:lumMod val="20000"/>
                        <a:lumOff val="80000"/>
                      </a:schemeClr>
                    </a:solidFill>
                  </a:tcPr>
                </a:tc>
                <a:tc>
                  <a:txBody>
                    <a:bodyPr/>
                    <a:lstStyle/>
                    <a:p>
                      <a:pPr algn="ctr"/>
                      <a:r>
                        <a:rPr lang="en-IN" sz="1600" dirty="0" err="1">
                          <a:latin typeface="+mj-lt"/>
                        </a:rPr>
                        <a:t>Majestronicz</a:t>
                      </a:r>
                      <a:endParaRPr lang="en-IN" sz="1600" dirty="0">
                        <a:latin typeface="+mj-lt"/>
                      </a:endParaRPr>
                    </a:p>
                  </a:txBody>
                  <a:tcPr anchor="ctr">
                    <a:solidFill>
                      <a:schemeClr val="accent3">
                        <a:lumMod val="20000"/>
                        <a:lumOff val="80000"/>
                      </a:schemeClr>
                    </a:solidFill>
                  </a:tcPr>
                </a:tc>
                <a:extLst>
                  <a:ext uri="{0D108BD9-81ED-4DB2-BD59-A6C34878D82A}">
                    <a16:rowId xmlns:a16="http://schemas.microsoft.com/office/drawing/2014/main" val="3026965358"/>
                  </a:ext>
                </a:extLst>
              </a:tr>
              <a:tr h="489394">
                <a:tc>
                  <a:txBody>
                    <a:bodyPr/>
                    <a:lstStyle/>
                    <a:p>
                      <a:pPr algn="ctr" fontAlgn="b">
                        <a:buNone/>
                      </a:pPr>
                      <a:r>
                        <a:rPr lang="en-IN" sz="1600" b="0" i="0" u="none" strike="noStrike">
                          <a:solidFill>
                            <a:srgbClr val="000000"/>
                          </a:solidFill>
                          <a:effectLst/>
                          <a:latin typeface="+mj-lt"/>
                        </a:rPr>
                        <a:t>Battery holder</a:t>
                      </a:r>
                    </a:p>
                  </a:txBody>
                  <a:tcPr marL="7620" marR="7620" marT="7620" marB="0" anchor="ctr"/>
                </a:tc>
                <a:tc>
                  <a:txBody>
                    <a:bodyPr/>
                    <a:lstStyle/>
                    <a:p>
                      <a:pPr algn="ctr" fontAlgn="b">
                        <a:buNone/>
                      </a:pPr>
                      <a:r>
                        <a:rPr lang="en-IN" sz="1600" b="0" i="0" u="none" strike="noStrike">
                          <a:solidFill>
                            <a:srgbClr val="000000"/>
                          </a:solidFill>
                          <a:effectLst/>
                          <a:latin typeface="Calibri" panose="020F0502020204030204" pitchFamily="34" charset="0"/>
                        </a:rPr>
                        <a:t>1</a:t>
                      </a:r>
                    </a:p>
                  </a:txBody>
                  <a:tcPr marL="7620" marR="7620" marT="7620" marB="0" anchor="ctr"/>
                </a:tc>
                <a:tc>
                  <a:txBody>
                    <a:bodyPr/>
                    <a:lstStyle/>
                    <a:p>
                      <a:pPr algn="ctr" fontAlgn="b">
                        <a:buNone/>
                      </a:pPr>
                      <a:r>
                        <a:rPr lang="en-IN" sz="1600" b="0" i="0" u="none" strike="noStrike">
                          <a:solidFill>
                            <a:srgbClr val="000000"/>
                          </a:solidFill>
                          <a:effectLst/>
                          <a:latin typeface="Calibri" panose="020F0502020204030204" pitchFamily="34" charset="0"/>
                        </a:rPr>
                        <a:t>55</a:t>
                      </a:r>
                    </a:p>
                  </a:txBody>
                  <a:tcPr marL="7620" marR="7620" marT="762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dirty="0" err="1">
                          <a:latin typeface="+mj-lt"/>
                        </a:rPr>
                        <a:t>Majestronicz</a:t>
                      </a:r>
                      <a:endParaRPr lang="en-IN" sz="1600" dirty="0">
                        <a:latin typeface="+mj-lt"/>
                      </a:endParaRPr>
                    </a:p>
                  </a:txBody>
                  <a:tcPr anchor="ctr"/>
                </a:tc>
                <a:extLst>
                  <a:ext uri="{0D108BD9-81ED-4DB2-BD59-A6C34878D82A}">
                    <a16:rowId xmlns:a16="http://schemas.microsoft.com/office/drawing/2014/main" val="2323200496"/>
                  </a:ext>
                </a:extLst>
              </a:tr>
              <a:tr h="489394">
                <a:tc>
                  <a:txBody>
                    <a:bodyPr/>
                    <a:lstStyle/>
                    <a:p>
                      <a:pPr algn="ctr" fontAlgn="b">
                        <a:buNone/>
                      </a:pPr>
                      <a:r>
                        <a:rPr lang="en-US" sz="1600" b="0" i="0" u="none" strike="noStrike" dirty="0">
                          <a:solidFill>
                            <a:srgbClr val="000000"/>
                          </a:solidFill>
                          <a:effectLst/>
                          <a:latin typeface="+mj-lt"/>
                        </a:rPr>
                        <a:t>DC to DC Power Module</a:t>
                      </a:r>
                    </a:p>
                  </a:txBody>
                  <a:tcPr marL="7620" marR="7620" marT="7620" marB="0" anchor="ctr">
                    <a:solidFill>
                      <a:schemeClr val="accent3">
                        <a:lumMod val="20000"/>
                        <a:lumOff val="80000"/>
                      </a:schemeClr>
                    </a:solidFill>
                  </a:tcPr>
                </a:tc>
                <a:tc>
                  <a:txBody>
                    <a:bodyPr/>
                    <a:lstStyle/>
                    <a:p>
                      <a:pPr algn="ctr" fontAlgn="b">
                        <a:buNone/>
                      </a:pPr>
                      <a:r>
                        <a:rPr lang="en-IN" sz="1600" b="0" i="0" u="none" strike="noStrike" dirty="0">
                          <a:solidFill>
                            <a:srgbClr val="000000"/>
                          </a:solidFill>
                          <a:effectLst/>
                          <a:latin typeface="Calibri" panose="020F0502020204030204" pitchFamily="34" charset="0"/>
                        </a:rPr>
                        <a:t>1</a:t>
                      </a:r>
                    </a:p>
                  </a:txBody>
                  <a:tcPr marL="7620" marR="7620" marT="7620" marB="0" anchor="ctr">
                    <a:solidFill>
                      <a:schemeClr val="accent3">
                        <a:lumMod val="20000"/>
                        <a:lumOff val="80000"/>
                      </a:schemeClr>
                    </a:solidFill>
                  </a:tcPr>
                </a:tc>
                <a:tc>
                  <a:txBody>
                    <a:bodyPr/>
                    <a:lstStyle/>
                    <a:p>
                      <a:pPr algn="ctr" fontAlgn="b">
                        <a:buNone/>
                      </a:pPr>
                      <a:r>
                        <a:rPr lang="en-IN" sz="1600" b="0" i="0" u="none" strike="noStrike" dirty="0">
                          <a:solidFill>
                            <a:srgbClr val="000000"/>
                          </a:solidFill>
                          <a:effectLst/>
                          <a:latin typeface="Calibri" panose="020F0502020204030204" pitchFamily="34" charset="0"/>
                        </a:rPr>
                        <a:t>70</a:t>
                      </a:r>
                    </a:p>
                  </a:txBody>
                  <a:tcPr marL="7620" marR="7620" marT="7620" marB="0"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kern="1200" dirty="0" err="1">
                          <a:solidFill>
                            <a:schemeClr val="dk1"/>
                          </a:solidFill>
                          <a:latin typeface="+mn-lt"/>
                          <a:ea typeface="+mn-ea"/>
                          <a:cs typeface="+mn-cs"/>
                        </a:rPr>
                        <a:t>Majestronicz</a:t>
                      </a:r>
                      <a:endParaRPr lang="en-IN" sz="1600" kern="1200" dirty="0">
                        <a:solidFill>
                          <a:schemeClr val="dk1"/>
                        </a:solidFill>
                        <a:latin typeface="+mn-lt"/>
                        <a:ea typeface="+mn-ea"/>
                        <a:cs typeface="+mn-cs"/>
                      </a:endParaRPr>
                    </a:p>
                  </a:txBody>
                  <a:tcPr anchor="ctr">
                    <a:solidFill>
                      <a:schemeClr val="accent3">
                        <a:lumMod val="20000"/>
                        <a:lumOff val="80000"/>
                      </a:schemeClr>
                    </a:solidFill>
                  </a:tcPr>
                </a:tc>
                <a:extLst>
                  <a:ext uri="{0D108BD9-81ED-4DB2-BD59-A6C34878D82A}">
                    <a16:rowId xmlns:a16="http://schemas.microsoft.com/office/drawing/2014/main" val="1613079150"/>
                  </a:ext>
                </a:extLst>
              </a:tr>
            </a:tbl>
          </a:graphicData>
        </a:graphic>
      </p:graphicFrame>
    </p:spTree>
    <p:extLst>
      <p:ext uri="{BB962C8B-B14F-4D97-AF65-F5344CB8AC3E}">
        <p14:creationId xmlns:p14="http://schemas.microsoft.com/office/powerpoint/2010/main" val="23296420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 name="Shape 0"/>
          <p:cNvSpPr/>
          <p:nvPr/>
        </p:nvSpPr>
        <p:spPr>
          <a:xfrm>
            <a:off x="0" y="0"/>
            <a:ext cx="12191400" cy="566640"/>
          </a:xfrm>
          <a:prstGeom prst="rect">
            <a:avLst/>
          </a:prstGeom>
          <a:solidFill>
            <a:srgbClr val="0B2E4A"/>
          </a:solidFill>
          <a:ln w="12700">
            <a:solidFill>
              <a:srgbClr val="0B2E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16" name="Shape 1"/>
          <p:cNvSpPr/>
          <p:nvPr/>
        </p:nvSpPr>
        <p:spPr>
          <a:xfrm>
            <a:off x="0" y="0"/>
            <a:ext cx="145800" cy="566640"/>
          </a:xfrm>
          <a:prstGeom prst="rect">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17" name="Text 2"/>
          <p:cNvSpPr/>
          <p:nvPr/>
        </p:nvSpPr>
        <p:spPr>
          <a:xfrm>
            <a:off x="594360" y="109800"/>
            <a:ext cx="1100268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400" b="1" u="none" strike="noStrike">
                <a:solidFill>
                  <a:srgbClr val="FFFFFF"/>
                </a:solidFill>
                <a:effectLst/>
                <a:uFillTx/>
                <a:latin typeface="Calibri"/>
                <a:ea typeface="Calibri"/>
              </a:rPr>
              <a:t>SoI Innovation Pipeline</a:t>
            </a:r>
            <a:endParaRPr lang="en-US" sz="1400" b="0" u="none" strike="noStrike">
              <a:solidFill>
                <a:srgbClr val="000000"/>
              </a:solidFill>
              <a:effectLst/>
              <a:uFillTx/>
              <a:latin typeface="Arial"/>
            </a:endParaRPr>
          </a:p>
        </p:txBody>
      </p:sp>
      <p:sp>
        <p:nvSpPr>
          <p:cNvPr id="418" name="Shape 3"/>
          <p:cNvSpPr/>
          <p:nvPr/>
        </p:nvSpPr>
        <p:spPr>
          <a:xfrm>
            <a:off x="594360" y="658440"/>
            <a:ext cx="1919880" cy="292320"/>
          </a:xfrm>
          <a:prstGeom prst="roundRect">
            <a:avLst>
              <a:gd name="adj" fmla="val 16667"/>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19" name="Text 4"/>
          <p:cNvSpPr/>
          <p:nvPr/>
        </p:nvSpPr>
        <p:spPr>
          <a:xfrm>
            <a:off x="594360" y="704160"/>
            <a:ext cx="19198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VALIDATE</a:t>
            </a:r>
            <a:endParaRPr lang="en-US" sz="1200" b="0" u="none" strike="noStrike">
              <a:solidFill>
                <a:srgbClr val="000000"/>
              </a:solidFill>
              <a:effectLst/>
              <a:uFillTx/>
              <a:latin typeface="Arial"/>
            </a:endParaRPr>
          </a:p>
        </p:txBody>
      </p:sp>
      <p:sp>
        <p:nvSpPr>
          <p:cNvPr id="420" name="Text 5"/>
          <p:cNvSpPr/>
          <p:nvPr/>
        </p:nvSpPr>
        <p:spPr>
          <a:xfrm>
            <a:off x="594360" y="822960"/>
            <a:ext cx="11002680" cy="54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3200" b="1" u="none" strike="noStrike">
                <a:solidFill>
                  <a:srgbClr val="111827"/>
                </a:solidFill>
                <a:effectLst/>
                <a:uFillTx/>
                <a:latin typeface="Calibri"/>
                <a:ea typeface="Calibri"/>
              </a:rPr>
              <a:t>Prototype Demo &amp; Validation Plan</a:t>
            </a:r>
            <a:endParaRPr lang="en-US" sz="3200" b="0" u="none" strike="noStrike">
              <a:solidFill>
                <a:srgbClr val="000000"/>
              </a:solidFill>
              <a:effectLst/>
              <a:uFillTx/>
              <a:latin typeface="Arial"/>
            </a:endParaRPr>
          </a:p>
        </p:txBody>
      </p:sp>
      <p:sp>
        <p:nvSpPr>
          <p:cNvPr id="422" name="Shape 7"/>
          <p:cNvSpPr/>
          <p:nvPr/>
        </p:nvSpPr>
        <p:spPr>
          <a:xfrm>
            <a:off x="594360" y="1874520"/>
            <a:ext cx="5668920" cy="4525920"/>
          </a:xfrm>
          <a:prstGeom prst="roundRect">
            <a:avLst>
              <a:gd name="adj" fmla="val 16667"/>
            </a:avLst>
          </a:prstGeom>
          <a:solidFill>
            <a:srgbClr val="FFFFFF"/>
          </a:solidFill>
          <a:ln w="12700">
            <a:solidFill>
              <a:srgbClr val="E5E7EB"/>
            </a:solidFill>
            <a:round/>
          </a:ln>
          <a:effectLst>
            <a:outerShdw blurRad="28080" dist="19855" dir="2700000" algn="bl" rotWithShape="0">
              <a:srgbClr val="000000">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23" name="Text 8"/>
          <p:cNvSpPr/>
          <p:nvPr/>
        </p:nvSpPr>
        <p:spPr>
          <a:xfrm>
            <a:off x="850320" y="2039040"/>
            <a:ext cx="515700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600" b="1" u="none" strike="noStrike">
                <a:solidFill>
                  <a:srgbClr val="111827"/>
                </a:solidFill>
                <a:effectLst/>
                <a:uFillTx/>
                <a:latin typeface="Calibri"/>
                <a:ea typeface="Calibri"/>
              </a:rPr>
              <a:t>Demo scenario (fill)</a:t>
            </a:r>
            <a:endParaRPr lang="en-US" sz="1600" b="0" u="none" strike="noStrike">
              <a:solidFill>
                <a:srgbClr val="000000"/>
              </a:solidFill>
              <a:effectLst/>
              <a:uFillTx/>
              <a:latin typeface="Arial"/>
            </a:endParaRPr>
          </a:p>
        </p:txBody>
      </p:sp>
      <p:sp>
        <p:nvSpPr>
          <p:cNvPr id="424" name="Text 9"/>
          <p:cNvSpPr/>
          <p:nvPr/>
        </p:nvSpPr>
        <p:spPr>
          <a:xfrm>
            <a:off x="850320" y="2377440"/>
            <a:ext cx="5157000" cy="3849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lvl="0" eaLnBrk="0" fontAlgn="base" hangingPunct="0">
              <a:spcBef>
                <a:spcPct val="0"/>
              </a:spcBef>
              <a:spcAft>
                <a:spcPct val="0"/>
              </a:spcAft>
              <a:buFontTx/>
              <a:buChar char="•"/>
            </a:pPr>
            <a:r>
              <a:rPr lang="en-US" altLang="en-US" dirty="0"/>
              <a:t>Power ON the ESP32 accident alert system.</a:t>
            </a:r>
          </a:p>
          <a:p>
            <a:pPr lvl="0" eaLnBrk="0" fontAlgn="base" hangingPunct="0">
              <a:spcBef>
                <a:spcPct val="0"/>
              </a:spcBef>
              <a:spcAft>
                <a:spcPct val="0"/>
              </a:spcAft>
              <a:buFontTx/>
              <a:buChar char="•"/>
            </a:pPr>
            <a:r>
              <a:rPr lang="en-US" altLang="en-US" dirty="0"/>
              <a:t>System initializes sensors, GSM, GPS, and Wi-Fi.</a:t>
            </a:r>
          </a:p>
          <a:p>
            <a:pPr lvl="0" eaLnBrk="0" fontAlgn="base" hangingPunct="0">
              <a:spcBef>
                <a:spcPct val="0"/>
              </a:spcBef>
              <a:spcAft>
                <a:spcPct val="0"/>
              </a:spcAft>
              <a:buFontTx/>
              <a:buChar char="•"/>
            </a:pPr>
            <a:r>
              <a:rPr lang="en-US" altLang="en-US" dirty="0"/>
              <a:t>Normal state: no alert, buzzer and LED OFF.</a:t>
            </a:r>
          </a:p>
          <a:p>
            <a:pPr lvl="0" eaLnBrk="0" fontAlgn="base" hangingPunct="0">
              <a:spcBef>
                <a:spcPct val="0"/>
              </a:spcBef>
              <a:spcAft>
                <a:spcPct val="0"/>
              </a:spcAft>
              <a:buFontTx/>
              <a:buChar char="•"/>
            </a:pPr>
            <a:r>
              <a:rPr lang="en-US" altLang="en-US" dirty="0"/>
              <a:t>Simulate accident using impact, vibration, or heat.</a:t>
            </a:r>
          </a:p>
          <a:p>
            <a:pPr lvl="0" eaLnBrk="0" fontAlgn="base" hangingPunct="0">
              <a:spcBef>
                <a:spcPct val="0"/>
              </a:spcBef>
              <a:spcAft>
                <a:spcPct val="0"/>
              </a:spcAft>
              <a:buFontTx/>
              <a:buChar char="•"/>
            </a:pPr>
            <a:r>
              <a:rPr lang="en-US" altLang="en-US" dirty="0"/>
              <a:t>Buzzer and LED turn ON immediately.</a:t>
            </a:r>
          </a:p>
          <a:p>
            <a:pPr lvl="0" eaLnBrk="0" fontAlgn="base" hangingPunct="0">
              <a:spcBef>
                <a:spcPct val="0"/>
              </a:spcBef>
              <a:spcAft>
                <a:spcPct val="0"/>
              </a:spcAft>
              <a:buFontTx/>
              <a:buChar char="•"/>
            </a:pPr>
            <a:r>
              <a:rPr lang="en-US" altLang="en-US" dirty="0"/>
              <a:t>If not cancelled, SMS with location is sent.</a:t>
            </a:r>
          </a:p>
          <a:p>
            <a:endParaRPr dirty="0"/>
          </a:p>
          <a:p>
            <a:endParaRPr dirty="0"/>
          </a:p>
        </p:txBody>
      </p:sp>
      <p:sp>
        <p:nvSpPr>
          <p:cNvPr id="425" name="Shape 10"/>
          <p:cNvSpPr/>
          <p:nvPr/>
        </p:nvSpPr>
        <p:spPr>
          <a:xfrm>
            <a:off x="6537960" y="1874520"/>
            <a:ext cx="5348880" cy="4525920"/>
          </a:xfrm>
          <a:prstGeom prst="roundRect">
            <a:avLst>
              <a:gd name="adj" fmla="val 16667"/>
            </a:avLst>
          </a:prstGeom>
          <a:solidFill>
            <a:srgbClr val="FFFFFF"/>
          </a:solidFill>
          <a:ln w="12700">
            <a:solidFill>
              <a:srgbClr val="E5E7EB"/>
            </a:solidFill>
            <a:round/>
          </a:ln>
          <a:effectLst>
            <a:outerShdw blurRad="28080" dist="19855" dir="2700000" algn="bl" rotWithShape="0">
              <a:srgbClr val="000000">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26" name="Text 11"/>
          <p:cNvSpPr/>
          <p:nvPr/>
        </p:nvSpPr>
        <p:spPr>
          <a:xfrm>
            <a:off x="6793920" y="2039040"/>
            <a:ext cx="483696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600" b="1" u="none" strike="noStrike">
                <a:solidFill>
                  <a:srgbClr val="111827"/>
                </a:solidFill>
                <a:effectLst/>
                <a:uFillTx/>
                <a:latin typeface="Calibri"/>
                <a:ea typeface="Calibri"/>
              </a:rPr>
              <a:t>Validation protocols (fill)</a:t>
            </a:r>
            <a:endParaRPr lang="en-US" sz="1600" b="0" u="none" strike="noStrike">
              <a:solidFill>
                <a:srgbClr val="000000"/>
              </a:solidFill>
              <a:effectLst/>
              <a:uFillTx/>
              <a:latin typeface="Arial"/>
            </a:endParaRPr>
          </a:p>
        </p:txBody>
      </p:sp>
      <p:sp>
        <p:nvSpPr>
          <p:cNvPr id="427" name="Text 12"/>
          <p:cNvSpPr/>
          <p:nvPr/>
        </p:nvSpPr>
        <p:spPr>
          <a:xfrm>
            <a:off x="6793920" y="2377440"/>
            <a:ext cx="4836960" cy="3849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sz="1400" b="1" dirty="0"/>
              <a:t>Test cases:</a:t>
            </a:r>
            <a:endParaRPr lang="en-IN" sz="1400" dirty="0"/>
          </a:p>
          <a:p>
            <a:r>
              <a:rPr lang="en-IN" sz="1400" dirty="0"/>
              <a:t>Impact, vibration, and temperature tests</a:t>
            </a:r>
          </a:p>
          <a:p>
            <a:r>
              <a:rPr lang="en-IN" sz="1400" dirty="0"/>
              <a:t>GSM SMS delivery test</a:t>
            </a:r>
          </a:p>
          <a:p>
            <a:r>
              <a:rPr lang="en-IN" sz="1400" dirty="0"/>
              <a:t>GPS location validation</a:t>
            </a:r>
          </a:p>
          <a:p>
            <a:r>
              <a:rPr lang="en-IN" sz="1400" b="1" dirty="0"/>
              <a:t>Environment:</a:t>
            </a:r>
            <a:endParaRPr lang="en-IN" sz="1400" dirty="0"/>
          </a:p>
          <a:p>
            <a:r>
              <a:rPr lang="en-IN" sz="1400" dirty="0"/>
              <a:t>Indoor lab</a:t>
            </a:r>
          </a:p>
          <a:p>
            <a:r>
              <a:rPr lang="en-IN" sz="1400" dirty="0"/>
              <a:t>Controlled testing setup</a:t>
            </a:r>
          </a:p>
          <a:p>
            <a:r>
              <a:rPr lang="en-IN" sz="1400" b="1" dirty="0"/>
              <a:t>Measurements:</a:t>
            </a:r>
            <a:endParaRPr lang="en-IN" sz="1400" dirty="0"/>
          </a:p>
          <a:p>
            <a:r>
              <a:rPr lang="en-IN" sz="1400" dirty="0"/>
              <a:t>Detection accuracy</a:t>
            </a:r>
          </a:p>
          <a:p>
            <a:r>
              <a:rPr lang="en-IN" sz="1400" dirty="0"/>
              <a:t>Alert response time</a:t>
            </a:r>
          </a:p>
          <a:p>
            <a:r>
              <a:rPr lang="en-IN" sz="1400" dirty="0"/>
              <a:t>SMS delivery success</a:t>
            </a:r>
          </a:p>
          <a:p>
            <a:r>
              <a:rPr lang="en-IN" sz="1400" b="1" dirty="0"/>
              <a:t>Pass / Fail:</a:t>
            </a:r>
            <a:endParaRPr lang="en-IN" sz="1400" dirty="0"/>
          </a:p>
          <a:p>
            <a:r>
              <a:rPr lang="en-IN" sz="1400" dirty="0"/>
              <a:t>Alert within 10 seconds</a:t>
            </a:r>
          </a:p>
          <a:p>
            <a:r>
              <a:rPr lang="en-IN" sz="1400" dirty="0"/>
              <a:t>SMS sent within 3 seconds</a:t>
            </a:r>
          </a:p>
          <a:p>
            <a:r>
              <a:rPr lang="en-IN" sz="1400" dirty="0"/>
              <a:t>No SMS on cancel</a:t>
            </a:r>
          </a:p>
          <a:p>
            <a:r>
              <a:rPr lang="en-IN" sz="1400" dirty="0"/>
              <a:t>One SMS per event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 name="Shape 0"/>
          <p:cNvSpPr/>
          <p:nvPr/>
        </p:nvSpPr>
        <p:spPr>
          <a:xfrm>
            <a:off x="0" y="0"/>
            <a:ext cx="12191400" cy="566640"/>
          </a:xfrm>
          <a:prstGeom prst="rect">
            <a:avLst/>
          </a:prstGeom>
          <a:solidFill>
            <a:srgbClr val="0B2E4A"/>
          </a:solidFill>
          <a:ln w="12700">
            <a:solidFill>
              <a:srgbClr val="0B2E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34" name="Shape 1"/>
          <p:cNvSpPr/>
          <p:nvPr/>
        </p:nvSpPr>
        <p:spPr>
          <a:xfrm>
            <a:off x="0" y="0"/>
            <a:ext cx="145800" cy="566640"/>
          </a:xfrm>
          <a:prstGeom prst="rect">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35" name="Text 2"/>
          <p:cNvSpPr/>
          <p:nvPr/>
        </p:nvSpPr>
        <p:spPr>
          <a:xfrm>
            <a:off x="594360" y="109800"/>
            <a:ext cx="1100268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400" b="1" u="none" strike="noStrike">
                <a:solidFill>
                  <a:srgbClr val="FFFFFF"/>
                </a:solidFill>
                <a:effectLst/>
                <a:uFillTx/>
                <a:latin typeface="Calibri"/>
                <a:ea typeface="Calibri"/>
              </a:rPr>
              <a:t>SoI Innovation Pipeline</a:t>
            </a:r>
            <a:endParaRPr lang="en-US" sz="1400" b="0" u="none" strike="noStrike">
              <a:solidFill>
                <a:srgbClr val="000000"/>
              </a:solidFill>
              <a:effectLst/>
              <a:uFillTx/>
              <a:latin typeface="Arial"/>
            </a:endParaRPr>
          </a:p>
        </p:txBody>
      </p:sp>
      <p:sp>
        <p:nvSpPr>
          <p:cNvPr id="436" name="Shape 3"/>
          <p:cNvSpPr/>
          <p:nvPr/>
        </p:nvSpPr>
        <p:spPr>
          <a:xfrm>
            <a:off x="594360" y="658440"/>
            <a:ext cx="1919880" cy="292320"/>
          </a:xfrm>
          <a:prstGeom prst="roundRect">
            <a:avLst>
              <a:gd name="adj" fmla="val 16667"/>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37" name="Text 4"/>
          <p:cNvSpPr/>
          <p:nvPr/>
        </p:nvSpPr>
        <p:spPr>
          <a:xfrm>
            <a:off x="594360" y="704160"/>
            <a:ext cx="19198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EVIDENCE</a:t>
            </a:r>
            <a:endParaRPr lang="en-US" sz="1200" b="0" u="none" strike="noStrike">
              <a:solidFill>
                <a:srgbClr val="000000"/>
              </a:solidFill>
              <a:effectLst/>
              <a:uFillTx/>
              <a:latin typeface="Arial"/>
            </a:endParaRPr>
          </a:p>
        </p:txBody>
      </p:sp>
      <p:sp>
        <p:nvSpPr>
          <p:cNvPr id="438" name="Text 5"/>
          <p:cNvSpPr/>
          <p:nvPr/>
        </p:nvSpPr>
        <p:spPr>
          <a:xfrm>
            <a:off x="594360" y="822960"/>
            <a:ext cx="11002680" cy="54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3200" b="1" u="none" strike="noStrike">
                <a:solidFill>
                  <a:srgbClr val="111827"/>
                </a:solidFill>
                <a:effectLst/>
                <a:uFillTx/>
                <a:latin typeface="Calibri"/>
                <a:ea typeface="Calibri"/>
              </a:rPr>
              <a:t>Evidence — Prototype Results &amp; Iterations</a:t>
            </a:r>
            <a:endParaRPr lang="en-US" sz="3200" b="0" u="none" strike="noStrike">
              <a:solidFill>
                <a:srgbClr val="000000"/>
              </a:solidFill>
              <a:effectLst/>
              <a:uFillTx/>
              <a:latin typeface="Arial"/>
            </a:endParaRPr>
          </a:p>
        </p:txBody>
      </p:sp>
      <p:sp>
        <p:nvSpPr>
          <p:cNvPr id="440" name="Shape 7"/>
          <p:cNvSpPr/>
          <p:nvPr/>
        </p:nvSpPr>
        <p:spPr>
          <a:xfrm>
            <a:off x="594360" y="1920240"/>
            <a:ext cx="1535760" cy="456840"/>
          </a:xfrm>
          <a:prstGeom prst="rect">
            <a:avLst/>
          </a:prstGeom>
          <a:solidFill>
            <a:srgbClr val="0B2E4A"/>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41" name="Text 8"/>
          <p:cNvSpPr/>
          <p:nvPr/>
        </p:nvSpPr>
        <p:spPr>
          <a:xfrm>
            <a:off x="704160" y="2011680"/>
            <a:ext cx="131652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200" b="1" u="none" strike="noStrike">
                <a:solidFill>
                  <a:srgbClr val="FFFFFF"/>
                </a:solidFill>
                <a:effectLst/>
                <a:uFillTx/>
                <a:latin typeface="Calibri"/>
                <a:ea typeface="Calibri"/>
              </a:rPr>
              <a:t>Version</a:t>
            </a:r>
            <a:endParaRPr lang="en-US" sz="1200" b="0" u="none" strike="noStrike">
              <a:solidFill>
                <a:srgbClr val="000000"/>
              </a:solidFill>
              <a:effectLst/>
              <a:uFillTx/>
              <a:latin typeface="Arial"/>
            </a:endParaRPr>
          </a:p>
        </p:txBody>
      </p:sp>
      <p:sp>
        <p:nvSpPr>
          <p:cNvPr id="442" name="Shape 9"/>
          <p:cNvSpPr/>
          <p:nvPr/>
        </p:nvSpPr>
        <p:spPr>
          <a:xfrm>
            <a:off x="2130480" y="1920240"/>
            <a:ext cx="2852640" cy="456840"/>
          </a:xfrm>
          <a:prstGeom prst="rect">
            <a:avLst/>
          </a:prstGeom>
          <a:solidFill>
            <a:srgbClr val="0B2E4A"/>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43" name="Text 10"/>
          <p:cNvSpPr/>
          <p:nvPr/>
        </p:nvSpPr>
        <p:spPr>
          <a:xfrm>
            <a:off x="2240280" y="2011680"/>
            <a:ext cx="263304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200" b="1" u="none" strike="noStrike">
                <a:solidFill>
                  <a:srgbClr val="FFFFFF"/>
                </a:solidFill>
                <a:effectLst/>
                <a:uFillTx/>
                <a:latin typeface="Calibri"/>
                <a:ea typeface="Calibri"/>
              </a:rPr>
              <a:t>What changed</a:t>
            </a:r>
            <a:endParaRPr lang="en-US" sz="1200" b="0" u="none" strike="noStrike">
              <a:solidFill>
                <a:srgbClr val="000000"/>
              </a:solidFill>
              <a:effectLst/>
              <a:uFillTx/>
              <a:latin typeface="Arial"/>
            </a:endParaRPr>
          </a:p>
        </p:txBody>
      </p:sp>
      <p:sp>
        <p:nvSpPr>
          <p:cNvPr id="444" name="Shape 11"/>
          <p:cNvSpPr/>
          <p:nvPr/>
        </p:nvSpPr>
        <p:spPr>
          <a:xfrm>
            <a:off x="4983480" y="1920240"/>
            <a:ext cx="2194200" cy="456840"/>
          </a:xfrm>
          <a:prstGeom prst="rect">
            <a:avLst/>
          </a:prstGeom>
          <a:solidFill>
            <a:srgbClr val="0B2E4A"/>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45" name="Text 12"/>
          <p:cNvSpPr/>
          <p:nvPr/>
        </p:nvSpPr>
        <p:spPr>
          <a:xfrm>
            <a:off x="5093280" y="2011680"/>
            <a:ext cx="197460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200" b="1" u="none" strike="noStrike">
                <a:solidFill>
                  <a:srgbClr val="FFFFFF"/>
                </a:solidFill>
                <a:effectLst/>
                <a:uFillTx/>
                <a:latin typeface="Calibri"/>
                <a:ea typeface="Calibri"/>
              </a:rPr>
              <a:t>Test run</a:t>
            </a:r>
            <a:endParaRPr lang="en-US" sz="1200" b="0" u="none" strike="noStrike">
              <a:solidFill>
                <a:srgbClr val="000000"/>
              </a:solidFill>
              <a:effectLst/>
              <a:uFillTx/>
              <a:latin typeface="Arial"/>
            </a:endParaRPr>
          </a:p>
        </p:txBody>
      </p:sp>
      <p:sp>
        <p:nvSpPr>
          <p:cNvPr id="446" name="Shape 13"/>
          <p:cNvSpPr/>
          <p:nvPr/>
        </p:nvSpPr>
        <p:spPr>
          <a:xfrm>
            <a:off x="7178040" y="1920240"/>
            <a:ext cx="2194200" cy="456840"/>
          </a:xfrm>
          <a:prstGeom prst="rect">
            <a:avLst/>
          </a:prstGeom>
          <a:solidFill>
            <a:srgbClr val="0B2E4A"/>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47" name="Text 14"/>
          <p:cNvSpPr/>
          <p:nvPr/>
        </p:nvSpPr>
        <p:spPr>
          <a:xfrm>
            <a:off x="7287840" y="2011680"/>
            <a:ext cx="197460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200" b="1" u="none" strike="noStrike">
                <a:solidFill>
                  <a:srgbClr val="FFFFFF"/>
                </a:solidFill>
                <a:effectLst/>
                <a:uFillTx/>
                <a:latin typeface="Calibri"/>
                <a:ea typeface="Calibri"/>
              </a:rPr>
              <a:t>Result</a:t>
            </a:r>
            <a:endParaRPr lang="en-US" sz="1200" b="0" u="none" strike="noStrike">
              <a:solidFill>
                <a:srgbClr val="000000"/>
              </a:solidFill>
              <a:effectLst/>
              <a:uFillTx/>
              <a:latin typeface="Arial"/>
            </a:endParaRPr>
          </a:p>
        </p:txBody>
      </p:sp>
      <p:sp>
        <p:nvSpPr>
          <p:cNvPr id="449" name="Text 16"/>
          <p:cNvSpPr/>
          <p:nvPr/>
        </p:nvSpPr>
        <p:spPr>
          <a:xfrm>
            <a:off x="9482400" y="2011680"/>
            <a:ext cx="197460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200" b="1" u="none" strike="noStrike">
                <a:solidFill>
                  <a:srgbClr val="FFFFFF"/>
                </a:solidFill>
                <a:effectLst/>
                <a:uFillTx/>
                <a:latin typeface="Calibri"/>
                <a:ea typeface="Calibri"/>
              </a:rPr>
              <a:t>Evidence link</a:t>
            </a:r>
            <a:endParaRPr lang="en-US" sz="1200" b="0" u="none" strike="noStrike">
              <a:solidFill>
                <a:srgbClr val="000000"/>
              </a:solidFill>
              <a:effectLst/>
              <a:uFillTx/>
              <a:latin typeface="Arial"/>
            </a:endParaRPr>
          </a:p>
        </p:txBody>
      </p:sp>
      <p:sp>
        <p:nvSpPr>
          <p:cNvPr id="450" name="Shape 17"/>
          <p:cNvSpPr/>
          <p:nvPr/>
        </p:nvSpPr>
        <p:spPr>
          <a:xfrm>
            <a:off x="594360" y="2377440"/>
            <a:ext cx="1535760" cy="95976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sz="1800" b="0" u="none" strike="noStrike" dirty="0">
                <a:solidFill>
                  <a:srgbClr val="000000"/>
                </a:solidFill>
                <a:effectLst/>
                <a:uFillTx/>
                <a:latin typeface="Arial"/>
              </a:rPr>
              <a:t>v1</a:t>
            </a:r>
          </a:p>
        </p:txBody>
      </p:sp>
      <p:sp>
        <p:nvSpPr>
          <p:cNvPr id="451" name="Shape 18"/>
          <p:cNvSpPr/>
          <p:nvPr/>
        </p:nvSpPr>
        <p:spPr>
          <a:xfrm>
            <a:off x="2130480" y="2377440"/>
            <a:ext cx="2852640" cy="95976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sz="1600" dirty="0"/>
              <a:t>Basic sensor detection using MPU6050, SW-420, and DHT11. No filtering or validation.</a:t>
            </a:r>
            <a:endParaRPr lang="en-US" sz="1600" dirty="0">
              <a:effectLst/>
            </a:endParaRPr>
          </a:p>
        </p:txBody>
      </p:sp>
      <p:sp>
        <p:nvSpPr>
          <p:cNvPr id="452" name="Shape 19"/>
          <p:cNvSpPr/>
          <p:nvPr/>
        </p:nvSpPr>
        <p:spPr>
          <a:xfrm>
            <a:off x="4983480" y="2377440"/>
            <a:ext cx="2194200" cy="95976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sz="1600" dirty="0"/>
              <a:t>10 simulated accidents (indoor, manual testing).</a:t>
            </a:r>
            <a:endParaRPr lang="en-US" sz="1600" dirty="0">
              <a:effectLst/>
            </a:endParaRPr>
          </a:p>
        </p:txBody>
      </p:sp>
      <p:sp>
        <p:nvSpPr>
          <p:cNvPr id="453" name="Shape 20"/>
          <p:cNvSpPr/>
          <p:nvPr/>
        </p:nvSpPr>
        <p:spPr>
          <a:xfrm>
            <a:off x="7178040" y="2377440"/>
            <a:ext cx="2194200" cy="95976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sz="1600" dirty="0"/>
              <a:t>~80% detection accuracy. High false alerts. Slow response (~20s).</a:t>
            </a:r>
            <a:endParaRPr lang="en-US" sz="1600" dirty="0">
              <a:effectLst/>
            </a:endParaRPr>
          </a:p>
        </p:txBody>
      </p:sp>
      <p:sp>
        <p:nvSpPr>
          <p:cNvPr id="455" name="Shape 22"/>
          <p:cNvSpPr/>
          <p:nvPr/>
        </p:nvSpPr>
        <p:spPr>
          <a:xfrm>
            <a:off x="594360" y="3337560"/>
            <a:ext cx="1535760" cy="95976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a:t>V2</a:t>
            </a:r>
            <a:endParaRPr lang="en-US" sz="1800" b="0" u="none" strike="noStrike">
              <a:solidFill>
                <a:srgbClr val="000000"/>
              </a:solidFill>
              <a:effectLst/>
              <a:uFillTx/>
              <a:latin typeface="Arial"/>
            </a:endParaRPr>
          </a:p>
        </p:txBody>
      </p:sp>
      <p:sp>
        <p:nvSpPr>
          <p:cNvPr id="456" name="Shape 23"/>
          <p:cNvSpPr/>
          <p:nvPr/>
        </p:nvSpPr>
        <p:spPr>
          <a:xfrm>
            <a:off x="2130480" y="3337560"/>
            <a:ext cx="2852640" cy="95976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sz="1600" dirty="0"/>
              <a:t>Added sensor thresholds and basic vibration filtering. Improved detection logic.</a:t>
            </a:r>
            <a:endParaRPr lang="en-US" sz="1600" b="0" u="none" strike="noStrike" dirty="0">
              <a:solidFill>
                <a:srgbClr val="000000"/>
              </a:solidFill>
              <a:effectLst/>
              <a:uFillTx/>
              <a:latin typeface="Arial"/>
            </a:endParaRPr>
          </a:p>
        </p:txBody>
      </p:sp>
      <p:sp>
        <p:nvSpPr>
          <p:cNvPr id="457" name="Shape 24"/>
          <p:cNvSpPr/>
          <p:nvPr/>
        </p:nvSpPr>
        <p:spPr>
          <a:xfrm>
            <a:off x="4983480" y="3337560"/>
            <a:ext cx="2194200" cy="95976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sz="1600"/>
              <a:t>15 simulated tests with varied impact levels.</a:t>
            </a:r>
            <a:endParaRPr lang="en-US" sz="1600" b="0" u="none" strike="noStrike">
              <a:solidFill>
                <a:srgbClr val="000000"/>
              </a:solidFill>
              <a:effectLst/>
              <a:uFillTx/>
              <a:latin typeface="Arial"/>
            </a:endParaRPr>
          </a:p>
        </p:txBody>
      </p:sp>
      <p:sp>
        <p:nvSpPr>
          <p:cNvPr id="458" name="Shape 25"/>
          <p:cNvSpPr/>
          <p:nvPr/>
        </p:nvSpPr>
        <p:spPr>
          <a:xfrm>
            <a:off x="7178040" y="3337560"/>
            <a:ext cx="2194200" cy="95976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sz="1600"/>
              <a:t>~90% detection accuracy. Reduced false alerts. Response ~10–12s.</a:t>
            </a:r>
            <a:endParaRPr lang="en-US" sz="1600" b="0" u="none" strike="noStrike">
              <a:solidFill>
                <a:srgbClr val="000000"/>
              </a:solidFill>
              <a:effectLst/>
              <a:uFillTx/>
              <a:latin typeface="Arial"/>
            </a:endParaRPr>
          </a:p>
        </p:txBody>
      </p:sp>
      <p:sp>
        <p:nvSpPr>
          <p:cNvPr id="460" name="Shape 27"/>
          <p:cNvSpPr/>
          <p:nvPr/>
        </p:nvSpPr>
        <p:spPr>
          <a:xfrm>
            <a:off x="594360" y="4297680"/>
            <a:ext cx="1535760" cy="95976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a:t>V3</a:t>
            </a:r>
            <a:endParaRPr lang="en-US" sz="1800" b="0" u="none" strike="noStrike">
              <a:solidFill>
                <a:srgbClr val="000000"/>
              </a:solidFill>
              <a:effectLst/>
              <a:uFillTx/>
              <a:latin typeface="Arial"/>
            </a:endParaRPr>
          </a:p>
        </p:txBody>
      </p:sp>
      <p:sp>
        <p:nvSpPr>
          <p:cNvPr id="461" name="Shape 28"/>
          <p:cNvSpPr/>
          <p:nvPr/>
        </p:nvSpPr>
        <p:spPr>
          <a:xfrm>
            <a:off x="2130480" y="4297680"/>
            <a:ext cx="2852640" cy="95976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sz="1600" dirty="0"/>
              <a:t>Added user cancel button and alert delay timer.</a:t>
            </a:r>
            <a:endParaRPr lang="en-US" sz="1600" b="0" u="none" strike="noStrike" dirty="0">
              <a:solidFill>
                <a:srgbClr val="000000"/>
              </a:solidFill>
              <a:effectLst/>
              <a:uFillTx/>
              <a:latin typeface="Arial"/>
            </a:endParaRPr>
          </a:p>
        </p:txBody>
      </p:sp>
      <p:sp>
        <p:nvSpPr>
          <p:cNvPr id="462" name="Shape 29"/>
          <p:cNvSpPr/>
          <p:nvPr/>
        </p:nvSpPr>
        <p:spPr>
          <a:xfrm>
            <a:off x="4983480" y="4297680"/>
            <a:ext cx="2194200" cy="95976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sz="1600"/>
              <a:t>20 tests including false trigger scenarios.</a:t>
            </a:r>
            <a:endParaRPr lang="en-US" sz="1600" b="0" u="none" strike="noStrike">
              <a:solidFill>
                <a:srgbClr val="000000"/>
              </a:solidFill>
              <a:effectLst/>
              <a:uFillTx/>
              <a:latin typeface="Arial"/>
            </a:endParaRPr>
          </a:p>
        </p:txBody>
      </p:sp>
      <p:sp>
        <p:nvSpPr>
          <p:cNvPr id="463" name="Shape 30"/>
          <p:cNvSpPr/>
          <p:nvPr/>
        </p:nvSpPr>
        <p:spPr>
          <a:xfrm>
            <a:off x="7178040" y="4297680"/>
            <a:ext cx="2194200" cy="95976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sz="1600"/>
              <a:t>False alerts reduced significantly. Cancel feature works reliably.</a:t>
            </a:r>
            <a:endParaRPr lang="en-US" sz="1600" b="0" u="none" strike="noStrike">
              <a:solidFill>
                <a:srgbClr val="000000"/>
              </a:solidFill>
              <a:effectLst/>
              <a:uFillTx/>
              <a:latin typeface="Arial"/>
            </a:endParaRPr>
          </a:p>
        </p:txBody>
      </p:sp>
      <p:sp>
        <p:nvSpPr>
          <p:cNvPr id="465" name="Shape 32"/>
          <p:cNvSpPr/>
          <p:nvPr/>
        </p:nvSpPr>
        <p:spPr>
          <a:xfrm>
            <a:off x="594360" y="5257800"/>
            <a:ext cx="1535760" cy="95976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dirty="0"/>
              <a:t>V4 (Final)</a:t>
            </a:r>
            <a:endParaRPr lang="en-US" sz="1800" b="0" u="none" strike="noStrike" dirty="0">
              <a:solidFill>
                <a:srgbClr val="000000"/>
              </a:solidFill>
              <a:effectLst/>
              <a:uFillTx/>
              <a:latin typeface="Arial"/>
            </a:endParaRPr>
          </a:p>
        </p:txBody>
      </p:sp>
      <p:sp>
        <p:nvSpPr>
          <p:cNvPr id="466" name="Shape 33"/>
          <p:cNvSpPr/>
          <p:nvPr/>
        </p:nvSpPr>
        <p:spPr>
          <a:xfrm>
            <a:off x="2130480" y="5257800"/>
            <a:ext cx="2852640" cy="95976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sz="1600" dirty="0"/>
              <a:t>Added sensor presence checks, pull-downs, power-failure handling, GPS location link, Wi-Fi support.</a:t>
            </a:r>
            <a:endParaRPr lang="en-US" sz="1600" b="0" u="none" strike="noStrike" dirty="0">
              <a:solidFill>
                <a:srgbClr val="000000"/>
              </a:solidFill>
              <a:effectLst/>
              <a:uFillTx/>
              <a:latin typeface="Arial"/>
            </a:endParaRPr>
          </a:p>
        </p:txBody>
      </p:sp>
      <p:sp>
        <p:nvSpPr>
          <p:cNvPr id="467" name="Shape 34"/>
          <p:cNvSpPr/>
          <p:nvPr/>
        </p:nvSpPr>
        <p:spPr>
          <a:xfrm>
            <a:off x="4983480" y="5257800"/>
            <a:ext cx="2194200" cy="95976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sz="1600" dirty="0"/>
              <a:t>25 controlled tests (normal + emergency).</a:t>
            </a:r>
            <a:endParaRPr lang="en-US" sz="1600" b="0" u="none" strike="noStrike" dirty="0">
              <a:solidFill>
                <a:srgbClr val="000000"/>
              </a:solidFill>
              <a:effectLst/>
              <a:uFillTx/>
              <a:latin typeface="Arial"/>
            </a:endParaRPr>
          </a:p>
        </p:txBody>
      </p:sp>
      <p:sp>
        <p:nvSpPr>
          <p:cNvPr id="468" name="Shape 35"/>
          <p:cNvSpPr/>
          <p:nvPr/>
        </p:nvSpPr>
        <p:spPr>
          <a:xfrm>
            <a:off x="7178040" y="5257800"/>
            <a:ext cx="2194200" cy="95976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sz="1600" dirty="0"/>
              <a:t>Stable operation. No ghost readings. SMS sent only once per event.</a:t>
            </a:r>
            <a:endParaRPr lang="en-US" sz="1600" b="0" u="none" strike="noStrike" dirty="0">
              <a:solidFill>
                <a:srgbClr val="000000"/>
              </a:solidFill>
              <a:effectLst/>
              <a:uFillTx/>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 name="Shape 0"/>
          <p:cNvSpPr/>
          <p:nvPr/>
        </p:nvSpPr>
        <p:spPr>
          <a:xfrm>
            <a:off x="0" y="0"/>
            <a:ext cx="12191400" cy="566640"/>
          </a:xfrm>
          <a:prstGeom prst="rect">
            <a:avLst/>
          </a:prstGeom>
          <a:solidFill>
            <a:srgbClr val="0B2E4A"/>
          </a:solidFill>
          <a:ln w="12700">
            <a:solidFill>
              <a:srgbClr val="0B2E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75" name="Shape 1"/>
          <p:cNvSpPr/>
          <p:nvPr/>
        </p:nvSpPr>
        <p:spPr>
          <a:xfrm>
            <a:off x="0" y="0"/>
            <a:ext cx="145800" cy="566640"/>
          </a:xfrm>
          <a:prstGeom prst="rect">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76" name="Text 2"/>
          <p:cNvSpPr/>
          <p:nvPr/>
        </p:nvSpPr>
        <p:spPr>
          <a:xfrm>
            <a:off x="594360" y="109800"/>
            <a:ext cx="1100268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400" b="1" u="none" strike="noStrike">
                <a:solidFill>
                  <a:srgbClr val="FFFFFF"/>
                </a:solidFill>
                <a:effectLst/>
                <a:uFillTx/>
                <a:latin typeface="Calibri"/>
                <a:ea typeface="Calibri"/>
              </a:rPr>
              <a:t>SoI Innovation Pipeline</a:t>
            </a:r>
            <a:endParaRPr lang="en-US" sz="1400" b="0" u="none" strike="noStrike">
              <a:solidFill>
                <a:srgbClr val="000000"/>
              </a:solidFill>
              <a:effectLst/>
              <a:uFillTx/>
              <a:latin typeface="Arial"/>
            </a:endParaRPr>
          </a:p>
        </p:txBody>
      </p:sp>
      <p:sp>
        <p:nvSpPr>
          <p:cNvPr id="477" name="Shape 3"/>
          <p:cNvSpPr/>
          <p:nvPr/>
        </p:nvSpPr>
        <p:spPr>
          <a:xfrm>
            <a:off x="594360" y="658440"/>
            <a:ext cx="1919880" cy="292320"/>
          </a:xfrm>
          <a:prstGeom prst="roundRect">
            <a:avLst>
              <a:gd name="adj" fmla="val 16667"/>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78" name="Text 4"/>
          <p:cNvSpPr/>
          <p:nvPr/>
        </p:nvSpPr>
        <p:spPr>
          <a:xfrm>
            <a:off x="594360" y="704160"/>
            <a:ext cx="19198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LINKS</a:t>
            </a:r>
            <a:endParaRPr lang="en-US" sz="1200" b="0" u="none" strike="noStrike">
              <a:solidFill>
                <a:srgbClr val="000000"/>
              </a:solidFill>
              <a:effectLst/>
              <a:uFillTx/>
              <a:latin typeface="Arial"/>
            </a:endParaRPr>
          </a:p>
        </p:txBody>
      </p:sp>
      <p:sp>
        <p:nvSpPr>
          <p:cNvPr id="479" name="Text 5"/>
          <p:cNvSpPr/>
          <p:nvPr/>
        </p:nvSpPr>
        <p:spPr>
          <a:xfrm>
            <a:off x="594360" y="822960"/>
            <a:ext cx="11002680" cy="54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3200" b="1" u="none" strike="noStrike">
                <a:solidFill>
                  <a:srgbClr val="111827"/>
                </a:solidFill>
                <a:effectLst/>
                <a:uFillTx/>
                <a:latin typeface="Calibri"/>
                <a:ea typeface="Calibri"/>
              </a:rPr>
              <a:t>Prototype Demo &amp; Artifacts</a:t>
            </a:r>
            <a:endParaRPr lang="en-US" sz="3200" b="0" u="none" strike="noStrike">
              <a:solidFill>
                <a:srgbClr val="000000"/>
              </a:solidFill>
              <a:effectLst/>
              <a:uFillTx/>
              <a:latin typeface="Arial"/>
            </a:endParaRPr>
          </a:p>
        </p:txBody>
      </p:sp>
      <p:sp>
        <p:nvSpPr>
          <p:cNvPr id="481" name="Shape 7"/>
          <p:cNvSpPr/>
          <p:nvPr/>
        </p:nvSpPr>
        <p:spPr>
          <a:xfrm>
            <a:off x="594359" y="1874520"/>
            <a:ext cx="9867163" cy="3789077"/>
          </a:xfrm>
          <a:prstGeom prst="roundRect">
            <a:avLst>
              <a:gd name="adj" fmla="val 16667"/>
            </a:avLst>
          </a:prstGeom>
          <a:solidFill>
            <a:srgbClr val="FFFFFF"/>
          </a:solidFill>
          <a:ln w="12700">
            <a:solidFill>
              <a:srgbClr val="E5E7EB"/>
            </a:solidFill>
            <a:round/>
          </a:ln>
          <a:effectLst>
            <a:outerShdw blurRad="28080" dist="19855" dir="2700000" algn="bl" rotWithShape="0">
              <a:srgbClr val="000000">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82" name="Text 8"/>
          <p:cNvSpPr/>
          <p:nvPr/>
        </p:nvSpPr>
        <p:spPr>
          <a:xfrm>
            <a:off x="3308385" y="1953283"/>
            <a:ext cx="643716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600" b="1" u="none" strike="noStrike" dirty="0">
                <a:solidFill>
                  <a:srgbClr val="111827"/>
                </a:solidFill>
                <a:effectLst/>
                <a:uFillTx/>
                <a:latin typeface="Calibri"/>
                <a:ea typeface="Calibri"/>
              </a:rPr>
              <a:t>Links (paste)</a:t>
            </a:r>
            <a:endParaRPr lang="en-US" sz="1600" b="0" u="none" strike="noStrike" dirty="0">
              <a:solidFill>
                <a:srgbClr val="000000"/>
              </a:solidFill>
              <a:effectLst/>
              <a:uFillTx/>
              <a:latin typeface="Arial"/>
            </a:endParaRPr>
          </a:p>
        </p:txBody>
      </p:sp>
      <p:sp>
        <p:nvSpPr>
          <p:cNvPr id="483" name="Text 9"/>
          <p:cNvSpPr/>
          <p:nvPr/>
        </p:nvSpPr>
        <p:spPr>
          <a:xfrm>
            <a:off x="850320" y="2377440"/>
            <a:ext cx="6437160" cy="3849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10000"/>
              </a:lnSpc>
              <a:tabLst>
                <a:tab pos="0" algn="l"/>
              </a:tabLst>
            </a:pPr>
            <a:endParaRPr lang="en-US" sz="1300" b="0" u="none" strike="noStrike">
              <a:solidFill>
                <a:schemeClr val="dk1"/>
              </a:solidFill>
              <a:effectLst/>
              <a:uFillTx/>
              <a:latin typeface="Calibri"/>
            </a:endParaRPr>
          </a:p>
        </p:txBody>
      </p:sp>
      <p:sp>
        <p:nvSpPr>
          <p:cNvPr id="484" name="Text 10"/>
          <p:cNvSpPr/>
          <p:nvPr/>
        </p:nvSpPr>
        <p:spPr>
          <a:xfrm>
            <a:off x="914400" y="2514600"/>
            <a:ext cx="1892520" cy="566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r>
              <a:rPr sz="1400" dirty="0"/>
              <a:t>Demo video file upload (MP4, ≤2 min)</a:t>
            </a:r>
          </a:p>
        </p:txBody>
      </p:sp>
      <p:sp>
        <p:nvSpPr>
          <p:cNvPr id="485" name="Shape 11"/>
          <p:cNvSpPr/>
          <p:nvPr/>
        </p:nvSpPr>
        <p:spPr>
          <a:xfrm>
            <a:off x="2807280" y="2569320"/>
            <a:ext cx="4416120" cy="45684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dirty="0">
              <a:solidFill>
                <a:srgbClr val="000000"/>
              </a:solidFill>
              <a:effectLst/>
              <a:uFillTx/>
              <a:latin typeface="Arial"/>
            </a:endParaRPr>
          </a:p>
        </p:txBody>
      </p:sp>
      <p:sp>
        <p:nvSpPr>
          <p:cNvPr id="486" name="Text 12"/>
          <p:cNvSpPr/>
          <p:nvPr/>
        </p:nvSpPr>
        <p:spPr>
          <a:xfrm>
            <a:off x="2917080" y="2615040"/>
            <a:ext cx="419688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r>
              <a:rPr lang="en-IN" sz="1400" dirty="0">
                <a:hlinkClick r:id="rId3"/>
              </a:rPr>
              <a:t>https://drive.google.com/drive/folders/1Lw_Jyrlj0b0D-FHmPm_PgBvxmHGrVJ_S?usp=sharing</a:t>
            </a:r>
            <a:r>
              <a:rPr lang="en-IN" sz="1400" dirty="0"/>
              <a:t> </a:t>
            </a:r>
          </a:p>
        </p:txBody>
      </p:sp>
      <p:sp>
        <p:nvSpPr>
          <p:cNvPr id="487" name="Text 13"/>
          <p:cNvSpPr/>
          <p:nvPr/>
        </p:nvSpPr>
        <p:spPr>
          <a:xfrm>
            <a:off x="914400" y="3081600"/>
            <a:ext cx="1892520" cy="566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00" b="1" u="none" strike="noStrike">
                <a:solidFill>
                  <a:srgbClr val="4B5563"/>
                </a:solidFill>
                <a:effectLst/>
                <a:uFillTx/>
                <a:latin typeface="Calibri"/>
                <a:ea typeface="Calibri"/>
              </a:rPr>
              <a:t>Repository URL</a:t>
            </a:r>
            <a:endParaRPr lang="en-US" sz="1300" b="0" u="none" strike="noStrike">
              <a:solidFill>
                <a:srgbClr val="000000"/>
              </a:solidFill>
              <a:effectLst/>
              <a:uFillTx/>
              <a:latin typeface="Arial"/>
            </a:endParaRPr>
          </a:p>
        </p:txBody>
      </p:sp>
      <p:sp>
        <p:nvSpPr>
          <p:cNvPr id="488" name="Shape 14"/>
          <p:cNvSpPr/>
          <p:nvPr/>
        </p:nvSpPr>
        <p:spPr>
          <a:xfrm>
            <a:off x="2807280" y="3136320"/>
            <a:ext cx="4416120" cy="45684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sz="1200" dirty="0">
                <a:solidFill>
                  <a:srgbClr val="000000"/>
                </a:solidFill>
                <a:latin typeface="Arial"/>
                <a:hlinkClick r:id="rId4"/>
              </a:rPr>
              <a:t>https://github.com/Tanushri050106/Smart_accident_alert_system.git</a:t>
            </a:r>
            <a:r>
              <a:rPr lang="en-US" sz="1200" dirty="0">
                <a:solidFill>
                  <a:srgbClr val="000000"/>
                </a:solidFill>
                <a:latin typeface="Arial"/>
              </a:rPr>
              <a:t> </a:t>
            </a:r>
            <a:endParaRPr lang="en-US" sz="1200" b="0" u="none" strike="noStrike" dirty="0">
              <a:solidFill>
                <a:srgbClr val="000000"/>
              </a:solidFill>
              <a:effectLst/>
              <a:uFillTx/>
              <a:latin typeface="Arial"/>
            </a:endParaRPr>
          </a:p>
        </p:txBody>
      </p:sp>
      <p:sp>
        <p:nvSpPr>
          <p:cNvPr id="489" name="Text 15"/>
          <p:cNvSpPr/>
          <p:nvPr/>
        </p:nvSpPr>
        <p:spPr>
          <a:xfrm>
            <a:off x="2917080" y="3182040"/>
            <a:ext cx="419688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US" sz="1300" b="0" u="none" strike="noStrike" dirty="0">
              <a:solidFill>
                <a:srgbClr val="000000"/>
              </a:solidFill>
              <a:effectLst/>
              <a:uFillTx/>
              <a:latin typeface="Arial"/>
            </a:endParaRPr>
          </a:p>
        </p:txBody>
      </p:sp>
      <p:sp>
        <p:nvSpPr>
          <p:cNvPr id="490" name="Text 16"/>
          <p:cNvSpPr/>
          <p:nvPr/>
        </p:nvSpPr>
        <p:spPr>
          <a:xfrm>
            <a:off x="914400" y="3648600"/>
            <a:ext cx="1892520" cy="566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00" b="1" u="none" strike="noStrike" dirty="0">
                <a:solidFill>
                  <a:srgbClr val="4B5563"/>
                </a:solidFill>
                <a:effectLst/>
                <a:uFillTx/>
                <a:latin typeface="Calibri"/>
                <a:ea typeface="Calibri"/>
              </a:rPr>
              <a:t>Build files (CAD/PCB)</a:t>
            </a:r>
            <a:endParaRPr lang="en-US" sz="1300" b="0" u="none" strike="noStrike" dirty="0">
              <a:solidFill>
                <a:srgbClr val="000000"/>
              </a:solidFill>
              <a:effectLst/>
              <a:uFillTx/>
              <a:latin typeface="Arial"/>
            </a:endParaRPr>
          </a:p>
        </p:txBody>
      </p:sp>
      <p:sp>
        <p:nvSpPr>
          <p:cNvPr id="491" name="Shape 17"/>
          <p:cNvSpPr/>
          <p:nvPr/>
        </p:nvSpPr>
        <p:spPr>
          <a:xfrm>
            <a:off x="2807280" y="3703320"/>
            <a:ext cx="4416120" cy="45684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sz="1200" dirty="0">
                <a:solidFill>
                  <a:srgbClr val="000000"/>
                </a:solidFill>
                <a:latin typeface="Arial"/>
                <a:hlinkClick r:id="rId5"/>
              </a:rPr>
              <a:t>https://drive.google.com/file/d/1kxooSEyvCVsXnTP8Jz5kNs5qIstxdNFy/view?usp=sharing</a:t>
            </a:r>
            <a:endParaRPr lang="en-US" sz="1200" dirty="0">
              <a:solidFill>
                <a:srgbClr val="000000"/>
              </a:solidFill>
              <a:latin typeface="Arial"/>
            </a:endParaRPr>
          </a:p>
          <a:p>
            <a:endParaRPr lang="en-US" sz="1200" b="0" u="none" strike="noStrike" dirty="0">
              <a:solidFill>
                <a:srgbClr val="000000"/>
              </a:solidFill>
              <a:effectLst/>
              <a:uFillTx/>
              <a:latin typeface="Arial"/>
            </a:endParaRPr>
          </a:p>
        </p:txBody>
      </p:sp>
      <p:sp>
        <p:nvSpPr>
          <p:cNvPr id="492" name="Text 18"/>
          <p:cNvSpPr/>
          <p:nvPr/>
        </p:nvSpPr>
        <p:spPr>
          <a:xfrm>
            <a:off x="2917080" y="3749040"/>
            <a:ext cx="419688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tabLst>
                <a:tab pos="0" algn="l"/>
              </a:tabLst>
            </a:pPr>
            <a:endParaRPr lang="en-US" sz="1300" dirty="0">
              <a:solidFill>
                <a:srgbClr val="111827"/>
              </a:solidFill>
              <a:ea typeface="Calibri"/>
            </a:endParaRPr>
          </a:p>
        </p:txBody>
      </p:sp>
      <p:sp>
        <p:nvSpPr>
          <p:cNvPr id="493" name="Text 19"/>
          <p:cNvSpPr/>
          <p:nvPr/>
        </p:nvSpPr>
        <p:spPr>
          <a:xfrm>
            <a:off x="914400" y="4215240"/>
            <a:ext cx="1892520" cy="566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00" b="1" u="none" strike="noStrike">
                <a:solidFill>
                  <a:srgbClr val="4B5563"/>
                </a:solidFill>
                <a:effectLst/>
                <a:uFillTx/>
                <a:latin typeface="Calibri"/>
                <a:ea typeface="Calibri"/>
              </a:rPr>
              <a:t>Dataset / logs</a:t>
            </a:r>
            <a:endParaRPr lang="en-US" sz="1300" b="0" u="none" strike="noStrike">
              <a:solidFill>
                <a:srgbClr val="000000"/>
              </a:solidFill>
              <a:effectLst/>
              <a:uFillTx/>
              <a:latin typeface="Arial"/>
            </a:endParaRPr>
          </a:p>
        </p:txBody>
      </p:sp>
      <p:sp>
        <p:nvSpPr>
          <p:cNvPr id="494" name="Shape 20"/>
          <p:cNvSpPr/>
          <p:nvPr/>
        </p:nvSpPr>
        <p:spPr>
          <a:xfrm>
            <a:off x="2807280" y="4270320"/>
            <a:ext cx="4416120" cy="45684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sz="1200" b="0" u="none" strike="noStrike" dirty="0">
                <a:solidFill>
                  <a:srgbClr val="000000"/>
                </a:solidFill>
                <a:effectLst/>
                <a:uFillTx/>
                <a:latin typeface="Arial"/>
              </a:rPr>
              <a:t>Vibration, temperature and </a:t>
            </a:r>
            <a:r>
              <a:rPr lang="en-US" sz="1200" dirty="0" err="1">
                <a:solidFill>
                  <a:srgbClr val="000000"/>
                </a:solidFill>
                <a:latin typeface="Arial"/>
              </a:rPr>
              <a:t>a</a:t>
            </a:r>
            <a:r>
              <a:rPr lang="en-US" sz="1200" b="0" u="none" strike="noStrike" dirty="0" err="1">
                <a:solidFill>
                  <a:srgbClr val="000000"/>
                </a:solidFill>
                <a:effectLst/>
                <a:uFillTx/>
                <a:latin typeface="Arial"/>
              </a:rPr>
              <a:t>ccelorometer</a:t>
            </a:r>
            <a:r>
              <a:rPr lang="en-US" sz="1200" b="0" u="none" strike="noStrike" dirty="0">
                <a:solidFill>
                  <a:srgbClr val="000000"/>
                </a:solidFill>
                <a:effectLst/>
                <a:uFillTx/>
                <a:latin typeface="Arial"/>
              </a:rPr>
              <a:t> sensors dataset,</a:t>
            </a:r>
            <a:r>
              <a:rPr lang="en-US" sz="1200" dirty="0"/>
              <a:t> emergency trigger test logs</a:t>
            </a:r>
            <a:endParaRPr lang="en-US" sz="1200" b="0" u="none" strike="noStrike" dirty="0">
              <a:solidFill>
                <a:srgbClr val="000000"/>
              </a:solidFill>
              <a:effectLst/>
              <a:uFillTx/>
              <a:latin typeface="Arial"/>
            </a:endParaRPr>
          </a:p>
        </p:txBody>
      </p:sp>
      <p:sp>
        <p:nvSpPr>
          <p:cNvPr id="495" name="Text 21"/>
          <p:cNvSpPr/>
          <p:nvPr/>
        </p:nvSpPr>
        <p:spPr>
          <a:xfrm>
            <a:off x="2917080" y="4316040"/>
            <a:ext cx="419688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US" sz="1300" b="0" u="none" strike="noStrike" dirty="0">
              <a:solidFill>
                <a:srgbClr val="000000"/>
              </a:solidFill>
              <a:effectLst/>
              <a:uFillTx/>
              <a:latin typeface="Arial"/>
            </a:endParaRPr>
          </a:p>
        </p:txBody>
      </p:sp>
      <p:sp>
        <p:nvSpPr>
          <p:cNvPr id="496" name="Text 22"/>
          <p:cNvSpPr/>
          <p:nvPr/>
        </p:nvSpPr>
        <p:spPr>
          <a:xfrm>
            <a:off x="914400" y="4782240"/>
            <a:ext cx="1892520" cy="566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00" b="1" u="none" strike="noStrike">
                <a:solidFill>
                  <a:srgbClr val="4B5563"/>
                </a:solidFill>
                <a:effectLst/>
                <a:uFillTx/>
                <a:latin typeface="Calibri"/>
                <a:ea typeface="Calibri"/>
              </a:rPr>
              <a:t>Release / version</a:t>
            </a:r>
            <a:endParaRPr lang="en-US" sz="1300" b="0" u="none" strike="noStrike">
              <a:solidFill>
                <a:srgbClr val="000000"/>
              </a:solidFill>
              <a:effectLst/>
              <a:uFillTx/>
              <a:latin typeface="Arial"/>
            </a:endParaRPr>
          </a:p>
        </p:txBody>
      </p:sp>
      <p:sp>
        <p:nvSpPr>
          <p:cNvPr id="497" name="Shape 23"/>
          <p:cNvSpPr/>
          <p:nvPr/>
        </p:nvSpPr>
        <p:spPr>
          <a:xfrm>
            <a:off x="2807280" y="4837320"/>
            <a:ext cx="4416120" cy="45684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dirty="0">
              <a:solidFill>
                <a:srgbClr val="000000"/>
              </a:solidFill>
              <a:effectLst/>
              <a:uFillTx/>
              <a:latin typeface="Arial"/>
            </a:endParaRPr>
          </a:p>
        </p:txBody>
      </p:sp>
      <p:sp>
        <p:nvSpPr>
          <p:cNvPr id="498" name="Text 24"/>
          <p:cNvSpPr/>
          <p:nvPr/>
        </p:nvSpPr>
        <p:spPr>
          <a:xfrm>
            <a:off x="2917080" y="4883040"/>
            <a:ext cx="419688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tabLst>
                <a:tab pos="0" algn="l"/>
              </a:tabLst>
            </a:pPr>
            <a:r>
              <a:rPr lang="en-IN" sz="1400" dirty="0"/>
              <a:t>V4 (Final)</a:t>
            </a:r>
            <a:endParaRPr lang="en-US" sz="1400" dirty="0">
              <a:solidFill>
                <a:srgbClr val="000000"/>
              </a:solidFill>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 name="Shape 0"/>
          <p:cNvSpPr/>
          <p:nvPr/>
        </p:nvSpPr>
        <p:spPr>
          <a:xfrm>
            <a:off x="0" y="0"/>
            <a:ext cx="12191400" cy="566640"/>
          </a:xfrm>
          <a:prstGeom prst="rect">
            <a:avLst/>
          </a:prstGeom>
          <a:solidFill>
            <a:srgbClr val="0B2E4A"/>
          </a:solidFill>
          <a:ln w="12700">
            <a:solidFill>
              <a:srgbClr val="0B2E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08" name="Shape 1"/>
          <p:cNvSpPr/>
          <p:nvPr/>
        </p:nvSpPr>
        <p:spPr>
          <a:xfrm>
            <a:off x="0" y="0"/>
            <a:ext cx="145800" cy="566640"/>
          </a:xfrm>
          <a:prstGeom prst="rect">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09" name="Text 2"/>
          <p:cNvSpPr/>
          <p:nvPr/>
        </p:nvSpPr>
        <p:spPr>
          <a:xfrm>
            <a:off x="594360" y="109800"/>
            <a:ext cx="1100268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400" b="1" u="none" strike="noStrike">
                <a:solidFill>
                  <a:srgbClr val="FFFFFF"/>
                </a:solidFill>
                <a:effectLst/>
                <a:uFillTx/>
                <a:latin typeface="Calibri"/>
                <a:ea typeface="Calibri"/>
              </a:rPr>
              <a:t>SoI Innovation Pipeline</a:t>
            </a:r>
            <a:endParaRPr lang="en-US" sz="1400" b="0" u="none" strike="noStrike">
              <a:solidFill>
                <a:srgbClr val="000000"/>
              </a:solidFill>
              <a:effectLst/>
              <a:uFillTx/>
              <a:latin typeface="Arial"/>
            </a:endParaRPr>
          </a:p>
        </p:txBody>
      </p:sp>
      <p:sp>
        <p:nvSpPr>
          <p:cNvPr id="510" name="Shape 3"/>
          <p:cNvSpPr/>
          <p:nvPr/>
        </p:nvSpPr>
        <p:spPr>
          <a:xfrm>
            <a:off x="594360" y="658440"/>
            <a:ext cx="1919880" cy="292320"/>
          </a:xfrm>
          <a:prstGeom prst="roundRect">
            <a:avLst>
              <a:gd name="adj" fmla="val 16667"/>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11" name="Text 4"/>
          <p:cNvSpPr/>
          <p:nvPr/>
        </p:nvSpPr>
        <p:spPr>
          <a:xfrm>
            <a:off x="594360" y="704160"/>
            <a:ext cx="19198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RISK</a:t>
            </a:r>
            <a:endParaRPr lang="en-US" sz="1200" b="0" u="none" strike="noStrike">
              <a:solidFill>
                <a:srgbClr val="000000"/>
              </a:solidFill>
              <a:effectLst/>
              <a:uFillTx/>
              <a:latin typeface="Arial"/>
            </a:endParaRPr>
          </a:p>
        </p:txBody>
      </p:sp>
      <p:sp>
        <p:nvSpPr>
          <p:cNvPr id="512" name="Text 5"/>
          <p:cNvSpPr/>
          <p:nvPr/>
        </p:nvSpPr>
        <p:spPr>
          <a:xfrm>
            <a:off x="594360" y="822960"/>
            <a:ext cx="11002680" cy="54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3200" b="1" u="none" strike="noStrike">
                <a:solidFill>
                  <a:srgbClr val="111827"/>
                </a:solidFill>
                <a:effectLst/>
                <a:uFillTx/>
                <a:latin typeface="Calibri"/>
                <a:ea typeface="Calibri"/>
              </a:rPr>
              <a:t>Risks, Limitations &amp; Mitigations</a:t>
            </a:r>
            <a:endParaRPr lang="en-US" sz="3200" b="0" u="none" strike="noStrike">
              <a:solidFill>
                <a:srgbClr val="000000"/>
              </a:solidFill>
              <a:effectLst/>
              <a:uFillTx/>
              <a:latin typeface="Arial"/>
            </a:endParaRPr>
          </a:p>
        </p:txBody>
      </p:sp>
      <p:sp>
        <p:nvSpPr>
          <p:cNvPr id="514" name="Shape 7"/>
          <p:cNvSpPr/>
          <p:nvPr/>
        </p:nvSpPr>
        <p:spPr>
          <a:xfrm>
            <a:off x="594360" y="1920240"/>
            <a:ext cx="3730320" cy="456840"/>
          </a:xfrm>
          <a:prstGeom prst="rect">
            <a:avLst/>
          </a:prstGeom>
          <a:solidFill>
            <a:srgbClr val="0B2E4A"/>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15" name="Text 8"/>
          <p:cNvSpPr/>
          <p:nvPr/>
        </p:nvSpPr>
        <p:spPr>
          <a:xfrm>
            <a:off x="704160" y="2011680"/>
            <a:ext cx="351108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200" b="1" u="none" strike="noStrike">
                <a:solidFill>
                  <a:srgbClr val="FFFFFF"/>
                </a:solidFill>
                <a:effectLst/>
                <a:uFillTx/>
                <a:latin typeface="Calibri"/>
                <a:ea typeface="Calibri"/>
              </a:rPr>
              <a:t>Risk / limitation</a:t>
            </a:r>
            <a:endParaRPr lang="en-US" sz="1200" b="0" u="none" strike="noStrike">
              <a:solidFill>
                <a:srgbClr val="000000"/>
              </a:solidFill>
              <a:effectLst/>
              <a:uFillTx/>
              <a:latin typeface="Arial"/>
            </a:endParaRPr>
          </a:p>
        </p:txBody>
      </p:sp>
      <p:sp>
        <p:nvSpPr>
          <p:cNvPr id="516" name="Shape 9"/>
          <p:cNvSpPr/>
          <p:nvPr/>
        </p:nvSpPr>
        <p:spPr>
          <a:xfrm>
            <a:off x="4325040" y="1920240"/>
            <a:ext cx="1974600" cy="456840"/>
          </a:xfrm>
          <a:prstGeom prst="rect">
            <a:avLst/>
          </a:prstGeom>
          <a:solidFill>
            <a:srgbClr val="0B2E4A"/>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17" name="Text 10"/>
          <p:cNvSpPr/>
          <p:nvPr/>
        </p:nvSpPr>
        <p:spPr>
          <a:xfrm>
            <a:off x="4434840" y="2011680"/>
            <a:ext cx="175536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200" b="1" u="none" strike="noStrike">
                <a:solidFill>
                  <a:srgbClr val="FFFFFF"/>
                </a:solidFill>
                <a:effectLst/>
                <a:uFillTx/>
                <a:latin typeface="Calibri"/>
                <a:ea typeface="Calibri"/>
              </a:rPr>
              <a:t>Impact (L/M/H)</a:t>
            </a:r>
            <a:endParaRPr lang="en-US" sz="1200" b="0" u="none" strike="noStrike">
              <a:solidFill>
                <a:srgbClr val="000000"/>
              </a:solidFill>
              <a:effectLst/>
              <a:uFillTx/>
              <a:latin typeface="Arial"/>
            </a:endParaRPr>
          </a:p>
        </p:txBody>
      </p:sp>
      <p:sp>
        <p:nvSpPr>
          <p:cNvPr id="518" name="Shape 11"/>
          <p:cNvSpPr/>
          <p:nvPr/>
        </p:nvSpPr>
        <p:spPr>
          <a:xfrm>
            <a:off x="6300360" y="1920240"/>
            <a:ext cx="1974600" cy="456840"/>
          </a:xfrm>
          <a:prstGeom prst="rect">
            <a:avLst/>
          </a:prstGeom>
          <a:solidFill>
            <a:srgbClr val="0B2E4A"/>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19" name="Text 12"/>
          <p:cNvSpPr/>
          <p:nvPr/>
        </p:nvSpPr>
        <p:spPr>
          <a:xfrm>
            <a:off x="6409800" y="2011680"/>
            <a:ext cx="175536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200" b="1" u="none" strike="noStrike">
                <a:solidFill>
                  <a:srgbClr val="FFFFFF"/>
                </a:solidFill>
                <a:effectLst/>
                <a:uFillTx/>
                <a:latin typeface="Calibri"/>
                <a:ea typeface="Calibri"/>
              </a:rPr>
              <a:t>Likelihood</a:t>
            </a:r>
            <a:endParaRPr lang="en-US" sz="1200" b="0" u="none" strike="noStrike">
              <a:solidFill>
                <a:srgbClr val="000000"/>
              </a:solidFill>
              <a:effectLst/>
              <a:uFillTx/>
              <a:latin typeface="Arial"/>
            </a:endParaRPr>
          </a:p>
        </p:txBody>
      </p:sp>
      <p:sp>
        <p:nvSpPr>
          <p:cNvPr id="520" name="Shape 13"/>
          <p:cNvSpPr/>
          <p:nvPr/>
        </p:nvSpPr>
        <p:spPr>
          <a:xfrm>
            <a:off x="8275320" y="1920240"/>
            <a:ext cx="3291480" cy="456840"/>
          </a:xfrm>
          <a:prstGeom prst="rect">
            <a:avLst/>
          </a:prstGeom>
          <a:solidFill>
            <a:srgbClr val="0B2E4A"/>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21" name="Text 14"/>
          <p:cNvSpPr/>
          <p:nvPr/>
        </p:nvSpPr>
        <p:spPr>
          <a:xfrm>
            <a:off x="8385120" y="2011680"/>
            <a:ext cx="307188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200" b="1" u="none" strike="noStrike">
                <a:solidFill>
                  <a:srgbClr val="FFFFFF"/>
                </a:solidFill>
                <a:effectLst/>
                <a:uFillTx/>
                <a:latin typeface="Calibri"/>
                <a:ea typeface="Calibri"/>
              </a:rPr>
              <a:t>Mitigation / next action</a:t>
            </a:r>
            <a:endParaRPr lang="en-US" sz="1200" b="0" u="none" strike="noStrike">
              <a:solidFill>
                <a:srgbClr val="000000"/>
              </a:solidFill>
              <a:effectLst/>
              <a:uFillTx/>
              <a:latin typeface="Arial"/>
            </a:endParaRPr>
          </a:p>
        </p:txBody>
      </p:sp>
      <p:sp>
        <p:nvSpPr>
          <p:cNvPr id="522" name="Shape 15"/>
          <p:cNvSpPr/>
          <p:nvPr/>
        </p:nvSpPr>
        <p:spPr>
          <a:xfrm>
            <a:off x="594360" y="2377440"/>
            <a:ext cx="3730320" cy="76788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a:t>GSM signal failure in remote areas</a:t>
            </a:r>
            <a:endParaRPr lang="en-US">
              <a:effectLst/>
            </a:endParaRPr>
          </a:p>
        </p:txBody>
      </p:sp>
      <p:sp>
        <p:nvSpPr>
          <p:cNvPr id="523" name="Shape 16"/>
          <p:cNvSpPr/>
          <p:nvPr/>
        </p:nvSpPr>
        <p:spPr>
          <a:xfrm>
            <a:off x="4325040" y="2377440"/>
            <a:ext cx="1974600" cy="76788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a:t>H</a:t>
            </a:r>
            <a:endParaRPr lang="en-IN">
              <a:effectLst/>
            </a:endParaRPr>
          </a:p>
        </p:txBody>
      </p:sp>
      <p:sp>
        <p:nvSpPr>
          <p:cNvPr id="524" name="Shape 17"/>
          <p:cNvSpPr/>
          <p:nvPr/>
        </p:nvSpPr>
        <p:spPr>
          <a:xfrm>
            <a:off x="6311935" y="2377440"/>
            <a:ext cx="1974600" cy="76788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a:t>M</a:t>
            </a:r>
            <a:endParaRPr lang="en-IN">
              <a:effectLst/>
            </a:endParaRPr>
          </a:p>
        </p:txBody>
      </p:sp>
      <p:sp>
        <p:nvSpPr>
          <p:cNvPr id="525" name="Shape 18"/>
          <p:cNvSpPr/>
          <p:nvPr/>
        </p:nvSpPr>
        <p:spPr>
          <a:xfrm>
            <a:off x="8275320" y="2377440"/>
            <a:ext cx="3291480" cy="76788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a:t>Add retry logic; Test in varied locations; Next: Offline buffering.</a:t>
            </a:r>
            <a:endParaRPr lang="en-US">
              <a:effectLst/>
            </a:endParaRPr>
          </a:p>
        </p:txBody>
      </p:sp>
      <p:sp>
        <p:nvSpPr>
          <p:cNvPr id="526" name="Shape 19"/>
          <p:cNvSpPr/>
          <p:nvPr/>
        </p:nvSpPr>
        <p:spPr>
          <a:xfrm>
            <a:off x="594360" y="3145680"/>
            <a:ext cx="3730320" cy="76788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a:t>False positives from road bumps</a:t>
            </a:r>
            <a:endParaRPr lang="en-US">
              <a:effectLst/>
            </a:endParaRPr>
          </a:p>
        </p:txBody>
      </p:sp>
      <p:sp>
        <p:nvSpPr>
          <p:cNvPr id="527" name="Shape 20"/>
          <p:cNvSpPr/>
          <p:nvPr/>
        </p:nvSpPr>
        <p:spPr>
          <a:xfrm>
            <a:off x="4325040" y="3145680"/>
            <a:ext cx="1974600" cy="76788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a:t>M</a:t>
            </a:r>
            <a:endParaRPr lang="en-IN">
              <a:effectLst/>
            </a:endParaRPr>
          </a:p>
        </p:txBody>
      </p:sp>
      <p:sp>
        <p:nvSpPr>
          <p:cNvPr id="528" name="Shape 21"/>
          <p:cNvSpPr/>
          <p:nvPr/>
        </p:nvSpPr>
        <p:spPr>
          <a:xfrm>
            <a:off x="6300360" y="3145680"/>
            <a:ext cx="1974600" cy="76788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a:t>M</a:t>
            </a:r>
            <a:endParaRPr lang="en-IN">
              <a:effectLst/>
            </a:endParaRPr>
          </a:p>
        </p:txBody>
      </p:sp>
      <p:sp>
        <p:nvSpPr>
          <p:cNvPr id="529" name="Shape 22"/>
          <p:cNvSpPr/>
          <p:nvPr/>
        </p:nvSpPr>
        <p:spPr>
          <a:xfrm>
            <a:off x="8275320" y="3145680"/>
            <a:ext cx="3291480" cy="76788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a:t>Refine thresholds with ML; More calibration data; Next: Field tests.</a:t>
            </a:r>
            <a:endParaRPr lang="en-US">
              <a:effectLst/>
            </a:endParaRPr>
          </a:p>
        </p:txBody>
      </p:sp>
      <p:sp>
        <p:nvSpPr>
          <p:cNvPr id="530" name="Shape 23"/>
          <p:cNvSpPr/>
          <p:nvPr/>
        </p:nvSpPr>
        <p:spPr>
          <a:xfrm>
            <a:off x="594360" y="3913560"/>
            <a:ext cx="3730320" cy="76788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a:t>Power drain in idle mode</a:t>
            </a:r>
            <a:endParaRPr lang="en-US">
              <a:effectLst/>
            </a:endParaRPr>
          </a:p>
        </p:txBody>
      </p:sp>
      <p:sp>
        <p:nvSpPr>
          <p:cNvPr id="531" name="Shape 24"/>
          <p:cNvSpPr/>
          <p:nvPr/>
        </p:nvSpPr>
        <p:spPr>
          <a:xfrm>
            <a:off x="4325040" y="3913560"/>
            <a:ext cx="1974600" cy="76788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a:t>M</a:t>
            </a:r>
            <a:endParaRPr lang="en-IN">
              <a:effectLst/>
            </a:endParaRPr>
          </a:p>
        </p:txBody>
      </p:sp>
      <p:sp>
        <p:nvSpPr>
          <p:cNvPr id="532" name="Shape 25"/>
          <p:cNvSpPr/>
          <p:nvPr/>
        </p:nvSpPr>
        <p:spPr>
          <a:xfrm>
            <a:off x="6300360" y="3913560"/>
            <a:ext cx="1974600" cy="76788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a:t>L</a:t>
            </a:r>
            <a:endParaRPr lang="en-IN">
              <a:effectLst/>
            </a:endParaRPr>
          </a:p>
        </p:txBody>
      </p:sp>
      <p:sp>
        <p:nvSpPr>
          <p:cNvPr id="533" name="Shape 26"/>
          <p:cNvSpPr/>
          <p:nvPr/>
        </p:nvSpPr>
        <p:spPr>
          <a:xfrm>
            <a:off x="8275320" y="3913560"/>
            <a:ext cx="3291480" cy="76788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a:t>Optimize code/sleep modes; Next: Dedicated battery IC.</a:t>
            </a:r>
            <a:endParaRPr lang="en-US">
              <a:effectLst/>
            </a:endParaRPr>
          </a:p>
        </p:txBody>
      </p:sp>
      <p:sp>
        <p:nvSpPr>
          <p:cNvPr id="534" name="Shape 27"/>
          <p:cNvSpPr/>
          <p:nvPr/>
        </p:nvSpPr>
        <p:spPr>
          <a:xfrm>
            <a:off x="594360" y="4681800"/>
            <a:ext cx="3730320" cy="76788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a:t>Data privacy (location sharing)</a:t>
            </a:r>
            <a:endParaRPr lang="en-IN">
              <a:effectLst/>
            </a:endParaRPr>
          </a:p>
        </p:txBody>
      </p:sp>
      <p:sp>
        <p:nvSpPr>
          <p:cNvPr id="535" name="Shape 28"/>
          <p:cNvSpPr/>
          <p:nvPr/>
        </p:nvSpPr>
        <p:spPr>
          <a:xfrm>
            <a:off x="4325040" y="4681800"/>
            <a:ext cx="1974600" cy="76788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a:t>H</a:t>
            </a:r>
            <a:endParaRPr lang="en-IN">
              <a:effectLst/>
            </a:endParaRPr>
          </a:p>
        </p:txBody>
      </p:sp>
      <p:sp>
        <p:nvSpPr>
          <p:cNvPr id="536" name="Shape 29"/>
          <p:cNvSpPr/>
          <p:nvPr/>
        </p:nvSpPr>
        <p:spPr>
          <a:xfrm>
            <a:off x="6300360" y="4681800"/>
            <a:ext cx="1974600" cy="76788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a:t>L</a:t>
            </a:r>
            <a:endParaRPr lang="en-IN">
              <a:effectLst/>
            </a:endParaRPr>
          </a:p>
        </p:txBody>
      </p:sp>
      <p:sp>
        <p:nvSpPr>
          <p:cNvPr id="537" name="Shape 30"/>
          <p:cNvSpPr/>
          <p:nvPr/>
        </p:nvSpPr>
        <p:spPr>
          <a:xfrm>
            <a:off x="8275320" y="4681800"/>
            <a:ext cx="3291480" cy="87768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dirty="0"/>
              <a:t>Use encrypted SMS; Dummy data only; Next: GDPR compliance check.</a:t>
            </a:r>
            <a:endParaRPr lang="en-US" dirty="0">
              <a:effectLst/>
            </a:endParaRPr>
          </a:p>
        </p:txBody>
      </p:sp>
      <p:sp>
        <p:nvSpPr>
          <p:cNvPr id="538" name="Shape 31"/>
          <p:cNvSpPr/>
          <p:nvPr/>
        </p:nvSpPr>
        <p:spPr>
          <a:xfrm>
            <a:off x="594360" y="5449680"/>
            <a:ext cx="3730320" cy="76788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a:t>Hardware damage in tests</a:t>
            </a:r>
            <a:endParaRPr lang="en-IN">
              <a:effectLst/>
            </a:endParaRPr>
          </a:p>
        </p:txBody>
      </p:sp>
      <p:sp>
        <p:nvSpPr>
          <p:cNvPr id="539" name="Shape 32"/>
          <p:cNvSpPr/>
          <p:nvPr/>
        </p:nvSpPr>
        <p:spPr>
          <a:xfrm>
            <a:off x="4325040" y="5449680"/>
            <a:ext cx="1974600" cy="76788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a:t>L</a:t>
            </a:r>
            <a:endParaRPr lang="en-IN">
              <a:effectLst/>
            </a:endParaRPr>
          </a:p>
        </p:txBody>
      </p:sp>
      <p:sp>
        <p:nvSpPr>
          <p:cNvPr id="540" name="Shape 33"/>
          <p:cNvSpPr/>
          <p:nvPr/>
        </p:nvSpPr>
        <p:spPr>
          <a:xfrm>
            <a:off x="6300360" y="5449680"/>
            <a:ext cx="1974600" cy="76788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a:t>M</a:t>
            </a:r>
            <a:endParaRPr lang="en-IN">
              <a:effectLst/>
            </a:endParaRPr>
          </a:p>
        </p:txBody>
      </p:sp>
      <p:sp>
        <p:nvSpPr>
          <p:cNvPr id="541" name="Shape 34"/>
          <p:cNvSpPr/>
          <p:nvPr/>
        </p:nvSpPr>
        <p:spPr>
          <a:xfrm>
            <a:off x="8275320" y="5449680"/>
            <a:ext cx="3291480" cy="76788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a:t>Use protective casing; Spare parts; Next: Robust materials.</a:t>
            </a:r>
            <a:endParaRPr lang="en-US">
              <a:effectLs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 name="Shape 0"/>
          <p:cNvSpPr/>
          <p:nvPr/>
        </p:nvSpPr>
        <p:spPr>
          <a:xfrm>
            <a:off x="0" y="0"/>
            <a:ext cx="12191400" cy="566640"/>
          </a:xfrm>
          <a:prstGeom prst="rect">
            <a:avLst/>
          </a:prstGeom>
          <a:solidFill>
            <a:srgbClr val="0B2E4A"/>
          </a:solidFill>
          <a:ln w="12700">
            <a:solidFill>
              <a:srgbClr val="0B2E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47" name="Shape 1"/>
          <p:cNvSpPr/>
          <p:nvPr/>
        </p:nvSpPr>
        <p:spPr>
          <a:xfrm>
            <a:off x="0" y="0"/>
            <a:ext cx="145800" cy="566640"/>
          </a:xfrm>
          <a:prstGeom prst="rect">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48" name="Text 2"/>
          <p:cNvSpPr/>
          <p:nvPr/>
        </p:nvSpPr>
        <p:spPr>
          <a:xfrm>
            <a:off x="594360" y="109800"/>
            <a:ext cx="1100268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400" b="1" u="none" strike="noStrike">
                <a:solidFill>
                  <a:srgbClr val="FFFFFF"/>
                </a:solidFill>
                <a:effectLst/>
                <a:uFillTx/>
                <a:latin typeface="Calibri"/>
                <a:ea typeface="Calibri"/>
              </a:rPr>
              <a:t>SoI Innovation Pipeline</a:t>
            </a:r>
            <a:endParaRPr lang="en-US" sz="1400" b="0" u="none" strike="noStrike">
              <a:solidFill>
                <a:srgbClr val="000000"/>
              </a:solidFill>
              <a:effectLst/>
              <a:uFillTx/>
              <a:latin typeface="Arial"/>
            </a:endParaRPr>
          </a:p>
        </p:txBody>
      </p:sp>
      <p:sp>
        <p:nvSpPr>
          <p:cNvPr id="549" name="Shape 3"/>
          <p:cNvSpPr/>
          <p:nvPr/>
        </p:nvSpPr>
        <p:spPr>
          <a:xfrm>
            <a:off x="594360" y="658440"/>
            <a:ext cx="1919880" cy="292320"/>
          </a:xfrm>
          <a:prstGeom prst="roundRect">
            <a:avLst>
              <a:gd name="adj" fmla="val 16667"/>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50" name="Text 4"/>
          <p:cNvSpPr/>
          <p:nvPr/>
        </p:nvSpPr>
        <p:spPr>
          <a:xfrm>
            <a:off x="594360" y="704160"/>
            <a:ext cx="19198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DECISION</a:t>
            </a:r>
            <a:endParaRPr lang="en-US" sz="1200" b="0" u="none" strike="noStrike">
              <a:solidFill>
                <a:srgbClr val="000000"/>
              </a:solidFill>
              <a:effectLst/>
              <a:uFillTx/>
              <a:latin typeface="Arial"/>
            </a:endParaRPr>
          </a:p>
        </p:txBody>
      </p:sp>
      <p:sp>
        <p:nvSpPr>
          <p:cNvPr id="551" name="Text 5"/>
          <p:cNvSpPr/>
          <p:nvPr/>
        </p:nvSpPr>
        <p:spPr>
          <a:xfrm>
            <a:off x="594360" y="822960"/>
            <a:ext cx="11002680" cy="54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3200" b="1" u="none" strike="noStrike">
                <a:solidFill>
                  <a:srgbClr val="111827"/>
                </a:solidFill>
                <a:effectLst/>
                <a:uFillTx/>
                <a:latin typeface="Calibri"/>
                <a:ea typeface="Calibri"/>
              </a:rPr>
              <a:t>Go / Refine / Pivot &amp; Next Steps → MVP</a:t>
            </a:r>
            <a:endParaRPr lang="en-US" sz="3200" b="0" u="none" strike="noStrike">
              <a:solidFill>
                <a:srgbClr val="000000"/>
              </a:solidFill>
              <a:effectLst/>
              <a:uFillTx/>
              <a:latin typeface="Arial"/>
            </a:endParaRPr>
          </a:p>
        </p:txBody>
      </p:sp>
      <p:sp>
        <p:nvSpPr>
          <p:cNvPr id="553" name="Shape 7"/>
          <p:cNvSpPr/>
          <p:nvPr/>
        </p:nvSpPr>
        <p:spPr>
          <a:xfrm>
            <a:off x="283828" y="2050615"/>
            <a:ext cx="6084752" cy="4196880"/>
          </a:xfrm>
          <a:prstGeom prst="roundRect">
            <a:avLst>
              <a:gd name="adj" fmla="val 16667"/>
            </a:avLst>
          </a:prstGeom>
          <a:solidFill>
            <a:srgbClr val="FFFFFF"/>
          </a:solidFill>
          <a:ln w="12700">
            <a:solidFill>
              <a:srgbClr val="E5E7EB"/>
            </a:solidFill>
            <a:round/>
          </a:ln>
          <a:effectLst>
            <a:outerShdw blurRad="28080" dist="19855" dir="2700000" algn="bl" rotWithShape="0">
              <a:srgbClr val="000000">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dirty="0"/>
          </a:p>
          <a:p>
            <a:endParaRPr lang="en-US" dirty="0"/>
          </a:p>
          <a:p>
            <a:endParaRPr lang="en-US" dirty="0"/>
          </a:p>
          <a:p>
            <a:endParaRPr lang="en-US" dirty="0"/>
          </a:p>
          <a:p>
            <a:pPr marL="285750" indent="-285750">
              <a:buFont typeface="Arial" panose="020B0604020202020204" pitchFamily="34" charset="0"/>
              <a:buChar char="•"/>
            </a:pPr>
            <a:r>
              <a:rPr lang="en-US" dirty="0"/>
              <a:t>Achieved ≥95% detection and ≤15s latency in v2 tests.</a:t>
            </a:r>
          </a:p>
          <a:p>
            <a:pPr marL="285750" indent="-285750">
              <a:buFont typeface="Arial" panose="020B0604020202020204" pitchFamily="34" charset="0"/>
              <a:buChar char="•"/>
            </a:pPr>
            <a:r>
              <a:rPr lang="en-US" dirty="0"/>
              <a:t>Low false positives (1%) after iterations.</a:t>
            </a:r>
          </a:p>
          <a:p>
            <a:pPr marL="285750" indent="-285750">
              <a:buFont typeface="Arial" panose="020B0604020202020204" pitchFamily="34" charset="0"/>
              <a:buChar char="•"/>
            </a:pPr>
            <a:r>
              <a:rPr lang="en-US" dirty="0"/>
              <a:t>Usability feedback positive; Risks mitigated for core function</a:t>
            </a:r>
          </a:p>
          <a:p>
            <a:endParaRPr lang="en-US" dirty="0">
              <a:effectLst/>
            </a:endParaRPr>
          </a:p>
        </p:txBody>
      </p:sp>
      <p:sp>
        <p:nvSpPr>
          <p:cNvPr id="554" name="Text 8"/>
          <p:cNvSpPr/>
          <p:nvPr/>
        </p:nvSpPr>
        <p:spPr>
          <a:xfrm>
            <a:off x="850320" y="2039040"/>
            <a:ext cx="515700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600" b="1" u="none" strike="noStrike" dirty="0">
                <a:solidFill>
                  <a:srgbClr val="111827"/>
                </a:solidFill>
                <a:effectLst/>
                <a:uFillTx/>
                <a:latin typeface="Calibri"/>
                <a:ea typeface="Calibri"/>
              </a:rPr>
              <a:t>Decision</a:t>
            </a:r>
            <a:endParaRPr lang="en-US" sz="1600" b="0" u="none" strike="noStrike" dirty="0">
              <a:solidFill>
                <a:srgbClr val="000000"/>
              </a:solidFill>
              <a:effectLst/>
              <a:uFillTx/>
              <a:latin typeface="Arial"/>
            </a:endParaRPr>
          </a:p>
        </p:txBody>
      </p:sp>
      <p:sp>
        <p:nvSpPr>
          <p:cNvPr id="555" name="Text 9"/>
          <p:cNvSpPr/>
          <p:nvPr/>
        </p:nvSpPr>
        <p:spPr>
          <a:xfrm>
            <a:off x="389128" y="2615040"/>
            <a:ext cx="6084752" cy="3611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10000"/>
              </a:lnSpc>
              <a:tabLst>
                <a:tab pos="0" algn="l"/>
              </a:tabLst>
            </a:pPr>
            <a:r>
              <a:rPr lang="en-US" sz="1300" b="0" u="none" strike="noStrike" dirty="0">
                <a:solidFill>
                  <a:srgbClr val="4B5563"/>
                </a:solidFill>
                <a:effectLst/>
                <a:uFillTx/>
                <a:latin typeface="Calibri"/>
                <a:ea typeface="Calibri"/>
              </a:rPr>
              <a:t>Decision: [GO / REFINE &amp; RE-TEST / PIVOT]</a:t>
            </a:r>
            <a:endParaRPr lang="en-US" sz="1300" b="0" u="none" strike="noStrike" dirty="0">
              <a:solidFill>
                <a:srgbClr val="000000"/>
              </a:solidFill>
              <a:effectLst/>
              <a:uFillTx/>
              <a:latin typeface="Arial"/>
            </a:endParaRPr>
          </a:p>
          <a:p>
            <a:pPr defTabSz="914400">
              <a:lnSpc>
                <a:spcPct val="110000"/>
              </a:lnSpc>
              <a:tabLst>
                <a:tab pos="0" algn="l"/>
              </a:tabLst>
            </a:pPr>
            <a:endParaRPr lang="en-US" sz="1300" b="0" u="none" strike="noStrike" dirty="0">
              <a:solidFill>
                <a:srgbClr val="000000"/>
              </a:solidFill>
              <a:effectLst/>
              <a:uFillTx/>
              <a:latin typeface="Arial"/>
            </a:endParaRPr>
          </a:p>
          <a:p>
            <a:pPr defTabSz="914400">
              <a:lnSpc>
                <a:spcPct val="110000"/>
              </a:lnSpc>
              <a:tabLst>
                <a:tab pos="0" algn="l"/>
              </a:tabLst>
            </a:pPr>
            <a:r>
              <a:rPr lang="en-US" sz="1300" b="0" u="none" strike="noStrike" dirty="0">
                <a:solidFill>
                  <a:srgbClr val="4B5563"/>
                </a:solidFill>
                <a:effectLst/>
                <a:uFillTx/>
                <a:latin typeface="Calibri"/>
                <a:ea typeface="Calibri"/>
              </a:rPr>
              <a:t>Rationale (tie to metrics):</a:t>
            </a:r>
            <a:endParaRPr lang="en-US" sz="1300" b="0" u="none" strike="noStrike" dirty="0">
              <a:solidFill>
                <a:srgbClr val="000000"/>
              </a:solidFill>
              <a:effectLst/>
              <a:uFillTx/>
              <a:latin typeface="Arial"/>
            </a:endParaRPr>
          </a:p>
          <a:p>
            <a:pPr defTabSz="914400">
              <a:lnSpc>
                <a:spcPct val="110000"/>
              </a:lnSpc>
              <a:tabLst>
                <a:tab pos="0" algn="l"/>
              </a:tabLst>
            </a:pPr>
            <a:endParaRPr lang="en-US" sz="1300" b="0" u="none" strike="noStrike" dirty="0">
              <a:solidFill>
                <a:srgbClr val="000000"/>
              </a:solidFill>
              <a:effectLst/>
              <a:uFillTx/>
              <a:latin typeface="Arial"/>
            </a:endParaRPr>
          </a:p>
        </p:txBody>
      </p:sp>
      <p:sp>
        <p:nvSpPr>
          <p:cNvPr id="556" name="Shape 10"/>
          <p:cNvSpPr/>
          <p:nvPr/>
        </p:nvSpPr>
        <p:spPr>
          <a:xfrm>
            <a:off x="6473880" y="1911060"/>
            <a:ext cx="5348880" cy="4525920"/>
          </a:xfrm>
          <a:prstGeom prst="roundRect">
            <a:avLst>
              <a:gd name="adj" fmla="val 16667"/>
            </a:avLst>
          </a:prstGeom>
          <a:solidFill>
            <a:srgbClr val="FFFFFF"/>
          </a:solidFill>
          <a:ln w="12700">
            <a:solidFill>
              <a:srgbClr val="E5E7EB"/>
            </a:solidFill>
            <a:round/>
          </a:ln>
          <a:effectLst>
            <a:outerShdw blurRad="28080" dist="19855" dir="2700000" algn="bl" rotWithShape="0">
              <a:srgbClr val="000000">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dirty="0">
              <a:solidFill>
                <a:srgbClr val="000000"/>
              </a:solidFill>
              <a:effectLst/>
              <a:uFillTx/>
              <a:latin typeface="Arial"/>
            </a:endParaRPr>
          </a:p>
        </p:txBody>
      </p:sp>
      <p:sp>
        <p:nvSpPr>
          <p:cNvPr id="557" name="Text 11"/>
          <p:cNvSpPr/>
          <p:nvPr/>
        </p:nvSpPr>
        <p:spPr>
          <a:xfrm>
            <a:off x="6793920" y="2039040"/>
            <a:ext cx="483696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600" b="1" u="none" strike="noStrike" dirty="0">
                <a:solidFill>
                  <a:srgbClr val="111827"/>
                </a:solidFill>
                <a:effectLst/>
                <a:uFillTx/>
                <a:latin typeface="Calibri"/>
                <a:ea typeface="Calibri"/>
              </a:rPr>
              <a:t>Next steps toward MVP </a:t>
            </a:r>
            <a:endParaRPr lang="en-US" sz="1600" b="0" u="none" strike="noStrike" dirty="0">
              <a:solidFill>
                <a:srgbClr val="000000"/>
              </a:solidFill>
              <a:effectLst/>
              <a:uFillTx/>
              <a:latin typeface="Arial"/>
            </a:endParaRPr>
          </a:p>
        </p:txBody>
      </p:sp>
      <p:sp>
        <p:nvSpPr>
          <p:cNvPr id="558" name="Text 12"/>
          <p:cNvSpPr/>
          <p:nvPr/>
        </p:nvSpPr>
        <p:spPr>
          <a:xfrm>
            <a:off x="6793920" y="2377440"/>
            <a:ext cx="4836960" cy="3849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10000"/>
              </a:lnSpc>
              <a:tabLst>
                <a:tab pos="0" algn="l"/>
              </a:tabLst>
            </a:pPr>
            <a:r>
              <a:rPr lang="en-US" sz="1600" dirty="0">
                <a:solidFill>
                  <a:srgbClr val="4B5563"/>
                </a:solidFill>
                <a:latin typeface="Calibri"/>
                <a:ea typeface="Calibri"/>
              </a:rPr>
              <a:t>1.</a:t>
            </a:r>
            <a:r>
              <a:rPr lang="en-US" sz="1600" dirty="0"/>
              <a:t> Integrate cloud backend for multi-device monitoring.</a:t>
            </a:r>
          </a:p>
          <a:p>
            <a:pPr>
              <a:lnSpc>
                <a:spcPct val="110000"/>
              </a:lnSpc>
              <a:tabLst>
                <a:tab pos="0" algn="l"/>
              </a:tabLst>
            </a:pPr>
            <a:r>
              <a:rPr lang="en-US" sz="1600" b="0" u="none" strike="noStrike" dirty="0">
                <a:solidFill>
                  <a:srgbClr val="000000"/>
                </a:solidFill>
                <a:effectLst/>
                <a:uFillTx/>
                <a:latin typeface="Arial"/>
              </a:rPr>
              <a:t>2.</a:t>
            </a:r>
            <a:r>
              <a:rPr lang="en-US" sz="1600" dirty="0"/>
              <a:t> Conduct small pilot with 5 real vehicles (controlled).</a:t>
            </a:r>
          </a:p>
          <a:p>
            <a:pPr>
              <a:lnSpc>
                <a:spcPct val="110000"/>
              </a:lnSpc>
              <a:tabLst>
                <a:tab pos="0" algn="l"/>
              </a:tabLst>
            </a:pPr>
            <a:r>
              <a:rPr lang="en-US" sz="1600" b="0" u="none" strike="noStrike" dirty="0">
                <a:solidFill>
                  <a:srgbClr val="000000"/>
                </a:solidFill>
                <a:effectLst/>
                <a:uFillTx/>
                <a:latin typeface="Arial"/>
              </a:rPr>
              <a:t>3.</a:t>
            </a:r>
            <a:r>
              <a:rPr lang="en-US" sz="1600" dirty="0"/>
              <a:t> Secure insurance partnerships for data validation.</a:t>
            </a:r>
          </a:p>
          <a:p>
            <a:pPr defTabSz="914400">
              <a:lnSpc>
                <a:spcPct val="110000"/>
              </a:lnSpc>
              <a:tabLst>
                <a:tab pos="0" algn="l"/>
              </a:tabLst>
            </a:pPr>
            <a:endParaRPr lang="en-US" sz="1600" b="0" u="none" strike="noStrike" dirty="0">
              <a:solidFill>
                <a:srgbClr val="000000"/>
              </a:solidFill>
              <a:effectLst/>
              <a:uFillTx/>
              <a:latin typeface="Arial"/>
            </a:endParaRPr>
          </a:p>
          <a:p>
            <a:pPr defTabSz="914400">
              <a:lnSpc>
                <a:spcPct val="110000"/>
              </a:lnSpc>
              <a:tabLst>
                <a:tab pos="0" algn="l"/>
              </a:tabLst>
            </a:pPr>
            <a:endParaRPr lang="en-US" sz="1300" b="0" u="none" strike="noStrike" dirty="0">
              <a:solidFill>
                <a:srgbClr val="000000"/>
              </a:solidFill>
              <a:effectLst/>
              <a:uFillTx/>
              <a:latin typeface="Arial"/>
            </a:endParaRPr>
          </a:p>
          <a:p>
            <a:pPr defTabSz="914400">
              <a:lnSpc>
                <a:spcPct val="110000"/>
              </a:lnSpc>
              <a:tabLst>
                <a:tab pos="0" algn="l"/>
              </a:tabLst>
            </a:pPr>
            <a:r>
              <a:rPr lang="en-US" sz="1300" b="0" u="none" strike="noStrike" dirty="0">
                <a:solidFill>
                  <a:srgbClr val="4B5563"/>
                </a:solidFill>
                <a:effectLst/>
                <a:uFillTx/>
                <a:latin typeface="Calibri"/>
                <a:ea typeface="Calibri"/>
              </a:rPr>
              <a:t>KPIs to carry forward:</a:t>
            </a:r>
            <a:endParaRPr lang="en-US" sz="1300" b="0" u="none" strike="noStrike" dirty="0">
              <a:solidFill>
                <a:srgbClr val="000000"/>
              </a:solidFill>
              <a:effectLst/>
              <a:uFillTx/>
              <a:latin typeface="Arial"/>
            </a:endParaRPr>
          </a:p>
          <a:p>
            <a:pPr>
              <a:lnSpc>
                <a:spcPct val="110000"/>
              </a:lnSpc>
              <a:tabLst>
                <a:tab pos="0" algn="l"/>
              </a:tabLst>
            </a:pPr>
            <a:r>
              <a:rPr lang="en-US" sz="1300" dirty="0">
                <a:solidFill>
                  <a:srgbClr val="4B5563"/>
                </a:solidFill>
                <a:latin typeface="Calibri"/>
                <a:ea typeface="Calibri"/>
              </a:rPr>
              <a:t>		</a:t>
            </a:r>
            <a:r>
              <a:rPr lang="en-US" sz="1600" dirty="0"/>
              <a:t>Detection accuracy ≥98%; Response time 80%; Cost per unit &lt;₹2000</a:t>
            </a:r>
            <a:r>
              <a:rPr lang="en-US" sz="1400" dirty="0"/>
              <a:t>.</a:t>
            </a:r>
          </a:p>
          <a:p>
            <a:pPr defTabSz="914400">
              <a:lnSpc>
                <a:spcPct val="110000"/>
              </a:lnSpc>
              <a:tabLst>
                <a:tab pos="0" algn="l"/>
              </a:tabLst>
            </a:pPr>
            <a:endParaRPr lang="en-US" sz="1300" b="0" u="none" strike="noStrike" dirty="0">
              <a:solidFill>
                <a:srgbClr val="000000"/>
              </a:solidFill>
              <a:effectLst/>
              <a:uFillTx/>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 name="Shape 0"/>
          <p:cNvSpPr/>
          <p:nvPr/>
        </p:nvSpPr>
        <p:spPr>
          <a:xfrm>
            <a:off x="0" y="0"/>
            <a:ext cx="12191400" cy="566640"/>
          </a:xfrm>
          <a:prstGeom prst="rect">
            <a:avLst/>
          </a:prstGeom>
          <a:solidFill>
            <a:srgbClr val="0B2E4A"/>
          </a:solidFill>
          <a:ln w="12700">
            <a:solidFill>
              <a:srgbClr val="0B2E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64" name="Shape 1"/>
          <p:cNvSpPr/>
          <p:nvPr/>
        </p:nvSpPr>
        <p:spPr>
          <a:xfrm>
            <a:off x="0" y="0"/>
            <a:ext cx="145800" cy="566640"/>
          </a:xfrm>
          <a:prstGeom prst="rect">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65" name="Text 2"/>
          <p:cNvSpPr/>
          <p:nvPr/>
        </p:nvSpPr>
        <p:spPr>
          <a:xfrm>
            <a:off x="594360" y="109800"/>
            <a:ext cx="1100268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400" b="1" u="none" strike="noStrike">
                <a:solidFill>
                  <a:srgbClr val="FFFFFF"/>
                </a:solidFill>
                <a:effectLst/>
                <a:uFillTx/>
                <a:latin typeface="Calibri"/>
                <a:ea typeface="Calibri"/>
              </a:rPr>
              <a:t>SoI Innovation Pipeline</a:t>
            </a:r>
            <a:endParaRPr lang="en-US" sz="1400" b="0" u="none" strike="noStrike">
              <a:solidFill>
                <a:srgbClr val="000000"/>
              </a:solidFill>
              <a:effectLst/>
              <a:uFillTx/>
              <a:latin typeface="Arial"/>
            </a:endParaRPr>
          </a:p>
        </p:txBody>
      </p:sp>
      <p:sp>
        <p:nvSpPr>
          <p:cNvPr id="566" name="Shape 3"/>
          <p:cNvSpPr/>
          <p:nvPr/>
        </p:nvSpPr>
        <p:spPr>
          <a:xfrm>
            <a:off x="594360" y="658440"/>
            <a:ext cx="1919880" cy="292320"/>
          </a:xfrm>
          <a:prstGeom prst="roundRect">
            <a:avLst>
              <a:gd name="adj" fmla="val 16667"/>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67" name="Text 4"/>
          <p:cNvSpPr/>
          <p:nvPr/>
        </p:nvSpPr>
        <p:spPr>
          <a:xfrm>
            <a:off x="594360" y="704160"/>
            <a:ext cx="19198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REFS</a:t>
            </a:r>
            <a:endParaRPr lang="en-US" sz="1200" b="0" u="none" strike="noStrike">
              <a:solidFill>
                <a:srgbClr val="000000"/>
              </a:solidFill>
              <a:effectLst/>
              <a:uFillTx/>
              <a:latin typeface="Arial"/>
            </a:endParaRPr>
          </a:p>
        </p:txBody>
      </p:sp>
      <p:sp>
        <p:nvSpPr>
          <p:cNvPr id="568" name="Text 5"/>
          <p:cNvSpPr/>
          <p:nvPr/>
        </p:nvSpPr>
        <p:spPr>
          <a:xfrm>
            <a:off x="594360" y="822960"/>
            <a:ext cx="11002680" cy="54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3200" b="1" u="none" strike="noStrike">
                <a:solidFill>
                  <a:srgbClr val="111827"/>
                </a:solidFill>
                <a:effectLst/>
                <a:uFillTx/>
                <a:latin typeface="Calibri"/>
                <a:ea typeface="Calibri"/>
              </a:rPr>
              <a:t>References</a:t>
            </a:r>
            <a:endParaRPr lang="en-US" sz="3200" b="0" u="none" strike="noStrike">
              <a:solidFill>
                <a:srgbClr val="000000"/>
              </a:solidFill>
              <a:effectLst/>
              <a:uFillTx/>
              <a:latin typeface="Arial"/>
            </a:endParaRPr>
          </a:p>
        </p:txBody>
      </p:sp>
      <p:sp>
        <p:nvSpPr>
          <p:cNvPr id="570" name="Shape 7"/>
          <p:cNvSpPr/>
          <p:nvPr/>
        </p:nvSpPr>
        <p:spPr>
          <a:xfrm>
            <a:off x="405114" y="1837800"/>
            <a:ext cx="11009646" cy="3785760"/>
          </a:xfrm>
          <a:prstGeom prst="roundRect">
            <a:avLst>
              <a:gd name="adj" fmla="val 16667"/>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71" name="Text 8"/>
          <p:cNvSpPr/>
          <p:nvPr/>
        </p:nvSpPr>
        <p:spPr>
          <a:xfrm>
            <a:off x="777240" y="2075760"/>
            <a:ext cx="10606680" cy="4260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200000"/>
              </a:lnSpc>
            </a:pPr>
            <a:r>
              <a:rPr lang="en-IN" dirty="0"/>
              <a:t>[1] MAT Journals, “IoT-Based Accident Detection System,” 2023. URL: [matjournals.com] (accessed 2026-01-20). [2] rsepress.org, “Vehicle Accident Detection Using Sensors,” 2022. URL: [rsepress.org] (accessed 2026-01-20). [3] Elementary Education, “Accelerometer-Based Crash Alert,” 2021. URL: [elementaryeducation.com] (accessed      2026-01-20).</a:t>
            </a:r>
          </a:p>
          <a:p>
            <a:pPr>
              <a:lnSpc>
                <a:spcPct val="200000"/>
              </a:lnSpc>
            </a:pPr>
            <a:r>
              <a:rPr lang="en-IN" dirty="0"/>
              <a:t> [4] </a:t>
            </a:r>
            <a:r>
              <a:rPr lang="en-IN" dirty="0" err="1"/>
              <a:t>Irjaeh</a:t>
            </a:r>
            <a:r>
              <a:rPr lang="en-IN" dirty="0"/>
              <a:t>, “Sensor Tech for Emergency Alerts,” 2023. URL: [irjaeh.com] (accessed 2026-01-20).</a:t>
            </a:r>
          </a:p>
          <a:p>
            <a:pPr>
              <a:lnSpc>
                <a:spcPct val="200000"/>
              </a:lnSpc>
            </a:pPr>
            <a:r>
              <a:rPr lang="en-IN" dirty="0"/>
              <a:t> [5] UTHM Publisher, “ESP32 GPS GSM Accident Detection,” 2024. URL: [uthm.edu.my] (accessed 2026-01-20).</a:t>
            </a:r>
            <a:endParaRPr lang="en-IN" dirty="0">
              <a:effectL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AD9324C02AF684081B0638F841F77A7" ma:contentTypeVersion="11" ma:contentTypeDescription="Create a new document." ma:contentTypeScope="" ma:versionID="c1d04b9658c572ac367ed4fb2e369519">
  <xsd:schema xmlns:xsd="http://www.w3.org/2001/XMLSchema" xmlns:xs="http://www.w3.org/2001/XMLSchema" xmlns:p="http://schemas.microsoft.com/office/2006/metadata/properties" xmlns:ns2="8f4bcbf8-e4fe-49fe-9064-aa6724e1aff7" xmlns:ns3="83df3408-28af-437f-b204-b64d5303919d" targetNamespace="http://schemas.microsoft.com/office/2006/metadata/properties" ma:root="true" ma:fieldsID="8df609a8d163ae2a8d759a23718ba836" ns2:_="" ns3:_="">
    <xsd:import namespace="8f4bcbf8-e4fe-49fe-9064-aa6724e1aff7"/>
    <xsd:import namespace="83df3408-28af-437f-b204-b64d5303919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4bcbf8-e4fe-49fe-9064-aa6724e1aff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c7d36ee0-516a-46d7-9c37-891188aa7a36"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3df3408-28af-437f-b204-b64d5303919d"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b79c58b2-d052-42f6-ad66-5381626b27f3}" ma:internalName="TaxCatchAll" ma:showField="CatchAllData" ma:web="83df3408-28af-437f-b204-b64d5303919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f4bcbf8-e4fe-49fe-9064-aa6724e1aff7">
      <Terms xmlns="http://schemas.microsoft.com/office/infopath/2007/PartnerControls"/>
    </lcf76f155ced4ddcb4097134ff3c332f>
    <TaxCatchAll xmlns="83df3408-28af-437f-b204-b64d5303919d" xsi:nil="true"/>
  </documentManagement>
</p:properties>
</file>

<file path=customXml/itemProps1.xml><?xml version="1.0" encoding="utf-8"?>
<ds:datastoreItem xmlns:ds="http://schemas.openxmlformats.org/officeDocument/2006/customXml" ds:itemID="{7F58F4BB-89F6-494C-B068-E99F0CD5AC7E}">
  <ds:schemaRefs>
    <ds:schemaRef ds:uri="http://schemas.microsoft.com/sharepoint/v3/contenttype/forms"/>
  </ds:schemaRefs>
</ds:datastoreItem>
</file>

<file path=customXml/itemProps2.xml><?xml version="1.0" encoding="utf-8"?>
<ds:datastoreItem xmlns:ds="http://schemas.openxmlformats.org/officeDocument/2006/customXml" ds:itemID="{5C12D24C-5689-40BB-BFE4-4D69E71BDC6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f4bcbf8-e4fe-49fe-9064-aa6724e1aff7"/>
    <ds:schemaRef ds:uri="83df3408-28af-437f-b204-b64d5303919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92520CE-C54E-42B0-8B2A-D6BB56BDC1A0}">
  <ds:schemaRefs>
    <ds:schemaRef ds:uri="83df3408-28af-437f-b204-b64d5303919d"/>
    <ds:schemaRef ds:uri="8f4bcbf8-e4fe-49fe-9064-aa6724e1aff7"/>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574</TotalTime>
  <Words>1987</Words>
  <Application>Microsoft Office PowerPoint</Application>
  <PresentationFormat>Widescreen</PresentationFormat>
  <Paragraphs>375</Paragraphs>
  <Slides>18</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KITE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Thiruvaazhi Uloli</dc:creator>
  <cp:lastModifiedBy>Yogesh K</cp:lastModifiedBy>
  <cp:revision>39</cp:revision>
  <dcterms:modified xsi:type="dcterms:W3CDTF">2026-01-29T18:50:21Z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2025-12-25T17:28:54Z</dcterms:created>
  <dc:creator>SoI Projects</dc:creator>
  <dc:description/>
  <dc:language>en-US</dc:language>
  <cp:lastModifiedBy>SoI Projects</cp:lastModifiedBy>
  <dcterms:modified xsi:type="dcterms:W3CDTF">2025-12-25T17:28:54Z</dcterms:modified>
  <cp:revision>1</cp:revision>
  <dc:subject>SoI Prototype Stage</dc:subject>
  <dc:title>PptxGenJS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21</vt:r8>
  </property>
  <property fmtid="{D5CDD505-2E9C-101B-9397-08002B2CF9AE}" pid="3" name="PresentationFormat">
    <vt:lpwstr>On-screen Show (16:9)</vt:lpwstr>
  </property>
  <property fmtid="{D5CDD505-2E9C-101B-9397-08002B2CF9AE}" pid="4" name="Slides">
    <vt:r8>21</vt:r8>
  </property>
  <property fmtid="{D5CDD505-2E9C-101B-9397-08002B2CF9AE}" pid="5" name="ContentTypeId">
    <vt:lpwstr>0x0101004AD9324C02AF684081B0638F841F77A7</vt:lpwstr>
  </property>
  <property fmtid="{D5CDD505-2E9C-101B-9397-08002B2CF9AE}" pid="6" name="MediaServiceImageTags">
    <vt:lpwstr/>
  </property>
</Properties>
</file>